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Liter" charset="-122" pitchFamily="34"/>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p:bgPr>
    </p:bg>
    <p:spTree>
      <p:nvGrpSpPr>
        <p:cNvPr id="1" name=""/>
        <p:cNvGrpSpPr/>
        <p:nvPr/>
      </p:nvGrpSpPr>
      <p:grpSpPr>
        <a:xfrm>
          <a:off x="0" y="0"/>
          <a:ext cx="0" cy="0"/>
          <a:chOff x="0" y="0"/>
          <a:chExt cx="0" cy="0"/>
        </a:xfrm>
      </p:grpSpPr>
      <p:pic>
        <p:nvPicPr>
          <p:cNvPr id="2" name="Image 0" descr="https://kimi-web-img.moonshot.cn/img/t4.ftcdn.net/708473e624deca3097e490567d57816284857973.jpg">    </p:cNvPr>
          <p:cNvPicPr>
            <a:picLocks noChangeAspect="1"/>
          </p:cNvPicPr>
          <p:nvPr/>
        </p:nvPicPr>
        <p:blipFill>
          <a:blip r:embed="rId1">
            <a:alphaModFix amt="30000"/>
          </a:blip>
          <a:srcRect l="78" r="78"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1D21">
                  <a:alpha val="80000"/>
                </a:srgbClr>
              </a:gs>
              <a:gs pos="50000">
                <a:srgbClr val="4A6C8C">
                  <a:alpha val="40000"/>
                </a:srgbClr>
              </a:gs>
              <a:gs pos="100000">
                <a:srgbClr val="1A1D21">
                  <a:alpha val="90000"/>
                </a:srgbClr>
              </a:gs>
            </a:gsLst>
            <a:lin ang="2700000" scaled="1"/>
          </a:gradFill>
          <a:ln/>
        </p:spPr>
      </p:sp>
      <p:sp>
        <p:nvSpPr>
          <p:cNvPr id="4" name="Shape 1"/>
          <p:cNvSpPr/>
          <p:nvPr/>
        </p:nvSpPr>
        <p:spPr>
          <a:xfrm>
            <a:off x="4982914" y="385763"/>
            <a:ext cx="2228850" cy="428625"/>
          </a:xfrm>
          <a:custGeom>
            <a:avLst/>
            <a:gdLst/>
            <a:ahLst/>
            <a:cxnLst/>
            <a:rect l="l" t="t" r="r" b="b"/>
            <a:pathLst>
              <a:path w="2228850" h="428625">
                <a:moveTo>
                  <a:pt x="214313" y="0"/>
                </a:moveTo>
                <a:lnTo>
                  <a:pt x="2014538" y="0"/>
                </a:lnTo>
                <a:cubicBezTo>
                  <a:pt x="2132820" y="0"/>
                  <a:pt x="2228850" y="96030"/>
                  <a:pt x="2228850" y="214313"/>
                </a:cubicBezTo>
                <a:lnTo>
                  <a:pt x="2228850" y="214313"/>
                </a:lnTo>
                <a:cubicBezTo>
                  <a:pt x="2228850" y="332595"/>
                  <a:pt x="2132820" y="428625"/>
                  <a:pt x="2014538" y="428625"/>
                </a:cubicBezTo>
                <a:lnTo>
                  <a:pt x="214313" y="428625"/>
                </a:lnTo>
                <a:cubicBezTo>
                  <a:pt x="96030" y="428625"/>
                  <a:pt x="0" y="332595"/>
                  <a:pt x="0" y="214313"/>
                </a:cubicBezTo>
                <a:lnTo>
                  <a:pt x="0" y="214313"/>
                </a:lnTo>
                <a:cubicBezTo>
                  <a:pt x="0" y="96030"/>
                  <a:pt x="96030" y="0"/>
                  <a:pt x="214312" y="0"/>
                </a:cubicBezTo>
                <a:close/>
              </a:path>
            </a:pathLst>
          </a:custGeom>
          <a:solidFill>
            <a:srgbClr val="D4A373">
              <a:alpha val="20000"/>
            </a:srgbClr>
          </a:solidFill>
          <a:ln w="12700">
            <a:solidFill>
              <a:srgbClr val="D4A373">
                <a:alpha val="50196"/>
              </a:srgbClr>
            </a:solidFill>
            <a:prstDash val="solid"/>
          </a:ln>
        </p:spPr>
      </p:sp>
      <p:sp>
        <p:nvSpPr>
          <p:cNvPr id="5" name="Text 2"/>
          <p:cNvSpPr/>
          <p:nvPr/>
        </p:nvSpPr>
        <p:spPr>
          <a:xfrm>
            <a:off x="5173414" y="476250"/>
            <a:ext cx="1845171" cy="247650"/>
          </a:xfrm>
          <a:prstGeom prst="rect">
            <a:avLst/>
          </a:prstGeom>
          <a:noFill/>
          <a:ln/>
        </p:spPr>
        <p:txBody>
          <a:bodyPr wrap="square" lIns="0" tIns="0" rIns="0" bIns="0" rtlCol="0" anchor="ctr"/>
          <a:lstStyle/>
          <a:p>
            <a:pPr algn="ctr">
              <a:lnSpc>
                <a:spcPct val="130000"/>
              </a:lnSpc>
            </a:pPr>
            <a:r>
              <a:rPr lang="en-US" sz="1350" b="1" spc="68" kern="0" dirty="0">
                <a:solidFill>
                  <a:srgbClr val="D4A373"/>
                </a:solidFill>
                <a:latin typeface="Liter" pitchFamily="34" charset="0"/>
                <a:ea typeface="Liter" pitchFamily="34" charset="-122"/>
                <a:cs typeface="Liter" pitchFamily="34" charset="-120"/>
              </a:rPr>
              <a:t>PROJECT 1 | PROJE 1</a:t>
            </a:r>
            <a:endParaRPr lang="en-US" sz="1600" dirty="0"/>
          </a:p>
        </p:txBody>
      </p:sp>
      <p:sp>
        <p:nvSpPr>
          <p:cNvPr id="6" name="Text 3"/>
          <p:cNvSpPr/>
          <p:nvPr/>
        </p:nvSpPr>
        <p:spPr>
          <a:xfrm>
            <a:off x="2710011" y="1352550"/>
            <a:ext cx="6772275" cy="1428750"/>
          </a:xfrm>
          <a:prstGeom prst="rect">
            <a:avLst/>
          </a:prstGeom>
          <a:noFill/>
          <a:ln/>
        </p:spPr>
        <p:txBody>
          <a:bodyPr wrap="square" lIns="0" tIns="0" rIns="0" bIns="0" rtlCol="0" anchor="ctr"/>
          <a:lstStyle/>
          <a:p>
            <a:pPr algn="ctr">
              <a:lnSpc>
                <a:spcPct val="100000"/>
              </a:lnSpc>
            </a:pPr>
            <a:r>
              <a:rPr lang="en-US" sz="4500" b="1" dirty="0">
                <a:solidFill>
                  <a:srgbClr val="EDF2F4"/>
                </a:solidFill>
                <a:latin typeface="Liter" pitchFamily="34" charset="0"/>
                <a:ea typeface="Liter" pitchFamily="34" charset="-122"/>
                <a:cs typeface="Liter" pitchFamily="34" charset="-120"/>
              </a:rPr>
              <a:t>Customer Analytics for an</a:t>
            </a:r>
            <a:endParaRPr lang="en-US" sz="1600" dirty="0"/>
          </a:p>
          <a:p>
            <a:pPr algn="ctr">
              <a:lnSpc>
                <a:spcPct val="100000"/>
              </a:lnSpc>
            </a:pPr>
            <a:r>
              <a:rPr lang="en-US" sz="4500" b="1" dirty="0">
                <a:solidFill>
                  <a:srgbClr val="EDF2F4"/>
                </a:solidFill>
                <a:latin typeface="Liter" pitchFamily="34" charset="0"/>
                <a:ea typeface="Liter" pitchFamily="34" charset="-122"/>
                <a:cs typeface="Liter" pitchFamily="34" charset="-120"/>
              </a:rPr>
              <a:t>E-Commerce Platform</a:t>
            </a:r>
            <a:endParaRPr lang="en-US" sz="1600" dirty="0"/>
          </a:p>
        </p:txBody>
      </p:sp>
      <p:sp>
        <p:nvSpPr>
          <p:cNvPr id="7" name="Text 4"/>
          <p:cNvSpPr/>
          <p:nvPr/>
        </p:nvSpPr>
        <p:spPr>
          <a:xfrm>
            <a:off x="2962870" y="3009900"/>
            <a:ext cx="6267450" cy="381000"/>
          </a:xfrm>
          <a:prstGeom prst="rect">
            <a:avLst/>
          </a:prstGeom>
          <a:noFill/>
          <a:ln/>
        </p:spPr>
        <p:txBody>
          <a:bodyPr wrap="square" lIns="0" tIns="0" rIns="0" bIns="0" rtlCol="0" anchor="ctr"/>
          <a:lstStyle/>
          <a:p>
            <a:pPr algn="ctr">
              <a:lnSpc>
                <a:spcPct val="90000"/>
              </a:lnSpc>
            </a:pPr>
            <a:r>
              <a:rPr lang="en-US" sz="2700" b="1" dirty="0">
                <a:solidFill>
                  <a:srgbClr val="8D99AE"/>
                </a:solidFill>
                <a:latin typeface="Liter" pitchFamily="34" charset="0"/>
                <a:ea typeface="Liter" pitchFamily="34" charset="-122"/>
                <a:cs typeface="Liter" pitchFamily="34" charset="-120"/>
              </a:rPr>
              <a:t>E-Ticaret Platformu için Müşteri Analitiği</a:t>
            </a:r>
            <a:endParaRPr lang="en-US" sz="1600" dirty="0"/>
          </a:p>
        </p:txBody>
      </p:sp>
      <p:sp>
        <p:nvSpPr>
          <p:cNvPr id="8" name="Shape 5"/>
          <p:cNvSpPr/>
          <p:nvPr/>
        </p:nvSpPr>
        <p:spPr>
          <a:xfrm>
            <a:off x="2209056" y="3843338"/>
            <a:ext cx="914400" cy="9525"/>
          </a:xfrm>
          <a:custGeom>
            <a:avLst/>
            <a:gdLst/>
            <a:ahLst/>
            <a:cxnLst/>
            <a:rect l="l" t="t" r="r" b="b"/>
            <a:pathLst>
              <a:path w="914400" h="9525">
                <a:moveTo>
                  <a:pt x="0" y="0"/>
                </a:moveTo>
                <a:lnTo>
                  <a:pt x="914400" y="0"/>
                </a:lnTo>
                <a:lnTo>
                  <a:pt x="914400" y="9525"/>
                </a:lnTo>
                <a:lnTo>
                  <a:pt x="0" y="9525"/>
                </a:lnTo>
                <a:lnTo>
                  <a:pt x="0" y="0"/>
                </a:lnTo>
                <a:close/>
              </a:path>
            </a:pathLst>
          </a:custGeom>
          <a:solidFill>
            <a:srgbClr val="4A6C8C"/>
          </a:solidFill>
          <a:ln/>
        </p:spPr>
      </p:sp>
      <p:sp>
        <p:nvSpPr>
          <p:cNvPr id="9" name="Text 6"/>
          <p:cNvSpPr/>
          <p:nvPr/>
        </p:nvSpPr>
        <p:spPr>
          <a:xfrm>
            <a:off x="3218706" y="3695700"/>
            <a:ext cx="5753100" cy="304800"/>
          </a:xfrm>
          <a:prstGeom prst="rect">
            <a:avLst/>
          </a:prstGeom>
          <a:noFill/>
          <a:ln/>
        </p:spPr>
        <p:txBody>
          <a:bodyPr wrap="square" lIns="0" tIns="0" rIns="0" bIns="0" rtlCol="0" anchor="ctr"/>
          <a:lstStyle/>
          <a:p>
            <a:pPr algn="ctr">
              <a:lnSpc>
                <a:spcPct val="110000"/>
              </a:lnSpc>
            </a:pPr>
            <a:r>
              <a:rPr lang="en-US" sz="1800" dirty="0">
                <a:solidFill>
                  <a:srgbClr val="8D99AE"/>
                </a:solidFill>
                <a:latin typeface="Liter" pitchFamily="34" charset="0"/>
                <a:ea typeface="Liter" pitchFamily="34" charset="-122"/>
                <a:cs typeface="Liter" pitchFamily="34" charset="-120"/>
              </a:rPr>
              <a:t>Classification &amp; Regression | Sınıflandırma ve Regresyon</a:t>
            </a:r>
            <a:endParaRPr lang="en-US" sz="1600" dirty="0"/>
          </a:p>
        </p:txBody>
      </p:sp>
      <p:sp>
        <p:nvSpPr>
          <p:cNvPr id="10" name="Shape 7"/>
          <p:cNvSpPr/>
          <p:nvPr/>
        </p:nvSpPr>
        <p:spPr>
          <a:xfrm>
            <a:off x="9068544" y="3843338"/>
            <a:ext cx="914400" cy="9525"/>
          </a:xfrm>
          <a:custGeom>
            <a:avLst/>
            <a:gdLst/>
            <a:ahLst/>
            <a:cxnLst/>
            <a:rect l="l" t="t" r="r" b="b"/>
            <a:pathLst>
              <a:path w="914400" h="9525">
                <a:moveTo>
                  <a:pt x="0" y="0"/>
                </a:moveTo>
                <a:lnTo>
                  <a:pt x="914400" y="0"/>
                </a:lnTo>
                <a:lnTo>
                  <a:pt x="914400" y="9525"/>
                </a:lnTo>
                <a:lnTo>
                  <a:pt x="0" y="9525"/>
                </a:lnTo>
                <a:lnTo>
                  <a:pt x="0" y="0"/>
                </a:lnTo>
                <a:close/>
              </a:path>
            </a:pathLst>
          </a:custGeom>
          <a:solidFill>
            <a:srgbClr val="4A6C8C"/>
          </a:solidFill>
          <a:ln/>
        </p:spPr>
      </p:sp>
      <p:sp>
        <p:nvSpPr>
          <p:cNvPr id="11" name="Text 8"/>
          <p:cNvSpPr/>
          <p:nvPr/>
        </p:nvSpPr>
        <p:spPr>
          <a:xfrm>
            <a:off x="5211366" y="6210300"/>
            <a:ext cx="1771650" cy="266700"/>
          </a:xfrm>
          <a:prstGeom prst="rect">
            <a:avLst/>
          </a:prstGeom>
          <a:noFill/>
          <a:ln/>
        </p:spPr>
        <p:txBody>
          <a:bodyPr wrap="square" lIns="0" tIns="0" rIns="0" bIns="0" rtlCol="0" anchor="ctr"/>
          <a:lstStyle/>
          <a:p>
            <a:pPr algn="ctr">
              <a:lnSpc>
                <a:spcPct val="120000"/>
              </a:lnSpc>
            </a:pPr>
            <a:r>
              <a:rPr lang="en-US" sz="1500" b="1" dirty="0">
                <a:solidFill>
                  <a:srgbClr val="D4A373"/>
                </a:solidFill>
                <a:latin typeface="Liter" pitchFamily="34" charset="0"/>
                <a:ea typeface="Liter" pitchFamily="34" charset="-122"/>
                <a:cs typeface="Liter" pitchFamily="34" charset="-120"/>
              </a:rPr>
              <a:t>Mahmut Emre Narol</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D4A373"/>
          </a:solidFill>
          <a:ln/>
        </p:spPr>
      </p:sp>
      <p:sp>
        <p:nvSpPr>
          <p:cNvPr id="3" name="Text 1"/>
          <p:cNvSpPr/>
          <p:nvPr/>
        </p:nvSpPr>
        <p:spPr>
          <a:xfrm>
            <a:off x="571500" y="419100"/>
            <a:ext cx="2905125"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Why This Project?</a:t>
            </a:r>
            <a:endParaRPr lang="en-US" sz="1600" dirty="0"/>
          </a:p>
        </p:txBody>
      </p:sp>
      <p:sp>
        <p:nvSpPr>
          <p:cNvPr id="4" name="Text 2"/>
          <p:cNvSpPr/>
          <p:nvPr/>
        </p:nvSpPr>
        <p:spPr>
          <a:xfrm>
            <a:off x="571500" y="914400"/>
            <a:ext cx="11353800" cy="304800"/>
          </a:xfrm>
          <a:prstGeom prst="rect">
            <a:avLst/>
          </a:prstGeom>
          <a:noFill/>
          <a:ln/>
        </p:spPr>
        <p:txBody>
          <a:bodyPr wrap="square" lIns="0" tIns="0" rIns="0" bIns="0" rtlCol="0" anchor="ctr"/>
          <a:lstStyle/>
          <a:p>
            <a:pPr>
              <a:lnSpc>
                <a:spcPct val="110000"/>
              </a:lnSpc>
            </a:pPr>
            <a:r>
              <a:rPr lang="en-US" sz="1800" dirty="0">
                <a:solidFill>
                  <a:srgbClr val="8D99AE"/>
                </a:solidFill>
                <a:latin typeface="Liter" pitchFamily="34" charset="0"/>
                <a:ea typeface="Liter" pitchFamily="34" charset="-122"/>
                <a:cs typeface="Liter" pitchFamily="34" charset="-120"/>
              </a:rPr>
              <a:t>Neden Bu Proje?</a:t>
            </a:r>
            <a:endParaRPr lang="en-US" sz="1600" dirty="0"/>
          </a:p>
        </p:txBody>
      </p:sp>
      <p:sp>
        <p:nvSpPr>
          <p:cNvPr id="5" name="Shape 3"/>
          <p:cNvSpPr/>
          <p:nvPr/>
        </p:nvSpPr>
        <p:spPr>
          <a:xfrm>
            <a:off x="385763" y="1825228"/>
            <a:ext cx="11420475" cy="2914650"/>
          </a:xfrm>
          <a:custGeom>
            <a:avLst/>
            <a:gdLst/>
            <a:ahLst/>
            <a:cxnLst/>
            <a:rect l="l" t="t" r="r" b="b"/>
            <a:pathLst>
              <a:path w="11420475" h="2914650">
                <a:moveTo>
                  <a:pt x="114313" y="0"/>
                </a:moveTo>
                <a:lnTo>
                  <a:pt x="11306162" y="0"/>
                </a:lnTo>
                <a:cubicBezTo>
                  <a:pt x="11369296" y="0"/>
                  <a:pt x="11420475" y="51179"/>
                  <a:pt x="11420475" y="114313"/>
                </a:cubicBezTo>
                <a:lnTo>
                  <a:pt x="11420475" y="2800337"/>
                </a:lnTo>
                <a:cubicBezTo>
                  <a:pt x="11420475" y="2863471"/>
                  <a:pt x="11369296" y="2914650"/>
                  <a:pt x="11306162" y="2914650"/>
                </a:cubicBezTo>
                <a:lnTo>
                  <a:pt x="114313" y="2914650"/>
                </a:lnTo>
                <a:cubicBezTo>
                  <a:pt x="51179" y="2914650"/>
                  <a:pt x="0" y="2863471"/>
                  <a:pt x="0" y="2800337"/>
                </a:cubicBezTo>
                <a:lnTo>
                  <a:pt x="0" y="114313"/>
                </a:lnTo>
                <a:cubicBezTo>
                  <a:pt x="0" y="51179"/>
                  <a:pt x="51179" y="0"/>
                  <a:pt x="114313" y="0"/>
                </a:cubicBezTo>
                <a:close/>
              </a:path>
            </a:pathLst>
          </a:custGeom>
          <a:gradFill rotWithShape="1" flip="none">
            <a:gsLst>
              <a:gs pos="0">
                <a:srgbClr val="4A6C8C">
                  <a:alpha val="20000"/>
                </a:srgbClr>
              </a:gs>
              <a:gs pos="100000">
                <a:srgbClr val="1A1D21">
                  <a:alpha val="40000"/>
                </a:srgbClr>
              </a:gs>
            </a:gsLst>
            <a:lin ang="2700000" scaled="1"/>
          </a:gradFill>
          <a:ln w="12700">
            <a:solidFill>
              <a:srgbClr val="4A6C8C">
                <a:alpha val="40000"/>
              </a:srgbClr>
            </a:solidFill>
            <a:prstDash val="solid"/>
          </a:ln>
        </p:spPr>
      </p:sp>
      <p:sp>
        <p:nvSpPr>
          <p:cNvPr id="6" name="Shape 4"/>
          <p:cNvSpPr/>
          <p:nvPr/>
        </p:nvSpPr>
        <p:spPr>
          <a:xfrm>
            <a:off x="695325" y="2134791"/>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D4A373">
              <a:alpha val="20000"/>
            </a:srgbClr>
          </a:solidFill>
          <a:ln/>
        </p:spPr>
      </p:sp>
      <p:sp>
        <p:nvSpPr>
          <p:cNvPr id="7" name="Shape 5"/>
          <p:cNvSpPr/>
          <p:nvPr/>
        </p:nvSpPr>
        <p:spPr>
          <a:xfrm>
            <a:off x="904875" y="2344341"/>
            <a:ext cx="342900" cy="342900"/>
          </a:xfrm>
          <a:custGeom>
            <a:avLst/>
            <a:gdLst/>
            <a:ahLst/>
            <a:cxnLst/>
            <a:rect l="l" t="t" r="r" b="b"/>
            <a:pathLst>
              <a:path w="342900" h="342900">
                <a:moveTo>
                  <a:pt x="171450" y="342900"/>
                </a:moveTo>
                <a:cubicBezTo>
                  <a:pt x="266076" y="342900"/>
                  <a:pt x="342900" y="266076"/>
                  <a:pt x="342900" y="171450"/>
                </a:cubicBezTo>
                <a:cubicBezTo>
                  <a:pt x="342900" y="76824"/>
                  <a:pt x="266076" y="0"/>
                  <a:pt x="171450" y="0"/>
                </a:cubicBezTo>
                <a:cubicBezTo>
                  <a:pt x="76824" y="0"/>
                  <a:pt x="0" y="76824"/>
                  <a:pt x="0" y="171450"/>
                </a:cubicBezTo>
                <a:cubicBezTo>
                  <a:pt x="0" y="266076"/>
                  <a:pt x="76824" y="342900"/>
                  <a:pt x="171450" y="342900"/>
                </a:cubicBezTo>
                <a:close/>
                <a:moveTo>
                  <a:pt x="171450" y="117872"/>
                </a:moveTo>
                <a:cubicBezTo>
                  <a:pt x="159596" y="117872"/>
                  <a:pt x="150019" y="127449"/>
                  <a:pt x="150019" y="139303"/>
                </a:cubicBezTo>
                <a:cubicBezTo>
                  <a:pt x="150019" y="148210"/>
                  <a:pt x="142853" y="155377"/>
                  <a:pt x="133945" y="155377"/>
                </a:cubicBezTo>
                <a:cubicBezTo>
                  <a:pt x="125038" y="155377"/>
                  <a:pt x="117872" y="148210"/>
                  <a:pt x="117872" y="139303"/>
                </a:cubicBezTo>
                <a:cubicBezTo>
                  <a:pt x="117872" y="109701"/>
                  <a:pt x="141848" y="85725"/>
                  <a:pt x="171450" y="85725"/>
                </a:cubicBezTo>
                <a:cubicBezTo>
                  <a:pt x="201052" y="85725"/>
                  <a:pt x="225028" y="109701"/>
                  <a:pt x="225028" y="139303"/>
                </a:cubicBezTo>
                <a:cubicBezTo>
                  <a:pt x="225028" y="170914"/>
                  <a:pt x="200918" y="184309"/>
                  <a:pt x="187523" y="189198"/>
                </a:cubicBezTo>
                <a:lnTo>
                  <a:pt x="187523" y="191743"/>
                </a:lnTo>
                <a:cubicBezTo>
                  <a:pt x="187523" y="200650"/>
                  <a:pt x="180357" y="207816"/>
                  <a:pt x="171450" y="207816"/>
                </a:cubicBezTo>
                <a:cubicBezTo>
                  <a:pt x="162543" y="207816"/>
                  <a:pt x="155377" y="200650"/>
                  <a:pt x="155377" y="191743"/>
                </a:cubicBezTo>
                <a:lnTo>
                  <a:pt x="155377" y="186318"/>
                </a:lnTo>
                <a:cubicBezTo>
                  <a:pt x="155377" y="172589"/>
                  <a:pt x="165289" y="162744"/>
                  <a:pt x="175535" y="159395"/>
                </a:cubicBezTo>
                <a:cubicBezTo>
                  <a:pt x="179822" y="157988"/>
                  <a:pt x="184376" y="155711"/>
                  <a:pt x="187724" y="152497"/>
                </a:cubicBezTo>
                <a:cubicBezTo>
                  <a:pt x="190604" y="149684"/>
                  <a:pt x="192881" y="145799"/>
                  <a:pt x="192881" y="139370"/>
                </a:cubicBezTo>
                <a:cubicBezTo>
                  <a:pt x="192881" y="127516"/>
                  <a:pt x="183304" y="117939"/>
                  <a:pt x="171450" y="117939"/>
                </a:cubicBezTo>
                <a:close/>
                <a:moveTo>
                  <a:pt x="150019" y="246459"/>
                </a:moveTo>
                <a:cubicBezTo>
                  <a:pt x="150019" y="234631"/>
                  <a:pt x="159622" y="225028"/>
                  <a:pt x="171450" y="225028"/>
                </a:cubicBezTo>
                <a:cubicBezTo>
                  <a:pt x="183278" y="225028"/>
                  <a:pt x="192881" y="234631"/>
                  <a:pt x="192881" y="246459"/>
                </a:cubicBezTo>
                <a:cubicBezTo>
                  <a:pt x="192881" y="258288"/>
                  <a:pt x="183278" y="267891"/>
                  <a:pt x="171450" y="267891"/>
                </a:cubicBezTo>
                <a:cubicBezTo>
                  <a:pt x="159622" y="267891"/>
                  <a:pt x="150019" y="258288"/>
                  <a:pt x="150019" y="246459"/>
                </a:cubicBezTo>
                <a:close/>
              </a:path>
            </a:pathLst>
          </a:custGeom>
          <a:solidFill>
            <a:srgbClr val="D4A373"/>
          </a:solidFill>
          <a:ln/>
        </p:spPr>
      </p:sp>
      <p:sp>
        <p:nvSpPr>
          <p:cNvPr id="8" name="Text 6"/>
          <p:cNvSpPr/>
          <p:nvPr/>
        </p:nvSpPr>
        <p:spPr>
          <a:xfrm>
            <a:off x="1685925" y="2134791"/>
            <a:ext cx="9925050"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Two Critical Questions for E-Commerce Companies</a:t>
            </a:r>
            <a:endParaRPr lang="en-US" sz="1600" dirty="0"/>
          </a:p>
        </p:txBody>
      </p:sp>
      <p:sp>
        <p:nvSpPr>
          <p:cNvPr id="9" name="Text 7"/>
          <p:cNvSpPr/>
          <p:nvPr/>
        </p:nvSpPr>
        <p:spPr>
          <a:xfrm>
            <a:off x="1685925" y="2591991"/>
            <a:ext cx="9906000" cy="266700"/>
          </a:xfrm>
          <a:prstGeom prst="rect">
            <a:avLst/>
          </a:prstGeom>
          <a:noFill/>
          <a:ln/>
        </p:spPr>
        <p:txBody>
          <a:bodyPr wrap="square" lIns="0" tIns="0" rIns="0" bIns="0" rtlCol="0" anchor="ctr"/>
          <a:lstStyle/>
          <a:p>
            <a:pPr>
              <a:lnSpc>
                <a:spcPct val="120000"/>
              </a:lnSpc>
            </a:pPr>
            <a:r>
              <a:rPr lang="en-US" sz="1500" dirty="0">
                <a:solidFill>
                  <a:srgbClr val="8D99AE"/>
                </a:solidFill>
                <a:latin typeface="Liter" pitchFamily="34" charset="0"/>
                <a:ea typeface="Liter" pitchFamily="34" charset="-122"/>
                <a:cs typeface="Liter" pitchFamily="34" charset="-120"/>
              </a:rPr>
              <a:t>E-Ticaret Şirketleri için İki Kritik Soru</a:t>
            </a:r>
            <a:endParaRPr lang="en-US" sz="1600" dirty="0"/>
          </a:p>
        </p:txBody>
      </p:sp>
      <p:sp>
        <p:nvSpPr>
          <p:cNvPr id="10" name="Shape 8"/>
          <p:cNvSpPr/>
          <p:nvPr/>
        </p:nvSpPr>
        <p:spPr>
          <a:xfrm>
            <a:off x="1704975" y="3087291"/>
            <a:ext cx="4772025" cy="1343025"/>
          </a:xfrm>
          <a:custGeom>
            <a:avLst/>
            <a:gdLst/>
            <a:ahLst/>
            <a:cxnLst/>
            <a:rect l="l" t="t" r="r" b="b"/>
            <a:pathLst>
              <a:path w="4772025" h="1343025">
                <a:moveTo>
                  <a:pt x="38100" y="0"/>
                </a:moveTo>
                <a:lnTo>
                  <a:pt x="4695822" y="0"/>
                </a:lnTo>
                <a:cubicBezTo>
                  <a:pt x="4737908" y="0"/>
                  <a:pt x="4772025" y="34117"/>
                  <a:pt x="4772025" y="76203"/>
                </a:cubicBezTo>
                <a:lnTo>
                  <a:pt x="4772025" y="1266822"/>
                </a:lnTo>
                <a:cubicBezTo>
                  <a:pt x="4772025" y="1308908"/>
                  <a:pt x="4737908" y="1343025"/>
                  <a:pt x="4695822"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D21">
              <a:alpha val="60000"/>
            </a:srgbClr>
          </a:solidFill>
          <a:ln/>
        </p:spPr>
      </p:sp>
      <p:sp>
        <p:nvSpPr>
          <p:cNvPr id="11" name="Shape 9"/>
          <p:cNvSpPr/>
          <p:nvPr/>
        </p:nvSpPr>
        <p:spPr>
          <a:xfrm>
            <a:off x="1704975" y="3087291"/>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D4A373"/>
          </a:solidFill>
          <a:ln/>
        </p:spPr>
      </p:sp>
      <p:sp>
        <p:nvSpPr>
          <p:cNvPr id="12" name="Shape 10"/>
          <p:cNvSpPr/>
          <p:nvPr/>
        </p:nvSpPr>
        <p:spPr>
          <a:xfrm>
            <a:off x="1928813" y="3296841"/>
            <a:ext cx="257175" cy="228600"/>
          </a:xfrm>
          <a:custGeom>
            <a:avLst/>
            <a:gdLst/>
            <a:ahLst/>
            <a:cxnLst/>
            <a:rect l="l" t="t" r="r" b="b"/>
            <a:pathLst>
              <a:path w="257175" h="228600">
                <a:moveTo>
                  <a:pt x="18306" y="-11117"/>
                </a:moveTo>
                <a:cubicBezTo>
                  <a:pt x="14109" y="-15314"/>
                  <a:pt x="7322" y="-15314"/>
                  <a:pt x="3170" y="-11117"/>
                </a:cubicBezTo>
                <a:cubicBezTo>
                  <a:pt x="-982" y="-6921"/>
                  <a:pt x="-1027" y="-134"/>
                  <a:pt x="3125" y="4063"/>
                </a:cubicBezTo>
                <a:lnTo>
                  <a:pt x="238869" y="239807"/>
                </a:lnTo>
                <a:cubicBezTo>
                  <a:pt x="243066" y="244004"/>
                  <a:pt x="249853" y="244004"/>
                  <a:pt x="254005" y="239807"/>
                </a:cubicBezTo>
                <a:cubicBezTo>
                  <a:pt x="258157" y="235610"/>
                  <a:pt x="258202" y="228823"/>
                  <a:pt x="254005" y="224671"/>
                </a:cubicBezTo>
                <a:lnTo>
                  <a:pt x="139080" y="109701"/>
                </a:lnTo>
                <a:cubicBezTo>
                  <a:pt x="163637" y="104835"/>
                  <a:pt x="182166" y="83135"/>
                  <a:pt x="182166" y="57150"/>
                </a:cubicBezTo>
                <a:cubicBezTo>
                  <a:pt x="182166" y="27548"/>
                  <a:pt x="158189" y="3572"/>
                  <a:pt x="128588" y="3572"/>
                </a:cubicBezTo>
                <a:cubicBezTo>
                  <a:pt x="102602" y="3572"/>
                  <a:pt x="80903" y="22101"/>
                  <a:pt x="76036" y="46658"/>
                </a:cubicBezTo>
                <a:lnTo>
                  <a:pt x="18306" y="-11117"/>
                </a:lnTo>
                <a:close/>
                <a:moveTo>
                  <a:pt x="105192" y="136356"/>
                </a:moveTo>
                <a:cubicBezTo>
                  <a:pt x="66035" y="141357"/>
                  <a:pt x="35719" y="174799"/>
                  <a:pt x="35719" y="215339"/>
                </a:cubicBezTo>
                <a:cubicBezTo>
                  <a:pt x="35719" y="222662"/>
                  <a:pt x="41657" y="228600"/>
                  <a:pt x="48979" y="228600"/>
                </a:cubicBezTo>
                <a:lnTo>
                  <a:pt x="197435" y="228600"/>
                </a:lnTo>
                <a:lnTo>
                  <a:pt x="105192" y="136356"/>
                </a:lnTo>
                <a:close/>
              </a:path>
            </a:pathLst>
          </a:custGeom>
          <a:solidFill>
            <a:srgbClr val="D4A373"/>
          </a:solidFill>
          <a:ln/>
        </p:spPr>
      </p:sp>
      <p:sp>
        <p:nvSpPr>
          <p:cNvPr id="13" name="Text 11"/>
          <p:cNvSpPr/>
          <p:nvPr/>
        </p:nvSpPr>
        <p:spPr>
          <a:xfrm>
            <a:off x="2314575" y="3277791"/>
            <a:ext cx="1504950"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Churn Prediction</a:t>
            </a:r>
            <a:endParaRPr lang="en-US" sz="1600" dirty="0"/>
          </a:p>
        </p:txBody>
      </p:sp>
      <p:sp>
        <p:nvSpPr>
          <p:cNvPr id="14" name="Text 12"/>
          <p:cNvSpPr/>
          <p:nvPr/>
        </p:nvSpPr>
        <p:spPr>
          <a:xfrm>
            <a:off x="1914525" y="3658791"/>
            <a:ext cx="4457700" cy="276225"/>
          </a:xfrm>
          <a:prstGeom prst="rect">
            <a:avLst/>
          </a:prstGeom>
          <a:noFill/>
          <a:ln/>
        </p:spPr>
        <p:txBody>
          <a:bodyPr wrap="square" lIns="0" tIns="0" rIns="0" bIns="0" rtlCol="0" anchor="ctr"/>
          <a:lstStyle/>
          <a:p>
            <a:pPr>
              <a:lnSpc>
                <a:spcPct val="140000"/>
              </a:lnSpc>
            </a:pPr>
            <a:r>
              <a:rPr lang="en-US" sz="1350" dirty="0">
                <a:solidFill>
                  <a:srgbClr val="EDF2F4"/>
                </a:solidFill>
                <a:latin typeface="Liter" pitchFamily="34" charset="0"/>
                <a:ea typeface="Liter" pitchFamily="34" charset="-122"/>
                <a:cs typeface="Liter" pitchFamily="34" charset="-120"/>
              </a:rPr>
              <a:t>Which customer will leave the platform?</a:t>
            </a:r>
            <a:endParaRPr lang="en-US" sz="1600" dirty="0"/>
          </a:p>
        </p:txBody>
      </p:sp>
      <p:sp>
        <p:nvSpPr>
          <p:cNvPr id="15" name="Text 13"/>
          <p:cNvSpPr/>
          <p:nvPr/>
        </p:nvSpPr>
        <p:spPr>
          <a:xfrm>
            <a:off x="1914525" y="4013597"/>
            <a:ext cx="444817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Hangi müşteri platformdan ayrılacak?</a:t>
            </a:r>
            <a:endParaRPr lang="en-US" sz="1600" dirty="0"/>
          </a:p>
        </p:txBody>
      </p:sp>
      <p:sp>
        <p:nvSpPr>
          <p:cNvPr id="16" name="Shape 14"/>
          <p:cNvSpPr/>
          <p:nvPr/>
        </p:nvSpPr>
        <p:spPr>
          <a:xfrm>
            <a:off x="6724650" y="3087291"/>
            <a:ext cx="4772025" cy="1343025"/>
          </a:xfrm>
          <a:custGeom>
            <a:avLst/>
            <a:gdLst/>
            <a:ahLst/>
            <a:cxnLst/>
            <a:rect l="l" t="t" r="r" b="b"/>
            <a:pathLst>
              <a:path w="4772025" h="1343025">
                <a:moveTo>
                  <a:pt x="38100" y="0"/>
                </a:moveTo>
                <a:lnTo>
                  <a:pt x="4695822" y="0"/>
                </a:lnTo>
                <a:cubicBezTo>
                  <a:pt x="4737908" y="0"/>
                  <a:pt x="4772025" y="34117"/>
                  <a:pt x="4772025" y="76203"/>
                </a:cubicBezTo>
                <a:lnTo>
                  <a:pt x="4772025" y="1266822"/>
                </a:lnTo>
                <a:cubicBezTo>
                  <a:pt x="4772025" y="1308908"/>
                  <a:pt x="4737908" y="1343025"/>
                  <a:pt x="4695822"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D21">
              <a:alpha val="60000"/>
            </a:srgbClr>
          </a:solidFill>
          <a:ln/>
        </p:spPr>
      </p:sp>
      <p:sp>
        <p:nvSpPr>
          <p:cNvPr id="17" name="Shape 15"/>
          <p:cNvSpPr/>
          <p:nvPr/>
        </p:nvSpPr>
        <p:spPr>
          <a:xfrm>
            <a:off x="6724650" y="3087291"/>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4A6C8C"/>
          </a:solidFill>
          <a:ln/>
        </p:spPr>
      </p:sp>
      <p:sp>
        <p:nvSpPr>
          <p:cNvPr id="18" name="Shape 16"/>
          <p:cNvSpPr/>
          <p:nvPr/>
        </p:nvSpPr>
        <p:spPr>
          <a:xfrm>
            <a:off x="6977063" y="3296841"/>
            <a:ext cx="200025" cy="228600"/>
          </a:xfrm>
          <a:custGeom>
            <a:avLst/>
            <a:gdLst/>
            <a:ahLst/>
            <a:cxnLst/>
            <a:rect l="l" t="t" r="r" b="b"/>
            <a:pathLst>
              <a:path w="200025" h="228600">
                <a:moveTo>
                  <a:pt x="32727" y="85725"/>
                </a:moveTo>
                <a:cubicBezTo>
                  <a:pt x="45006" y="44425"/>
                  <a:pt x="83269" y="14288"/>
                  <a:pt x="128588" y="14288"/>
                </a:cubicBezTo>
                <a:lnTo>
                  <a:pt x="157163" y="14288"/>
                </a:lnTo>
                <a:cubicBezTo>
                  <a:pt x="165065" y="14288"/>
                  <a:pt x="171450" y="20672"/>
                  <a:pt x="171450" y="28575"/>
                </a:cubicBezTo>
                <a:cubicBezTo>
                  <a:pt x="171450" y="36478"/>
                  <a:pt x="165065" y="42863"/>
                  <a:pt x="157163" y="42863"/>
                </a:cubicBezTo>
                <a:lnTo>
                  <a:pt x="128588" y="42863"/>
                </a:lnTo>
                <a:cubicBezTo>
                  <a:pt x="99298" y="42863"/>
                  <a:pt x="74116" y="60499"/>
                  <a:pt x="63088" y="85725"/>
                </a:cubicBezTo>
                <a:lnTo>
                  <a:pt x="121444" y="85725"/>
                </a:lnTo>
                <a:cubicBezTo>
                  <a:pt x="127382" y="85725"/>
                  <a:pt x="132159" y="90502"/>
                  <a:pt x="132159" y="96441"/>
                </a:cubicBezTo>
                <a:cubicBezTo>
                  <a:pt x="132159" y="102379"/>
                  <a:pt x="127382" y="107156"/>
                  <a:pt x="121444" y="107156"/>
                </a:cubicBezTo>
                <a:lnTo>
                  <a:pt x="57507" y="107156"/>
                </a:lnTo>
                <a:cubicBezTo>
                  <a:pt x="57284" y="109523"/>
                  <a:pt x="57150" y="111889"/>
                  <a:pt x="57150" y="114300"/>
                </a:cubicBezTo>
                <a:cubicBezTo>
                  <a:pt x="57150" y="116711"/>
                  <a:pt x="57284" y="119077"/>
                  <a:pt x="57507" y="121444"/>
                </a:cubicBezTo>
                <a:lnTo>
                  <a:pt x="121444" y="121444"/>
                </a:lnTo>
                <a:cubicBezTo>
                  <a:pt x="127382" y="121444"/>
                  <a:pt x="132159" y="126221"/>
                  <a:pt x="132159" y="132159"/>
                </a:cubicBezTo>
                <a:cubicBezTo>
                  <a:pt x="132159" y="138098"/>
                  <a:pt x="127382" y="142875"/>
                  <a:pt x="121444" y="142875"/>
                </a:cubicBezTo>
                <a:lnTo>
                  <a:pt x="63088" y="142875"/>
                </a:lnTo>
                <a:cubicBezTo>
                  <a:pt x="74116" y="168101"/>
                  <a:pt x="99298" y="185738"/>
                  <a:pt x="128588" y="185738"/>
                </a:cubicBezTo>
                <a:lnTo>
                  <a:pt x="157163" y="185738"/>
                </a:lnTo>
                <a:cubicBezTo>
                  <a:pt x="165065" y="185738"/>
                  <a:pt x="171450" y="192122"/>
                  <a:pt x="171450" y="200025"/>
                </a:cubicBezTo>
                <a:cubicBezTo>
                  <a:pt x="171450" y="207928"/>
                  <a:pt x="165065" y="214313"/>
                  <a:pt x="157163" y="214313"/>
                </a:cubicBezTo>
                <a:lnTo>
                  <a:pt x="128588" y="214313"/>
                </a:lnTo>
                <a:cubicBezTo>
                  <a:pt x="83269" y="214313"/>
                  <a:pt x="45006" y="184175"/>
                  <a:pt x="32727" y="142875"/>
                </a:cubicBezTo>
                <a:lnTo>
                  <a:pt x="17859" y="142875"/>
                </a:lnTo>
                <a:cubicBezTo>
                  <a:pt x="11921" y="142875"/>
                  <a:pt x="7144" y="138098"/>
                  <a:pt x="7144" y="132159"/>
                </a:cubicBezTo>
                <a:cubicBezTo>
                  <a:pt x="7144" y="126221"/>
                  <a:pt x="11921" y="121444"/>
                  <a:pt x="17859" y="121444"/>
                </a:cubicBezTo>
                <a:lnTo>
                  <a:pt x="28843" y="121444"/>
                </a:lnTo>
                <a:cubicBezTo>
                  <a:pt x="28530" y="116756"/>
                  <a:pt x="28530" y="111844"/>
                  <a:pt x="28843" y="107156"/>
                </a:cubicBezTo>
                <a:lnTo>
                  <a:pt x="17859" y="107156"/>
                </a:lnTo>
                <a:cubicBezTo>
                  <a:pt x="11921" y="107156"/>
                  <a:pt x="7144" y="102379"/>
                  <a:pt x="7144" y="96441"/>
                </a:cubicBezTo>
                <a:cubicBezTo>
                  <a:pt x="7144" y="90502"/>
                  <a:pt x="11921" y="85725"/>
                  <a:pt x="17859" y="85725"/>
                </a:cubicBezTo>
                <a:lnTo>
                  <a:pt x="32727" y="85725"/>
                </a:lnTo>
                <a:close/>
              </a:path>
            </a:pathLst>
          </a:custGeom>
          <a:solidFill>
            <a:srgbClr val="4A6C8C"/>
          </a:solidFill>
          <a:ln/>
        </p:spPr>
      </p:sp>
      <p:sp>
        <p:nvSpPr>
          <p:cNvPr id="19" name="Text 17"/>
          <p:cNvSpPr/>
          <p:nvPr/>
        </p:nvSpPr>
        <p:spPr>
          <a:xfrm>
            <a:off x="7334250" y="3277791"/>
            <a:ext cx="1304925"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Lifetime Value</a:t>
            </a:r>
            <a:endParaRPr lang="en-US" sz="1600" dirty="0"/>
          </a:p>
        </p:txBody>
      </p:sp>
      <p:sp>
        <p:nvSpPr>
          <p:cNvPr id="20" name="Text 18"/>
          <p:cNvSpPr/>
          <p:nvPr/>
        </p:nvSpPr>
        <p:spPr>
          <a:xfrm>
            <a:off x="6934200" y="3658791"/>
            <a:ext cx="4457700" cy="276225"/>
          </a:xfrm>
          <a:prstGeom prst="rect">
            <a:avLst/>
          </a:prstGeom>
          <a:noFill/>
          <a:ln/>
        </p:spPr>
        <p:txBody>
          <a:bodyPr wrap="square" lIns="0" tIns="0" rIns="0" bIns="0" rtlCol="0" anchor="ctr"/>
          <a:lstStyle/>
          <a:p>
            <a:pPr>
              <a:lnSpc>
                <a:spcPct val="140000"/>
              </a:lnSpc>
            </a:pPr>
            <a:r>
              <a:rPr lang="en-US" sz="1350" dirty="0">
                <a:solidFill>
                  <a:srgbClr val="EDF2F4"/>
                </a:solidFill>
                <a:latin typeface="Liter" pitchFamily="34" charset="0"/>
                <a:ea typeface="Liter" pitchFamily="34" charset="-122"/>
                <a:cs typeface="Liter" pitchFamily="34" charset="-120"/>
              </a:rPr>
              <a:t>How much revenue will a customer generate?</a:t>
            </a:r>
            <a:endParaRPr lang="en-US" sz="1600" dirty="0"/>
          </a:p>
        </p:txBody>
      </p:sp>
      <p:sp>
        <p:nvSpPr>
          <p:cNvPr id="21" name="Text 19"/>
          <p:cNvSpPr/>
          <p:nvPr/>
        </p:nvSpPr>
        <p:spPr>
          <a:xfrm>
            <a:off x="6934200" y="4013597"/>
            <a:ext cx="444817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Bir müşteri şirkete ne kadar para kazandırır?</a:t>
            </a:r>
            <a:endParaRPr lang="en-US" sz="1600" dirty="0"/>
          </a:p>
        </p:txBody>
      </p:sp>
      <p:sp>
        <p:nvSpPr>
          <p:cNvPr id="22" name="Shape 20"/>
          <p:cNvSpPr/>
          <p:nvPr/>
        </p:nvSpPr>
        <p:spPr>
          <a:xfrm>
            <a:off x="385763" y="4980384"/>
            <a:ext cx="11420475" cy="1123950"/>
          </a:xfrm>
          <a:custGeom>
            <a:avLst/>
            <a:gdLst/>
            <a:ahLst/>
            <a:cxnLst/>
            <a:rect l="l" t="t" r="r" b="b"/>
            <a:pathLst>
              <a:path w="11420475" h="1123950">
                <a:moveTo>
                  <a:pt x="114294" y="0"/>
                </a:moveTo>
                <a:lnTo>
                  <a:pt x="11306181" y="0"/>
                </a:lnTo>
                <a:cubicBezTo>
                  <a:pt x="11369304" y="0"/>
                  <a:pt x="11420475" y="51171"/>
                  <a:pt x="11420475" y="114294"/>
                </a:cubicBezTo>
                <a:lnTo>
                  <a:pt x="11420475" y="1009656"/>
                </a:lnTo>
                <a:cubicBezTo>
                  <a:pt x="11420475" y="1072779"/>
                  <a:pt x="11369304" y="1123950"/>
                  <a:pt x="11306181" y="1123950"/>
                </a:cubicBezTo>
                <a:lnTo>
                  <a:pt x="114294" y="1123950"/>
                </a:lnTo>
                <a:cubicBezTo>
                  <a:pt x="51171" y="1123950"/>
                  <a:pt x="0" y="1072779"/>
                  <a:pt x="0" y="1009656"/>
                </a:cubicBezTo>
                <a:lnTo>
                  <a:pt x="0" y="114294"/>
                </a:lnTo>
                <a:cubicBezTo>
                  <a:pt x="0" y="51171"/>
                  <a:pt x="51171" y="0"/>
                  <a:pt x="114294" y="0"/>
                </a:cubicBezTo>
                <a:close/>
              </a:path>
            </a:pathLst>
          </a:custGeom>
          <a:solidFill>
            <a:srgbClr val="4A6C8C">
              <a:alpha val="10196"/>
            </a:srgbClr>
          </a:solidFill>
          <a:ln w="12700">
            <a:solidFill>
              <a:srgbClr val="4A6C8C">
                <a:alpha val="30196"/>
              </a:srgbClr>
            </a:solidFill>
            <a:prstDash val="solid"/>
          </a:ln>
        </p:spPr>
      </p:sp>
      <p:sp>
        <p:nvSpPr>
          <p:cNvPr id="23" name="Shape 21"/>
          <p:cNvSpPr/>
          <p:nvPr/>
        </p:nvSpPr>
        <p:spPr>
          <a:xfrm>
            <a:off x="704850" y="5368528"/>
            <a:ext cx="257175" cy="342900"/>
          </a:xfrm>
          <a:custGeom>
            <a:avLst/>
            <a:gdLst/>
            <a:ahLst/>
            <a:cxnLst/>
            <a:rect l="l" t="t" r="r" b="b"/>
            <a:pathLst>
              <a:path w="257175" h="342900">
                <a:moveTo>
                  <a:pt x="196163" y="257175"/>
                </a:moveTo>
                <a:cubicBezTo>
                  <a:pt x="201052" y="242240"/>
                  <a:pt x="210830" y="228712"/>
                  <a:pt x="221880" y="217058"/>
                </a:cubicBezTo>
                <a:cubicBezTo>
                  <a:pt x="243780" y="194020"/>
                  <a:pt x="257175" y="162878"/>
                  <a:pt x="257175" y="128588"/>
                </a:cubicBezTo>
                <a:cubicBezTo>
                  <a:pt x="257175" y="57596"/>
                  <a:pt x="199579" y="0"/>
                  <a:pt x="128587" y="0"/>
                </a:cubicBezTo>
                <a:cubicBezTo>
                  <a:pt x="57596" y="0"/>
                  <a:pt x="0" y="57596"/>
                  <a:pt x="0" y="128588"/>
                </a:cubicBezTo>
                <a:cubicBezTo>
                  <a:pt x="0" y="162878"/>
                  <a:pt x="13395" y="194020"/>
                  <a:pt x="35295" y="217058"/>
                </a:cubicBezTo>
                <a:cubicBezTo>
                  <a:pt x="46345" y="228712"/>
                  <a:pt x="56190" y="242240"/>
                  <a:pt x="61012" y="257175"/>
                </a:cubicBezTo>
                <a:lnTo>
                  <a:pt x="196096" y="257175"/>
                </a:lnTo>
                <a:close/>
                <a:moveTo>
                  <a:pt x="192881" y="289322"/>
                </a:moveTo>
                <a:lnTo>
                  <a:pt x="64294" y="289322"/>
                </a:lnTo>
                <a:lnTo>
                  <a:pt x="64294" y="300038"/>
                </a:lnTo>
                <a:cubicBezTo>
                  <a:pt x="64294" y="329639"/>
                  <a:pt x="88270" y="353616"/>
                  <a:pt x="117872" y="353616"/>
                </a:cubicBezTo>
                <a:lnTo>
                  <a:pt x="139303" y="353616"/>
                </a:lnTo>
                <a:cubicBezTo>
                  <a:pt x="168905" y="353616"/>
                  <a:pt x="192881" y="329639"/>
                  <a:pt x="192881" y="300038"/>
                </a:cubicBezTo>
                <a:lnTo>
                  <a:pt x="192881" y="289322"/>
                </a:lnTo>
                <a:close/>
                <a:moveTo>
                  <a:pt x="123230" y="75009"/>
                </a:moveTo>
                <a:cubicBezTo>
                  <a:pt x="96575" y="75009"/>
                  <a:pt x="75009" y="96575"/>
                  <a:pt x="75009" y="123230"/>
                </a:cubicBezTo>
                <a:cubicBezTo>
                  <a:pt x="75009" y="132137"/>
                  <a:pt x="67843" y="139303"/>
                  <a:pt x="58936" y="139303"/>
                </a:cubicBezTo>
                <a:cubicBezTo>
                  <a:pt x="50029" y="139303"/>
                  <a:pt x="42863" y="132137"/>
                  <a:pt x="42863" y="123230"/>
                </a:cubicBezTo>
                <a:cubicBezTo>
                  <a:pt x="42863" y="78827"/>
                  <a:pt x="78827" y="42863"/>
                  <a:pt x="123230" y="42863"/>
                </a:cubicBezTo>
                <a:cubicBezTo>
                  <a:pt x="132137" y="42863"/>
                  <a:pt x="139303" y="50029"/>
                  <a:pt x="139303" y="58936"/>
                </a:cubicBezTo>
                <a:cubicBezTo>
                  <a:pt x="139303" y="67843"/>
                  <a:pt x="132137" y="75009"/>
                  <a:pt x="123230" y="75009"/>
                </a:cubicBezTo>
                <a:close/>
              </a:path>
            </a:pathLst>
          </a:custGeom>
          <a:solidFill>
            <a:srgbClr val="D4A373"/>
          </a:solidFill>
          <a:ln/>
        </p:spPr>
      </p:sp>
      <p:sp>
        <p:nvSpPr>
          <p:cNvPr id="24" name="Text 22"/>
          <p:cNvSpPr/>
          <p:nvPr/>
        </p:nvSpPr>
        <p:spPr>
          <a:xfrm>
            <a:off x="1200150" y="5213747"/>
            <a:ext cx="7553325" cy="314325"/>
          </a:xfrm>
          <a:prstGeom prst="rect">
            <a:avLst/>
          </a:prstGeom>
          <a:noFill/>
          <a:ln/>
        </p:spPr>
        <p:txBody>
          <a:bodyPr wrap="square" lIns="0" tIns="0" rIns="0" bIns="0" rtlCol="0" anchor="ctr"/>
          <a:lstStyle/>
          <a:p>
            <a:pPr>
              <a:lnSpc>
                <a:spcPct val="140000"/>
              </a:lnSpc>
            </a:pPr>
            <a:r>
              <a:rPr lang="en-US" sz="1500" b="1" dirty="0">
                <a:solidFill>
                  <a:srgbClr val="EDF2F4"/>
                </a:solidFill>
                <a:latin typeface="Liter" pitchFamily="34" charset="0"/>
                <a:ea typeface="Liter" pitchFamily="34" charset="-122"/>
                <a:cs typeface="Liter" pitchFamily="34" charset="-120"/>
              </a:rPr>
              <a:t>Our Approach:</a:t>
            </a:r>
            <a:pPr>
              <a:lnSpc>
                <a:spcPct val="140000"/>
              </a:lnSpc>
            </a:pPr>
            <a:r>
              <a:rPr lang="en-US" sz="1500" dirty="0">
                <a:solidFill>
                  <a:srgbClr val="EDF2F4"/>
                </a:solidFill>
                <a:latin typeface="Liter" pitchFamily="34" charset="0"/>
                <a:ea typeface="Liter" pitchFamily="34" charset="-122"/>
                <a:cs typeface="Liter" pitchFamily="34" charset="-120"/>
              </a:rPr>
              <a:t> We used machine learning to answer these two critical business questions.</a:t>
            </a:r>
            <a:endParaRPr lang="en-US" sz="1600" dirty="0"/>
          </a:p>
        </p:txBody>
      </p:sp>
      <p:sp>
        <p:nvSpPr>
          <p:cNvPr id="25" name="Text 23"/>
          <p:cNvSpPr/>
          <p:nvPr/>
        </p:nvSpPr>
        <p:spPr>
          <a:xfrm>
            <a:off x="1200150" y="5599509"/>
            <a:ext cx="7543800" cy="266700"/>
          </a:xfrm>
          <a:prstGeom prst="rect">
            <a:avLst/>
          </a:prstGeom>
          <a:noFill/>
          <a:ln/>
        </p:spPr>
        <p:txBody>
          <a:bodyPr wrap="square" lIns="0" tIns="0" rIns="0" bIns="0" rtlCol="0" anchor="ctr"/>
          <a:lstStyle/>
          <a:p>
            <a:pPr>
              <a:lnSpc>
                <a:spcPct val="130000"/>
              </a:lnSpc>
            </a:pPr>
            <a:r>
              <a:rPr lang="en-US" sz="1350" b="1" dirty="0">
                <a:solidFill>
                  <a:srgbClr val="8D99AE"/>
                </a:solidFill>
                <a:latin typeface="Liter" pitchFamily="34" charset="0"/>
                <a:ea typeface="Liter" pitchFamily="34" charset="-122"/>
                <a:cs typeface="Liter" pitchFamily="34" charset="-120"/>
              </a:rPr>
              <a:t>Yaklaşımımız:</a:t>
            </a:r>
            <a:pPr>
              <a:lnSpc>
                <a:spcPct val="130000"/>
              </a:lnSpc>
            </a:pPr>
            <a:r>
              <a:rPr lang="en-US" sz="1350" dirty="0">
                <a:solidFill>
                  <a:srgbClr val="8D99AE"/>
                </a:solidFill>
                <a:latin typeface="Liter" pitchFamily="34" charset="0"/>
                <a:ea typeface="Liter" pitchFamily="34" charset="-122"/>
                <a:cs typeface="Liter" pitchFamily="34" charset="-120"/>
              </a:rPr>
              <a:t> Bu iki kritik iş sorusunu makine öğrenmesiyle cevaplamaya çalıştık.</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73701" y="373701"/>
            <a:ext cx="74740" cy="448441"/>
          </a:xfrm>
          <a:custGeom>
            <a:avLst/>
            <a:gdLst/>
            <a:ahLst/>
            <a:cxnLst/>
            <a:rect l="l" t="t" r="r" b="b"/>
            <a:pathLst>
              <a:path w="74740" h="448441">
                <a:moveTo>
                  <a:pt x="0" y="0"/>
                </a:moveTo>
                <a:lnTo>
                  <a:pt x="74740" y="0"/>
                </a:lnTo>
                <a:lnTo>
                  <a:pt x="74740" y="448441"/>
                </a:lnTo>
                <a:lnTo>
                  <a:pt x="0" y="448441"/>
                </a:lnTo>
                <a:lnTo>
                  <a:pt x="0" y="0"/>
                </a:lnTo>
                <a:close/>
              </a:path>
            </a:pathLst>
          </a:custGeom>
          <a:solidFill>
            <a:srgbClr val="4A6C8C"/>
          </a:solidFill>
          <a:ln/>
        </p:spPr>
      </p:sp>
      <p:sp>
        <p:nvSpPr>
          <p:cNvPr id="3" name="Text 1"/>
          <p:cNvSpPr/>
          <p:nvPr/>
        </p:nvSpPr>
        <p:spPr>
          <a:xfrm>
            <a:off x="560552" y="411071"/>
            <a:ext cx="2924211" cy="373701"/>
          </a:xfrm>
          <a:prstGeom prst="rect">
            <a:avLst/>
          </a:prstGeom>
          <a:noFill/>
          <a:ln/>
        </p:spPr>
        <p:txBody>
          <a:bodyPr wrap="square" lIns="0" tIns="0" rIns="0" bIns="0" rtlCol="0" anchor="ctr"/>
          <a:lstStyle/>
          <a:p>
            <a:pPr>
              <a:lnSpc>
                <a:spcPct val="90000"/>
              </a:lnSpc>
            </a:pPr>
            <a:r>
              <a:rPr lang="en-US" sz="2648" b="1" dirty="0">
                <a:solidFill>
                  <a:srgbClr val="EDF2F4"/>
                </a:solidFill>
                <a:latin typeface="Liter" pitchFamily="34" charset="0"/>
                <a:ea typeface="Liter" pitchFamily="34" charset="-122"/>
                <a:cs typeface="Liter" pitchFamily="34" charset="-120"/>
              </a:rPr>
              <a:t>Problem Definition</a:t>
            </a:r>
            <a:endParaRPr lang="en-US" sz="1600" dirty="0"/>
          </a:p>
        </p:txBody>
      </p:sp>
      <p:sp>
        <p:nvSpPr>
          <p:cNvPr id="4" name="Text 2"/>
          <p:cNvSpPr/>
          <p:nvPr/>
        </p:nvSpPr>
        <p:spPr>
          <a:xfrm>
            <a:off x="560552" y="896883"/>
            <a:ext cx="11369857" cy="298961"/>
          </a:xfrm>
          <a:prstGeom prst="rect">
            <a:avLst/>
          </a:prstGeom>
          <a:noFill/>
          <a:ln/>
        </p:spPr>
        <p:txBody>
          <a:bodyPr wrap="square" lIns="0" tIns="0" rIns="0" bIns="0" rtlCol="0" anchor="ctr"/>
          <a:lstStyle/>
          <a:p>
            <a:pPr>
              <a:lnSpc>
                <a:spcPct val="110000"/>
              </a:lnSpc>
            </a:pPr>
            <a:r>
              <a:rPr lang="en-US" sz="1766" dirty="0">
                <a:solidFill>
                  <a:srgbClr val="8D99AE"/>
                </a:solidFill>
                <a:latin typeface="Liter" pitchFamily="34" charset="0"/>
                <a:ea typeface="Liter" pitchFamily="34" charset="-122"/>
                <a:cs typeface="Liter" pitchFamily="34" charset="-120"/>
              </a:rPr>
              <a:t>Problem Tanımı</a:t>
            </a:r>
            <a:endParaRPr lang="en-US" sz="1600" dirty="0"/>
          </a:p>
        </p:txBody>
      </p:sp>
      <p:sp>
        <p:nvSpPr>
          <p:cNvPr id="5" name="Shape 3"/>
          <p:cNvSpPr/>
          <p:nvPr/>
        </p:nvSpPr>
        <p:spPr>
          <a:xfrm>
            <a:off x="378372" y="1349995"/>
            <a:ext cx="5614860" cy="5502749"/>
          </a:xfrm>
          <a:custGeom>
            <a:avLst/>
            <a:gdLst/>
            <a:ahLst/>
            <a:cxnLst/>
            <a:rect l="l" t="t" r="r" b="b"/>
            <a:pathLst>
              <a:path w="5614860" h="5502749">
                <a:moveTo>
                  <a:pt x="112091" y="0"/>
                </a:moveTo>
                <a:lnTo>
                  <a:pt x="5502769" y="0"/>
                </a:lnTo>
                <a:cubicBezTo>
                  <a:pt x="5564675" y="0"/>
                  <a:pt x="5614860" y="50185"/>
                  <a:pt x="5614860" y="112091"/>
                </a:cubicBezTo>
                <a:lnTo>
                  <a:pt x="5614860" y="5390658"/>
                </a:lnTo>
                <a:cubicBezTo>
                  <a:pt x="5614860" y="5452565"/>
                  <a:pt x="5564675" y="5502749"/>
                  <a:pt x="5502769" y="5502749"/>
                </a:cubicBezTo>
                <a:lnTo>
                  <a:pt x="112091" y="5502749"/>
                </a:lnTo>
                <a:cubicBezTo>
                  <a:pt x="50185" y="5502749"/>
                  <a:pt x="0" y="5452565"/>
                  <a:pt x="0" y="5390658"/>
                </a:cubicBezTo>
                <a:lnTo>
                  <a:pt x="0" y="112091"/>
                </a:lnTo>
                <a:cubicBezTo>
                  <a:pt x="0" y="50226"/>
                  <a:pt x="50226" y="0"/>
                  <a:pt x="112091" y="0"/>
                </a:cubicBezTo>
                <a:close/>
              </a:path>
            </a:pathLst>
          </a:custGeom>
          <a:gradFill rotWithShape="1" flip="none">
            <a:gsLst>
              <a:gs pos="0">
                <a:srgbClr val="D4A373">
                  <a:alpha val="20000"/>
                </a:srgbClr>
              </a:gs>
              <a:gs pos="100000">
                <a:srgbClr val="1A1D21">
                  <a:alpha val="40000"/>
                </a:srgbClr>
              </a:gs>
            </a:gsLst>
            <a:lin ang="2700000" scaled="1"/>
          </a:gradFill>
          <a:ln w="12700">
            <a:solidFill>
              <a:srgbClr val="D4A373">
                <a:alpha val="40000"/>
              </a:srgbClr>
            </a:solidFill>
            <a:prstDash val="solid"/>
          </a:ln>
        </p:spPr>
      </p:sp>
      <p:sp>
        <p:nvSpPr>
          <p:cNvPr id="6" name="Shape 4"/>
          <p:cNvSpPr/>
          <p:nvPr/>
        </p:nvSpPr>
        <p:spPr>
          <a:xfrm>
            <a:off x="569894" y="1541517"/>
            <a:ext cx="523182" cy="523182"/>
          </a:xfrm>
          <a:custGeom>
            <a:avLst/>
            <a:gdLst/>
            <a:ahLst/>
            <a:cxnLst/>
            <a:rect l="l" t="t" r="r" b="b"/>
            <a:pathLst>
              <a:path w="523182" h="523182">
                <a:moveTo>
                  <a:pt x="261591" y="0"/>
                </a:moveTo>
                <a:lnTo>
                  <a:pt x="261591" y="0"/>
                </a:lnTo>
                <a:cubicBezTo>
                  <a:pt x="406063" y="0"/>
                  <a:pt x="523182" y="117118"/>
                  <a:pt x="523182" y="261591"/>
                </a:cubicBezTo>
                <a:lnTo>
                  <a:pt x="523182" y="261591"/>
                </a:lnTo>
                <a:cubicBezTo>
                  <a:pt x="523182" y="406063"/>
                  <a:pt x="406063" y="523182"/>
                  <a:pt x="261591" y="523182"/>
                </a:cubicBezTo>
                <a:lnTo>
                  <a:pt x="261591" y="523182"/>
                </a:lnTo>
                <a:cubicBezTo>
                  <a:pt x="117118" y="523182"/>
                  <a:pt x="0" y="406063"/>
                  <a:pt x="0" y="261591"/>
                </a:cubicBezTo>
                <a:lnTo>
                  <a:pt x="0" y="261591"/>
                </a:lnTo>
                <a:cubicBezTo>
                  <a:pt x="0" y="117118"/>
                  <a:pt x="117118" y="0"/>
                  <a:pt x="261591" y="0"/>
                </a:cubicBezTo>
                <a:close/>
              </a:path>
            </a:pathLst>
          </a:custGeom>
          <a:solidFill>
            <a:srgbClr val="D4A373">
              <a:alpha val="20000"/>
            </a:srgbClr>
          </a:solidFill>
          <a:ln/>
        </p:spPr>
      </p:sp>
      <p:sp>
        <p:nvSpPr>
          <p:cNvPr id="7" name="Shape 5"/>
          <p:cNvSpPr/>
          <p:nvPr/>
        </p:nvSpPr>
        <p:spPr>
          <a:xfrm>
            <a:off x="719375" y="1690998"/>
            <a:ext cx="224221" cy="224221"/>
          </a:xfrm>
          <a:custGeom>
            <a:avLst/>
            <a:gdLst/>
            <a:ahLst/>
            <a:cxnLst/>
            <a:rect l="l" t="t" r="r" b="b"/>
            <a:pathLst>
              <a:path w="224221" h="224221">
                <a:moveTo>
                  <a:pt x="196193" y="112110"/>
                </a:moveTo>
                <a:cubicBezTo>
                  <a:pt x="196193" y="65704"/>
                  <a:pt x="158517" y="28028"/>
                  <a:pt x="112110" y="28028"/>
                </a:cubicBezTo>
                <a:cubicBezTo>
                  <a:pt x="65704" y="28028"/>
                  <a:pt x="28028" y="65704"/>
                  <a:pt x="28028" y="112110"/>
                </a:cubicBezTo>
                <a:cubicBezTo>
                  <a:pt x="28028" y="158517"/>
                  <a:pt x="65704" y="196193"/>
                  <a:pt x="112110" y="196193"/>
                </a:cubicBezTo>
                <a:cubicBezTo>
                  <a:pt x="158517" y="196193"/>
                  <a:pt x="196193" y="158517"/>
                  <a:pt x="196193" y="112110"/>
                </a:cubicBezTo>
                <a:close/>
                <a:moveTo>
                  <a:pt x="0" y="112110"/>
                </a:moveTo>
                <a:cubicBezTo>
                  <a:pt x="0" y="50235"/>
                  <a:pt x="50235" y="0"/>
                  <a:pt x="112110" y="0"/>
                </a:cubicBezTo>
                <a:cubicBezTo>
                  <a:pt x="173986" y="0"/>
                  <a:pt x="224221" y="50235"/>
                  <a:pt x="224221" y="112110"/>
                </a:cubicBezTo>
                <a:cubicBezTo>
                  <a:pt x="224221" y="173986"/>
                  <a:pt x="173986" y="224221"/>
                  <a:pt x="112110" y="224221"/>
                </a:cubicBezTo>
                <a:cubicBezTo>
                  <a:pt x="50235" y="224221"/>
                  <a:pt x="0" y="173986"/>
                  <a:pt x="0" y="112110"/>
                </a:cubicBezTo>
                <a:close/>
                <a:moveTo>
                  <a:pt x="112110" y="147145"/>
                </a:moveTo>
                <a:cubicBezTo>
                  <a:pt x="131446" y="147145"/>
                  <a:pt x="147145" y="131446"/>
                  <a:pt x="147145" y="112110"/>
                </a:cubicBezTo>
                <a:cubicBezTo>
                  <a:pt x="147145" y="92774"/>
                  <a:pt x="131446" y="77076"/>
                  <a:pt x="112110" y="77076"/>
                </a:cubicBezTo>
                <a:cubicBezTo>
                  <a:pt x="92774" y="77076"/>
                  <a:pt x="77076" y="92774"/>
                  <a:pt x="77076" y="112110"/>
                </a:cubicBezTo>
                <a:cubicBezTo>
                  <a:pt x="77076" y="131446"/>
                  <a:pt x="92774" y="147145"/>
                  <a:pt x="112110" y="147145"/>
                </a:cubicBezTo>
                <a:close/>
                <a:moveTo>
                  <a:pt x="112110" y="49048"/>
                </a:moveTo>
                <a:cubicBezTo>
                  <a:pt x="146915" y="49048"/>
                  <a:pt x="175172" y="77305"/>
                  <a:pt x="175172" y="112110"/>
                </a:cubicBezTo>
                <a:cubicBezTo>
                  <a:pt x="175172" y="146915"/>
                  <a:pt x="146915" y="175172"/>
                  <a:pt x="112110" y="175172"/>
                </a:cubicBezTo>
                <a:cubicBezTo>
                  <a:pt x="77305" y="175172"/>
                  <a:pt x="49048" y="146915"/>
                  <a:pt x="49048" y="112110"/>
                </a:cubicBezTo>
                <a:cubicBezTo>
                  <a:pt x="49048" y="77305"/>
                  <a:pt x="77305" y="49048"/>
                  <a:pt x="112110" y="49048"/>
                </a:cubicBezTo>
                <a:close/>
                <a:moveTo>
                  <a:pt x="98097" y="112110"/>
                </a:moveTo>
                <a:cubicBezTo>
                  <a:pt x="98097" y="104376"/>
                  <a:pt x="104376" y="98097"/>
                  <a:pt x="112110" y="98097"/>
                </a:cubicBezTo>
                <a:cubicBezTo>
                  <a:pt x="119845" y="98097"/>
                  <a:pt x="126124" y="104376"/>
                  <a:pt x="126124" y="112110"/>
                </a:cubicBezTo>
                <a:cubicBezTo>
                  <a:pt x="126124" y="119845"/>
                  <a:pt x="119845" y="126124"/>
                  <a:pt x="112110" y="126124"/>
                </a:cubicBezTo>
                <a:cubicBezTo>
                  <a:pt x="104376" y="126124"/>
                  <a:pt x="98097" y="119845"/>
                  <a:pt x="98097" y="112110"/>
                </a:cubicBezTo>
                <a:close/>
              </a:path>
            </a:pathLst>
          </a:custGeom>
          <a:solidFill>
            <a:srgbClr val="D4A373"/>
          </a:solidFill>
          <a:ln/>
        </p:spPr>
      </p:sp>
      <p:sp>
        <p:nvSpPr>
          <p:cNvPr id="8" name="Text 6"/>
          <p:cNvSpPr/>
          <p:nvPr/>
        </p:nvSpPr>
        <p:spPr>
          <a:xfrm>
            <a:off x="1205186" y="1541517"/>
            <a:ext cx="1448092" cy="298961"/>
          </a:xfrm>
          <a:prstGeom prst="rect">
            <a:avLst/>
          </a:prstGeom>
          <a:noFill/>
          <a:ln/>
        </p:spPr>
        <p:txBody>
          <a:bodyPr wrap="square" lIns="0" tIns="0" rIns="0" bIns="0" rtlCol="0" anchor="ctr"/>
          <a:lstStyle/>
          <a:p>
            <a:pPr>
              <a:lnSpc>
                <a:spcPct val="110000"/>
              </a:lnSpc>
            </a:pPr>
            <a:r>
              <a:rPr lang="en-US" sz="1766" b="1" dirty="0">
                <a:solidFill>
                  <a:srgbClr val="EDF2F4"/>
                </a:solidFill>
                <a:latin typeface="Liter" pitchFamily="34" charset="0"/>
                <a:ea typeface="Liter" pitchFamily="34" charset="-122"/>
                <a:cs typeface="Liter" pitchFamily="34" charset="-120"/>
              </a:rPr>
              <a:t>Classification</a:t>
            </a:r>
            <a:endParaRPr lang="en-US" sz="1600" dirty="0"/>
          </a:p>
        </p:txBody>
      </p:sp>
      <p:sp>
        <p:nvSpPr>
          <p:cNvPr id="9" name="Text 7"/>
          <p:cNvSpPr/>
          <p:nvPr/>
        </p:nvSpPr>
        <p:spPr>
          <a:xfrm>
            <a:off x="1205186" y="1840478"/>
            <a:ext cx="1410722"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Sınıflandırma</a:t>
            </a:r>
            <a:endParaRPr lang="en-US" sz="1600" dirty="0"/>
          </a:p>
        </p:txBody>
      </p:sp>
      <p:sp>
        <p:nvSpPr>
          <p:cNvPr id="10" name="Shape 8"/>
          <p:cNvSpPr/>
          <p:nvPr/>
        </p:nvSpPr>
        <p:spPr>
          <a:xfrm>
            <a:off x="569894" y="2214179"/>
            <a:ext cx="5231816" cy="859513"/>
          </a:xfrm>
          <a:custGeom>
            <a:avLst/>
            <a:gdLst/>
            <a:ahLst/>
            <a:cxnLst/>
            <a:rect l="l" t="t" r="r" b="b"/>
            <a:pathLst>
              <a:path w="5231816" h="859513">
                <a:moveTo>
                  <a:pt x="74743" y="0"/>
                </a:moveTo>
                <a:lnTo>
                  <a:pt x="5157073" y="0"/>
                </a:lnTo>
                <a:cubicBezTo>
                  <a:pt x="5198352" y="0"/>
                  <a:pt x="5231816" y="33464"/>
                  <a:pt x="5231816" y="74743"/>
                </a:cubicBezTo>
                <a:lnTo>
                  <a:pt x="5231816" y="784769"/>
                </a:lnTo>
                <a:cubicBezTo>
                  <a:pt x="5231816" y="826049"/>
                  <a:pt x="5198352" y="859513"/>
                  <a:pt x="5157073" y="859513"/>
                </a:cubicBezTo>
                <a:lnTo>
                  <a:pt x="74743" y="859513"/>
                </a:lnTo>
                <a:cubicBezTo>
                  <a:pt x="33491" y="859513"/>
                  <a:pt x="0" y="826021"/>
                  <a:pt x="0" y="784769"/>
                </a:cubicBezTo>
                <a:lnTo>
                  <a:pt x="0" y="74743"/>
                </a:lnTo>
                <a:cubicBezTo>
                  <a:pt x="0" y="33491"/>
                  <a:pt x="33491" y="0"/>
                  <a:pt x="74743" y="0"/>
                </a:cubicBezTo>
                <a:close/>
              </a:path>
            </a:pathLst>
          </a:custGeom>
          <a:solidFill>
            <a:srgbClr val="1A1D21">
              <a:alpha val="60000"/>
            </a:srgbClr>
          </a:solidFill>
          <a:ln/>
        </p:spPr>
      </p:sp>
      <p:sp>
        <p:nvSpPr>
          <p:cNvPr id="11" name="Text 9"/>
          <p:cNvSpPr/>
          <p:nvPr/>
        </p:nvSpPr>
        <p:spPr>
          <a:xfrm>
            <a:off x="719375" y="2363660"/>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Target | Hedef:</a:t>
            </a:r>
            <a:endParaRPr lang="en-US" sz="1600" dirty="0"/>
          </a:p>
        </p:txBody>
      </p:sp>
      <p:sp>
        <p:nvSpPr>
          <p:cNvPr id="12" name="Text 10"/>
          <p:cNvSpPr/>
          <p:nvPr/>
        </p:nvSpPr>
        <p:spPr>
          <a:xfrm>
            <a:off x="719375" y="2662621"/>
            <a:ext cx="5026280" cy="261591"/>
          </a:xfrm>
          <a:prstGeom prst="rect">
            <a:avLst/>
          </a:prstGeom>
          <a:noFill/>
          <a:ln/>
        </p:spPr>
        <p:txBody>
          <a:bodyPr wrap="square" lIns="0" tIns="0" rIns="0" bIns="0" rtlCol="0" anchor="ctr"/>
          <a:lstStyle/>
          <a:p>
            <a:pPr>
              <a:lnSpc>
                <a:spcPct val="120000"/>
              </a:lnSpc>
            </a:pPr>
            <a:r>
              <a:rPr lang="en-US" sz="1471" b="1" dirty="0">
                <a:solidFill>
                  <a:srgbClr val="D4A373"/>
                </a:solidFill>
                <a:latin typeface="Liter" pitchFamily="34" charset="0"/>
                <a:ea typeface="Liter" pitchFamily="34" charset="-122"/>
                <a:cs typeface="Liter" pitchFamily="34" charset="-120"/>
              </a:rPr>
              <a:t>Churned (0/1)</a:t>
            </a:r>
            <a:endParaRPr lang="en-US" sz="1600" dirty="0"/>
          </a:p>
        </p:txBody>
      </p:sp>
      <p:sp>
        <p:nvSpPr>
          <p:cNvPr id="13" name="Shape 11"/>
          <p:cNvSpPr/>
          <p:nvPr/>
        </p:nvSpPr>
        <p:spPr>
          <a:xfrm>
            <a:off x="569894" y="3341414"/>
            <a:ext cx="5231816" cy="840828"/>
          </a:xfrm>
          <a:custGeom>
            <a:avLst/>
            <a:gdLst/>
            <a:ahLst/>
            <a:cxnLst/>
            <a:rect l="l" t="t" r="r" b="b"/>
            <a:pathLst>
              <a:path w="5231816" h="840828">
                <a:moveTo>
                  <a:pt x="74741" y="0"/>
                </a:moveTo>
                <a:lnTo>
                  <a:pt x="5157075" y="0"/>
                </a:lnTo>
                <a:cubicBezTo>
                  <a:pt x="5198353" y="0"/>
                  <a:pt x="5231816" y="33463"/>
                  <a:pt x="5231816" y="74741"/>
                </a:cubicBezTo>
                <a:lnTo>
                  <a:pt x="5231816" y="766086"/>
                </a:lnTo>
                <a:cubicBezTo>
                  <a:pt x="5231816" y="807365"/>
                  <a:pt x="5198353" y="840828"/>
                  <a:pt x="5157075" y="840828"/>
                </a:cubicBezTo>
                <a:lnTo>
                  <a:pt x="74741" y="840828"/>
                </a:lnTo>
                <a:cubicBezTo>
                  <a:pt x="33463" y="840828"/>
                  <a:pt x="0" y="807365"/>
                  <a:pt x="0" y="766086"/>
                </a:cubicBezTo>
                <a:lnTo>
                  <a:pt x="0" y="74741"/>
                </a:lnTo>
                <a:cubicBezTo>
                  <a:pt x="0" y="33490"/>
                  <a:pt x="33490" y="0"/>
                  <a:pt x="74741" y="0"/>
                </a:cubicBezTo>
                <a:close/>
              </a:path>
            </a:pathLst>
          </a:custGeom>
          <a:solidFill>
            <a:srgbClr val="1A1D21">
              <a:alpha val="60000"/>
            </a:srgbClr>
          </a:solidFill>
          <a:ln/>
        </p:spPr>
      </p:sp>
      <p:sp>
        <p:nvSpPr>
          <p:cNvPr id="14" name="Text 12"/>
          <p:cNvSpPr/>
          <p:nvPr/>
        </p:nvSpPr>
        <p:spPr>
          <a:xfrm>
            <a:off x="719375" y="3490894"/>
            <a:ext cx="5007595" cy="242906"/>
          </a:xfrm>
          <a:prstGeom prst="rect">
            <a:avLst/>
          </a:prstGeom>
          <a:noFill/>
          <a:ln/>
        </p:spPr>
        <p:txBody>
          <a:bodyPr wrap="square" lIns="0" tIns="0" rIns="0" bIns="0" rtlCol="0" anchor="ctr"/>
          <a:lstStyle/>
          <a:p>
            <a:pPr>
              <a:lnSpc>
                <a:spcPct val="140000"/>
              </a:lnSpc>
            </a:pPr>
            <a:r>
              <a:rPr lang="en-US" sz="1177" b="1" dirty="0">
                <a:solidFill>
                  <a:srgbClr val="EDF2F4"/>
                </a:solidFill>
                <a:latin typeface="Liter" pitchFamily="34" charset="0"/>
                <a:ea typeface="Liter" pitchFamily="34" charset="-122"/>
                <a:cs typeface="Liter" pitchFamily="34" charset="-120"/>
              </a:rPr>
              <a:t>Question:</a:t>
            </a:r>
            <a:pPr>
              <a:lnSpc>
                <a:spcPct val="140000"/>
              </a:lnSpc>
            </a:pPr>
            <a:r>
              <a:rPr lang="en-US" sz="1177" dirty="0">
                <a:solidFill>
                  <a:srgbClr val="EDF2F4"/>
                </a:solidFill>
                <a:latin typeface="Liter" pitchFamily="34" charset="0"/>
                <a:ea typeface="Liter" pitchFamily="34" charset="-122"/>
                <a:cs typeface="Liter" pitchFamily="34" charset="-120"/>
              </a:rPr>
              <a:t> Which customers are most likely to abandon the platform?</a:t>
            </a:r>
            <a:endParaRPr lang="en-US" sz="1600" dirty="0"/>
          </a:p>
        </p:txBody>
      </p:sp>
      <p:sp>
        <p:nvSpPr>
          <p:cNvPr id="15" name="Text 13"/>
          <p:cNvSpPr/>
          <p:nvPr/>
        </p:nvSpPr>
        <p:spPr>
          <a:xfrm>
            <a:off x="719375" y="3808540"/>
            <a:ext cx="5007595" cy="224221"/>
          </a:xfrm>
          <a:prstGeom prst="rect">
            <a:avLst/>
          </a:prstGeom>
          <a:noFill/>
          <a:ln/>
        </p:spPr>
        <p:txBody>
          <a:bodyPr wrap="square" lIns="0" tIns="0" rIns="0" bIns="0" rtlCol="0" anchor="ctr"/>
          <a:lstStyle/>
          <a:p>
            <a:pPr>
              <a:lnSpc>
                <a:spcPct val="130000"/>
              </a:lnSpc>
            </a:pPr>
            <a:r>
              <a:rPr lang="en-US" sz="1177" b="1" dirty="0">
                <a:solidFill>
                  <a:srgbClr val="8D99AE"/>
                </a:solidFill>
                <a:latin typeface="Liter" pitchFamily="34" charset="0"/>
                <a:ea typeface="Liter" pitchFamily="34" charset="-122"/>
                <a:cs typeface="Liter" pitchFamily="34" charset="-120"/>
              </a:rPr>
              <a:t>Soru:</a:t>
            </a:r>
            <a:pPr>
              <a:lnSpc>
                <a:spcPct val="130000"/>
              </a:lnSpc>
            </a:pPr>
            <a:r>
              <a:rPr lang="en-US" sz="1177" dirty="0">
                <a:solidFill>
                  <a:srgbClr val="8D99AE"/>
                </a:solidFill>
                <a:latin typeface="Liter" pitchFamily="34" charset="0"/>
                <a:ea typeface="Liter" pitchFamily="34" charset="-122"/>
                <a:cs typeface="Liter" pitchFamily="34" charset="-120"/>
              </a:rPr>
              <a:t> Hangi müşteriler platformu terk etmeye en yatkın?</a:t>
            </a:r>
            <a:endParaRPr lang="en-US" sz="1600" dirty="0"/>
          </a:p>
        </p:txBody>
      </p:sp>
      <p:sp>
        <p:nvSpPr>
          <p:cNvPr id="16" name="Shape 14"/>
          <p:cNvSpPr/>
          <p:nvPr/>
        </p:nvSpPr>
        <p:spPr>
          <a:xfrm>
            <a:off x="569894" y="4449963"/>
            <a:ext cx="5231816" cy="859513"/>
          </a:xfrm>
          <a:custGeom>
            <a:avLst/>
            <a:gdLst/>
            <a:ahLst/>
            <a:cxnLst/>
            <a:rect l="l" t="t" r="r" b="b"/>
            <a:pathLst>
              <a:path w="5231816" h="859513">
                <a:moveTo>
                  <a:pt x="74743" y="0"/>
                </a:moveTo>
                <a:lnTo>
                  <a:pt x="5157073" y="0"/>
                </a:lnTo>
                <a:cubicBezTo>
                  <a:pt x="5198352" y="0"/>
                  <a:pt x="5231816" y="33464"/>
                  <a:pt x="5231816" y="74743"/>
                </a:cubicBezTo>
                <a:lnTo>
                  <a:pt x="5231816" y="784769"/>
                </a:lnTo>
                <a:cubicBezTo>
                  <a:pt x="5231816" y="826049"/>
                  <a:pt x="5198352" y="859513"/>
                  <a:pt x="5157073" y="859513"/>
                </a:cubicBezTo>
                <a:lnTo>
                  <a:pt x="74743" y="859513"/>
                </a:lnTo>
                <a:cubicBezTo>
                  <a:pt x="33491" y="859513"/>
                  <a:pt x="0" y="826021"/>
                  <a:pt x="0" y="784769"/>
                </a:cubicBezTo>
                <a:lnTo>
                  <a:pt x="0" y="74743"/>
                </a:lnTo>
                <a:cubicBezTo>
                  <a:pt x="0" y="33491"/>
                  <a:pt x="33491" y="0"/>
                  <a:pt x="74743" y="0"/>
                </a:cubicBezTo>
                <a:close/>
              </a:path>
            </a:pathLst>
          </a:custGeom>
          <a:solidFill>
            <a:srgbClr val="4A6C8C">
              <a:alpha val="20000"/>
            </a:srgbClr>
          </a:solidFill>
          <a:ln/>
        </p:spPr>
      </p:sp>
      <p:sp>
        <p:nvSpPr>
          <p:cNvPr id="17" name="Text 15"/>
          <p:cNvSpPr/>
          <p:nvPr/>
        </p:nvSpPr>
        <p:spPr>
          <a:xfrm>
            <a:off x="719375" y="4599444"/>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Models | Modeller:</a:t>
            </a:r>
            <a:endParaRPr lang="en-US" sz="1600" dirty="0"/>
          </a:p>
        </p:txBody>
      </p:sp>
      <p:sp>
        <p:nvSpPr>
          <p:cNvPr id="18" name="Text 16"/>
          <p:cNvSpPr/>
          <p:nvPr/>
        </p:nvSpPr>
        <p:spPr>
          <a:xfrm>
            <a:off x="719375" y="4898405"/>
            <a:ext cx="5016938" cy="261591"/>
          </a:xfrm>
          <a:prstGeom prst="rect">
            <a:avLst/>
          </a:prstGeom>
          <a:noFill/>
          <a:ln/>
        </p:spPr>
        <p:txBody>
          <a:bodyPr wrap="square" lIns="0" tIns="0" rIns="0" bIns="0" rtlCol="0" anchor="ctr"/>
          <a:lstStyle/>
          <a:p>
            <a:pPr>
              <a:lnSpc>
                <a:spcPct val="130000"/>
              </a:lnSpc>
            </a:pPr>
            <a:r>
              <a:rPr lang="en-US" sz="1324" dirty="0">
                <a:solidFill>
                  <a:srgbClr val="EDF2F4"/>
                </a:solidFill>
                <a:latin typeface="Liter" pitchFamily="34" charset="0"/>
                <a:ea typeface="Liter" pitchFamily="34" charset="-122"/>
                <a:cs typeface="Liter" pitchFamily="34" charset="-120"/>
              </a:rPr>
              <a:t>Logistic Regression, Random Forest, HGB</a:t>
            </a:r>
            <a:endParaRPr lang="en-US" sz="1600" dirty="0"/>
          </a:p>
        </p:txBody>
      </p:sp>
      <p:sp>
        <p:nvSpPr>
          <p:cNvPr id="19" name="Shape 17"/>
          <p:cNvSpPr/>
          <p:nvPr/>
        </p:nvSpPr>
        <p:spPr>
          <a:xfrm>
            <a:off x="569894" y="5577198"/>
            <a:ext cx="5231816" cy="1083733"/>
          </a:xfrm>
          <a:custGeom>
            <a:avLst/>
            <a:gdLst/>
            <a:ahLst/>
            <a:cxnLst/>
            <a:rect l="l" t="t" r="r" b="b"/>
            <a:pathLst>
              <a:path w="5231816" h="1083733">
                <a:moveTo>
                  <a:pt x="74745" y="0"/>
                </a:moveTo>
                <a:lnTo>
                  <a:pt x="5157071" y="0"/>
                </a:lnTo>
                <a:cubicBezTo>
                  <a:pt x="5198352" y="0"/>
                  <a:pt x="5231816" y="33465"/>
                  <a:pt x="5231816" y="74745"/>
                </a:cubicBezTo>
                <a:lnTo>
                  <a:pt x="5231816" y="1008988"/>
                </a:lnTo>
                <a:cubicBezTo>
                  <a:pt x="5231816" y="1050269"/>
                  <a:pt x="5198352" y="1083733"/>
                  <a:pt x="5157071" y="1083733"/>
                </a:cubicBezTo>
                <a:lnTo>
                  <a:pt x="74745" y="1083733"/>
                </a:lnTo>
                <a:cubicBezTo>
                  <a:pt x="33465" y="1083733"/>
                  <a:pt x="0" y="1050269"/>
                  <a:pt x="0" y="1008988"/>
                </a:cubicBezTo>
                <a:lnTo>
                  <a:pt x="0" y="74745"/>
                </a:lnTo>
                <a:cubicBezTo>
                  <a:pt x="0" y="33492"/>
                  <a:pt x="33492" y="0"/>
                  <a:pt x="74745" y="0"/>
                </a:cubicBezTo>
                <a:close/>
              </a:path>
            </a:pathLst>
          </a:custGeom>
          <a:solidFill>
            <a:srgbClr val="1A1D21">
              <a:alpha val="60000"/>
            </a:srgbClr>
          </a:solidFill>
          <a:ln/>
        </p:spPr>
      </p:sp>
      <p:sp>
        <p:nvSpPr>
          <p:cNvPr id="20" name="Text 18"/>
          <p:cNvSpPr/>
          <p:nvPr/>
        </p:nvSpPr>
        <p:spPr>
          <a:xfrm>
            <a:off x="719375" y="5726678"/>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Dataset | Veri Seti:</a:t>
            </a:r>
            <a:endParaRPr lang="en-US" sz="1600" dirty="0"/>
          </a:p>
        </p:txBody>
      </p:sp>
      <p:sp>
        <p:nvSpPr>
          <p:cNvPr id="21" name="Text 19"/>
          <p:cNvSpPr/>
          <p:nvPr/>
        </p:nvSpPr>
        <p:spPr>
          <a:xfrm>
            <a:off x="719375" y="6025639"/>
            <a:ext cx="5016938" cy="261591"/>
          </a:xfrm>
          <a:prstGeom prst="rect">
            <a:avLst/>
          </a:prstGeom>
          <a:noFill/>
          <a:ln/>
        </p:spPr>
        <p:txBody>
          <a:bodyPr wrap="square" lIns="0" tIns="0" rIns="0" bIns="0" rtlCol="0" anchor="ctr"/>
          <a:lstStyle/>
          <a:p>
            <a:pPr>
              <a:lnSpc>
                <a:spcPct val="130000"/>
              </a:lnSpc>
            </a:pPr>
            <a:r>
              <a:rPr lang="en-US" sz="1324" dirty="0">
                <a:solidFill>
                  <a:srgbClr val="EDF2F4"/>
                </a:solidFill>
                <a:latin typeface="Liter" pitchFamily="34" charset="0"/>
                <a:ea typeface="Liter" pitchFamily="34" charset="-122"/>
                <a:cs typeface="Liter" pitchFamily="34" charset="-120"/>
              </a:rPr>
              <a:t>E-Commerce Customer Behavior (Kaggle)</a:t>
            </a:r>
            <a:endParaRPr lang="en-US" sz="1600" dirty="0"/>
          </a:p>
        </p:txBody>
      </p:sp>
      <p:sp>
        <p:nvSpPr>
          <p:cNvPr id="22" name="Text 20"/>
          <p:cNvSpPr/>
          <p:nvPr/>
        </p:nvSpPr>
        <p:spPr>
          <a:xfrm>
            <a:off x="719375" y="6287230"/>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E-Ticaret Müşteri Davranışı</a:t>
            </a:r>
            <a:endParaRPr lang="en-US" sz="1600" dirty="0"/>
          </a:p>
        </p:txBody>
      </p:sp>
      <p:sp>
        <p:nvSpPr>
          <p:cNvPr id="23" name="Shape 21"/>
          <p:cNvSpPr/>
          <p:nvPr/>
        </p:nvSpPr>
        <p:spPr>
          <a:xfrm>
            <a:off x="6193513" y="1349995"/>
            <a:ext cx="5614860" cy="5502749"/>
          </a:xfrm>
          <a:custGeom>
            <a:avLst/>
            <a:gdLst/>
            <a:ahLst/>
            <a:cxnLst/>
            <a:rect l="l" t="t" r="r" b="b"/>
            <a:pathLst>
              <a:path w="5614860" h="5502749">
                <a:moveTo>
                  <a:pt x="112091" y="0"/>
                </a:moveTo>
                <a:lnTo>
                  <a:pt x="5502769" y="0"/>
                </a:lnTo>
                <a:cubicBezTo>
                  <a:pt x="5564675" y="0"/>
                  <a:pt x="5614860" y="50185"/>
                  <a:pt x="5614860" y="112091"/>
                </a:cubicBezTo>
                <a:lnTo>
                  <a:pt x="5614860" y="5390658"/>
                </a:lnTo>
                <a:cubicBezTo>
                  <a:pt x="5614860" y="5452565"/>
                  <a:pt x="5564675" y="5502749"/>
                  <a:pt x="5502769" y="5502749"/>
                </a:cubicBezTo>
                <a:lnTo>
                  <a:pt x="112091" y="5502749"/>
                </a:lnTo>
                <a:cubicBezTo>
                  <a:pt x="50185" y="5502749"/>
                  <a:pt x="0" y="5452565"/>
                  <a:pt x="0" y="5390658"/>
                </a:cubicBezTo>
                <a:lnTo>
                  <a:pt x="0" y="112091"/>
                </a:lnTo>
                <a:cubicBezTo>
                  <a:pt x="0" y="50226"/>
                  <a:pt x="50226" y="0"/>
                  <a:pt x="112091" y="0"/>
                </a:cubicBezTo>
                <a:close/>
              </a:path>
            </a:pathLst>
          </a:custGeom>
          <a:gradFill rotWithShape="1" flip="none">
            <a:gsLst>
              <a:gs pos="0">
                <a:srgbClr val="4A6C8C">
                  <a:alpha val="20000"/>
                </a:srgbClr>
              </a:gs>
              <a:gs pos="100000">
                <a:srgbClr val="1A1D21">
                  <a:alpha val="40000"/>
                </a:srgbClr>
              </a:gs>
            </a:gsLst>
            <a:lin ang="2700000" scaled="1"/>
          </a:gradFill>
          <a:ln w="12700">
            <a:solidFill>
              <a:srgbClr val="4A6C8C">
                <a:alpha val="40000"/>
              </a:srgbClr>
            </a:solidFill>
            <a:prstDash val="solid"/>
          </a:ln>
        </p:spPr>
      </p:sp>
      <p:sp>
        <p:nvSpPr>
          <p:cNvPr id="24" name="Shape 22"/>
          <p:cNvSpPr/>
          <p:nvPr/>
        </p:nvSpPr>
        <p:spPr>
          <a:xfrm>
            <a:off x="6385034" y="1541517"/>
            <a:ext cx="523182" cy="523182"/>
          </a:xfrm>
          <a:custGeom>
            <a:avLst/>
            <a:gdLst/>
            <a:ahLst/>
            <a:cxnLst/>
            <a:rect l="l" t="t" r="r" b="b"/>
            <a:pathLst>
              <a:path w="523182" h="523182">
                <a:moveTo>
                  <a:pt x="261591" y="0"/>
                </a:moveTo>
                <a:lnTo>
                  <a:pt x="261591" y="0"/>
                </a:lnTo>
                <a:cubicBezTo>
                  <a:pt x="406063" y="0"/>
                  <a:pt x="523182" y="117118"/>
                  <a:pt x="523182" y="261591"/>
                </a:cubicBezTo>
                <a:lnTo>
                  <a:pt x="523182" y="261591"/>
                </a:lnTo>
                <a:cubicBezTo>
                  <a:pt x="523182" y="406063"/>
                  <a:pt x="406063" y="523182"/>
                  <a:pt x="261591" y="523182"/>
                </a:cubicBezTo>
                <a:lnTo>
                  <a:pt x="261591" y="523182"/>
                </a:lnTo>
                <a:cubicBezTo>
                  <a:pt x="117118" y="523182"/>
                  <a:pt x="0" y="406063"/>
                  <a:pt x="0" y="261591"/>
                </a:cubicBezTo>
                <a:lnTo>
                  <a:pt x="0" y="261591"/>
                </a:lnTo>
                <a:cubicBezTo>
                  <a:pt x="0" y="117118"/>
                  <a:pt x="117118" y="0"/>
                  <a:pt x="261591" y="0"/>
                </a:cubicBezTo>
                <a:close/>
              </a:path>
            </a:pathLst>
          </a:custGeom>
          <a:solidFill>
            <a:srgbClr val="4A6C8C">
              <a:alpha val="20000"/>
            </a:srgbClr>
          </a:solidFill>
          <a:ln/>
        </p:spPr>
      </p:sp>
      <p:sp>
        <p:nvSpPr>
          <p:cNvPr id="25" name="Shape 23"/>
          <p:cNvSpPr/>
          <p:nvPr/>
        </p:nvSpPr>
        <p:spPr>
          <a:xfrm>
            <a:off x="6534515" y="1690998"/>
            <a:ext cx="224221" cy="224221"/>
          </a:xfrm>
          <a:custGeom>
            <a:avLst/>
            <a:gdLst/>
            <a:ahLst/>
            <a:cxnLst/>
            <a:rect l="l" t="t" r="r" b="b"/>
            <a:pathLst>
              <a:path w="224221" h="224221">
                <a:moveTo>
                  <a:pt x="28028" y="28028"/>
                </a:moveTo>
                <a:cubicBezTo>
                  <a:pt x="28028" y="20276"/>
                  <a:pt x="21765" y="14014"/>
                  <a:pt x="14014" y="14014"/>
                </a:cubicBezTo>
                <a:cubicBezTo>
                  <a:pt x="6262" y="14014"/>
                  <a:pt x="0" y="20276"/>
                  <a:pt x="0" y="28028"/>
                </a:cubicBezTo>
                <a:lnTo>
                  <a:pt x="0" y="175172"/>
                </a:lnTo>
                <a:cubicBezTo>
                  <a:pt x="0" y="194529"/>
                  <a:pt x="15678" y="210207"/>
                  <a:pt x="35034" y="210207"/>
                </a:cubicBezTo>
                <a:lnTo>
                  <a:pt x="210207" y="210207"/>
                </a:lnTo>
                <a:cubicBezTo>
                  <a:pt x="217958" y="210207"/>
                  <a:pt x="224221" y="203944"/>
                  <a:pt x="224221" y="196193"/>
                </a:cubicBezTo>
                <a:cubicBezTo>
                  <a:pt x="224221" y="188442"/>
                  <a:pt x="217958" y="182179"/>
                  <a:pt x="210207" y="182179"/>
                </a:cubicBezTo>
                <a:lnTo>
                  <a:pt x="35034" y="182179"/>
                </a:lnTo>
                <a:cubicBezTo>
                  <a:pt x="31181" y="182179"/>
                  <a:pt x="28028" y="179026"/>
                  <a:pt x="28028" y="175172"/>
                </a:cubicBezTo>
                <a:lnTo>
                  <a:pt x="28028" y="28028"/>
                </a:lnTo>
                <a:close/>
                <a:moveTo>
                  <a:pt x="206090" y="65952"/>
                </a:moveTo>
                <a:cubicBezTo>
                  <a:pt x="211564" y="60478"/>
                  <a:pt x="211564" y="51588"/>
                  <a:pt x="206090" y="46114"/>
                </a:cubicBezTo>
                <a:cubicBezTo>
                  <a:pt x="200616" y="40640"/>
                  <a:pt x="191726" y="40640"/>
                  <a:pt x="186252" y="46114"/>
                </a:cubicBezTo>
                <a:lnTo>
                  <a:pt x="140138" y="92272"/>
                </a:lnTo>
                <a:lnTo>
                  <a:pt x="115001" y="67179"/>
                </a:lnTo>
                <a:cubicBezTo>
                  <a:pt x="109527" y="61704"/>
                  <a:pt x="100637" y="61704"/>
                  <a:pt x="95162" y="67179"/>
                </a:cubicBezTo>
                <a:lnTo>
                  <a:pt x="53121" y="109220"/>
                </a:lnTo>
                <a:cubicBezTo>
                  <a:pt x="47647" y="114694"/>
                  <a:pt x="47647" y="123584"/>
                  <a:pt x="53121" y="129058"/>
                </a:cubicBezTo>
                <a:cubicBezTo>
                  <a:pt x="58595" y="134532"/>
                  <a:pt x="67485" y="134532"/>
                  <a:pt x="72959" y="129058"/>
                </a:cubicBezTo>
                <a:lnTo>
                  <a:pt x="105103" y="96914"/>
                </a:lnTo>
                <a:lnTo>
                  <a:pt x="130241" y="122051"/>
                </a:lnTo>
                <a:cubicBezTo>
                  <a:pt x="135715" y="127526"/>
                  <a:pt x="144605" y="127526"/>
                  <a:pt x="150079" y="122051"/>
                </a:cubicBezTo>
                <a:lnTo>
                  <a:pt x="206134" y="65996"/>
                </a:lnTo>
                <a:close/>
              </a:path>
            </a:pathLst>
          </a:custGeom>
          <a:solidFill>
            <a:srgbClr val="4A6C8C"/>
          </a:solidFill>
          <a:ln/>
        </p:spPr>
      </p:sp>
      <p:sp>
        <p:nvSpPr>
          <p:cNvPr id="26" name="Text 24"/>
          <p:cNvSpPr/>
          <p:nvPr/>
        </p:nvSpPr>
        <p:spPr>
          <a:xfrm>
            <a:off x="7020326" y="1541517"/>
            <a:ext cx="1214529" cy="298961"/>
          </a:xfrm>
          <a:prstGeom prst="rect">
            <a:avLst/>
          </a:prstGeom>
          <a:noFill/>
          <a:ln/>
        </p:spPr>
        <p:txBody>
          <a:bodyPr wrap="square" lIns="0" tIns="0" rIns="0" bIns="0" rtlCol="0" anchor="ctr"/>
          <a:lstStyle/>
          <a:p>
            <a:pPr>
              <a:lnSpc>
                <a:spcPct val="110000"/>
              </a:lnSpc>
            </a:pPr>
            <a:r>
              <a:rPr lang="en-US" sz="1766" b="1" dirty="0">
                <a:solidFill>
                  <a:srgbClr val="EDF2F4"/>
                </a:solidFill>
                <a:latin typeface="Liter" pitchFamily="34" charset="0"/>
                <a:ea typeface="Liter" pitchFamily="34" charset="-122"/>
                <a:cs typeface="Liter" pitchFamily="34" charset="-120"/>
              </a:rPr>
              <a:t>Regression</a:t>
            </a:r>
            <a:endParaRPr lang="en-US" sz="1600" dirty="0"/>
          </a:p>
        </p:txBody>
      </p:sp>
      <p:sp>
        <p:nvSpPr>
          <p:cNvPr id="27" name="Text 25"/>
          <p:cNvSpPr/>
          <p:nvPr/>
        </p:nvSpPr>
        <p:spPr>
          <a:xfrm>
            <a:off x="7020326" y="1840478"/>
            <a:ext cx="1177159"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Regresyon</a:t>
            </a:r>
            <a:endParaRPr lang="en-US" sz="1600" dirty="0"/>
          </a:p>
        </p:txBody>
      </p:sp>
      <p:sp>
        <p:nvSpPr>
          <p:cNvPr id="28" name="Shape 26"/>
          <p:cNvSpPr/>
          <p:nvPr/>
        </p:nvSpPr>
        <p:spPr>
          <a:xfrm>
            <a:off x="6385034" y="2214179"/>
            <a:ext cx="5231816" cy="1083733"/>
          </a:xfrm>
          <a:custGeom>
            <a:avLst/>
            <a:gdLst/>
            <a:ahLst/>
            <a:cxnLst/>
            <a:rect l="l" t="t" r="r" b="b"/>
            <a:pathLst>
              <a:path w="5231816" h="1083733">
                <a:moveTo>
                  <a:pt x="74745" y="0"/>
                </a:moveTo>
                <a:lnTo>
                  <a:pt x="5157071" y="0"/>
                </a:lnTo>
                <a:cubicBezTo>
                  <a:pt x="5198352" y="0"/>
                  <a:pt x="5231816" y="33465"/>
                  <a:pt x="5231816" y="74745"/>
                </a:cubicBezTo>
                <a:lnTo>
                  <a:pt x="5231816" y="1008988"/>
                </a:lnTo>
                <a:cubicBezTo>
                  <a:pt x="5231816" y="1050269"/>
                  <a:pt x="5198352" y="1083733"/>
                  <a:pt x="5157071" y="1083733"/>
                </a:cubicBezTo>
                <a:lnTo>
                  <a:pt x="74745" y="1083733"/>
                </a:lnTo>
                <a:cubicBezTo>
                  <a:pt x="33465" y="1083733"/>
                  <a:pt x="0" y="1050269"/>
                  <a:pt x="0" y="1008988"/>
                </a:cubicBezTo>
                <a:lnTo>
                  <a:pt x="0" y="74745"/>
                </a:lnTo>
                <a:cubicBezTo>
                  <a:pt x="0" y="33492"/>
                  <a:pt x="33492" y="0"/>
                  <a:pt x="74745" y="0"/>
                </a:cubicBezTo>
                <a:close/>
              </a:path>
            </a:pathLst>
          </a:custGeom>
          <a:solidFill>
            <a:srgbClr val="1A1D21">
              <a:alpha val="60000"/>
            </a:srgbClr>
          </a:solidFill>
          <a:ln/>
        </p:spPr>
      </p:sp>
      <p:sp>
        <p:nvSpPr>
          <p:cNvPr id="29" name="Text 27"/>
          <p:cNvSpPr/>
          <p:nvPr/>
        </p:nvSpPr>
        <p:spPr>
          <a:xfrm>
            <a:off x="6534515" y="2363660"/>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Target | Hedef:</a:t>
            </a:r>
            <a:endParaRPr lang="en-US" sz="1600" dirty="0"/>
          </a:p>
        </p:txBody>
      </p:sp>
      <p:sp>
        <p:nvSpPr>
          <p:cNvPr id="30" name="Text 28"/>
          <p:cNvSpPr/>
          <p:nvPr/>
        </p:nvSpPr>
        <p:spPr>
          <a:xfrm>
            <a:off x="6534515" y="2662621"/>
            <a:ext cx="5026280" cy="261591"/>
          </a:xfrm>
          <a:prstGeom prst="rect">
            <a:avLst/>
          </a:prstGeom>
          <a:noFill/>
          <a:ln/>
        </p:spPr>
        <p:txBody>
          <a:bodyPr wrap="square" lIns="0" tIns="0" rIns="0" bIns="0" rtlCol="0" anchor="ctr"/>
          <a:lstStyle/>
          <a:p>
            <a:pPr>
              <a:lnSpc>
                <a:spcPct val="120000"/>
              </a:lnSpc>
            </a:pPr>
            <a:r>
              <a:rPr lang="en-US" sz="1471" b="1" dirty="0">
                <a:solidFill>
                  <a:srgbClr val="4A6C8C"/>
                </a:solidFill>
                <a:latin typeface="Liter" pitchFamily="34" charset="0"/>
                <a:ea typeface="Liter" pitchFamily="34" charset="-122"/>
                <a:cs typeface="Liter" pitchFamily="34" charset="-120"/>
              </a:rPr>
              <a:t>Lifetime Value (€)</a:t>
            </a:r>
            <a:endParaRPr lang="en-US" sz="1600" dirty="0"/>
          </a:p>
        </p:txBody>
      </p:sp>
      <p:sp>
        <p:nvSpPr>
          <p:cNvPr id="31" name="Text 29"/>
          <p:cNvSpPr/>
          <p:nvPr/>
        </p:nvSpPr>
        <p:spPr>
          <a:xfrm>
            <a:off x="6534515" y="2924211"/>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Yaşam Boyu Değer</a:t>
            </a:r>
            <a:endParaRPr lang="en-US" sz="1600" dirty="0"/>
          </a:p>
        </p:txBody>
      </p:sp>
      <p:sp>
        <p:nvSpPr>
          <p:cNvPr id="32" name="Shape 30"/>
          <p:cNvSpPr/>
          <p:nvPr/>
        </p:nvSpPr>
        <p:spPr>
          <a:xfrm>
            <a:off x="6385034" y="3410023"/>
            <a:ext cx="5231816" cy="1083733"/>
          </a:xfrm>
          <a:custGeom>
            <a:avLst/>
            <a:gdLst/>
            <a:ahLst/>
            <a:cxnLst/>
            <a:rect l="l" t="t" r="r" b="b"/>
            <a:pathLst>
              <a:path w="5231816" h="1083733">
                <a:moveTo>
                  <a:pt x="74745" y="0"/>
                </a:moveTo>
                <a:lnTo>
                  <a:pt x="5157071" y="0"/>
                </a:lnTo>
                <a:cubicBezTo>
                  <a:pt x="5198352" y="0"/>
                  <a:pt x="5231816" y="33465"/>
                  <a:pt x="5231816" y="74745"/>
                </a:cubicBezTo>
                <a:lnTo>
                  <a:pt x="5231816" y="1008988"/>
                </a:lnTo>
                <a:cubicBezTo>
                  <a:pt x="5231816" y="1050269"/>
                  <a:pt x="5198352" y="1083733"/>
                  <a:pt x="5157071" y="1083733"/>
                </a:cubicBezTo>
                <a:lnTo>
                  <a:pt x="74745" y="1083733"/>
                </a:lnTo>
                <a:cubicBezTo>
                  <a:pt x="33465" y="1083733"/>
                  <a:pt x="0" y="1050269"/>
                  <a:pt x="0" y="1008988"/>
                </a:cubicBezTo>
                <a:lnTo>
                  <a:pt x="0" y="74745"/>
                </a:lnTo>
                <a:cubicBezTo>
                  <a:pt x="0" y="33492"/>
                  <a:pt x="33492" y="0"/>
                  <a:pt x="74745" y="0"/>
                </a:cubicBezTo>
                <a:close/>
              </a:path>
            </a:pathLst>
          </a:custGeom>
          <a:solidFill>
            <a:srgbClr val="1A1D21">
              <a:alpha val="60000"/>
            </a:srgbClr>
          </a:solidFill>
          <a:ln/>
        </p:spPr>
      </p:sp>
      <p:sp>
        <p:nvSpPr>
          <p:cNvPr id="33" name="Text 31"/>
          <p:cNvSpPr/>
          <p:nvPr/>
        </p:nvSpPr>
        <p:spPr>
          <a:xfrm>
            <a:off x="6534515" y="3559503"/>
            <a:ext cx="5007595" cy="485811"/>
          </a:xfrm>
          <a:prstGeom prst="rect">
            <a:avLst/>
          </a:prstGeom>
          <a:noFill/>
          <a:ln/>
        </p:spPr>
        <p:txBody>
          <a:bodyPr wrap="square" lIns="0" tIns="0" rIns="0" bIns="0" rtlCol="0" anchor="ctr"/>
          <a:lstStyle/>
          <a:p>
            <a:pPr>
              <a:lnSpc>
                <a:spcPct val="140000"/>
              </a:lnSpc>
            </a:pPr>
            <a:r>
              <a:rPr lang="en-US" sz="1177" b="1" dirty="0">
                <a:solidFill>
                  <a:srgbClr val="EDF2F4"/>
                </a:solidFill>
                <a:latin typeface="Liter" pitchFamily="34" charset="0"/>
                <a:ea typeface="Liter" pitchFamily="34" charset="-122"/>
                <a:cs typeface="Liter" pitchFamily="34" charset="-120"/>
              </a:rPr>
              <a:t>Question:</a:t>
            </a:r>
            <a:pPr>
              <a:lnSpc>
                <a:spcPct val="140000"/>
              </a:lnSpc>
            </a:pPr>
            <a:r>
              <a:rPr lang="en-US" sz="1177" dirty="0">
                <a:solidFill>
                  <a:srgbClr val="EDF2F4"/>
                </a:solidFill>
                <a:latin typeface="Liter" pitchFamily="34" charset="0"/>
                <a:ea typeface="Liter" pitchFamily="34" charset="-122"/>
                <a:cs typeface="Liter" pitchFamily="34" charset="-120"/>
              </a:rPr>
              <a:t> What is the economic value generated by a customer based on their behavior?</a:t>
            </a:r>
            <a:endParaRPr lang="en-US" sz="1600" dirty="0"/>
          </a:p>
        </p:txBody>
      </p:sp>
      <p:sp>
        <p:nvSpPr>
          <p:cNvPr id="34" name="Text 32"/>
          <p:cNvSpPr/>
          <p:nvPr/>
        </p:nvSpPr>
        <p:spPr>
          <a:xfrm>
            <a:off x="6534515" y="4120055"/>
            <a:ext cx="5007595" cy="224221"/>
          </a:xfrm>
          <a:prstGeom prst="rect">
            <a:avLst/>
          </a:prstGeom>
          <a:noFill/>
          <a:ln/>
        </p:spPr>
        <p:txBody>
          <a:bodyPr wrap="square" lIns="0" tIns="0" rIns="0" bIns="0" rtlCol="0" anchor="ctr"/>
          <a:lstStyle/>
          <a:p>
            <a:pPr>
              <a:lnSpc>
                <a:spcPct val="130000"/>
              </a:lnSpc>
            </a:pPr>
            <a:r>
              <a:rPr lang="en-US" sz="1177" b="1" dirty="0">
                <a:solidFill>
                  <a:srgbClr val="8D99AE"/>
                </a:solidFill>
                <a:latin typeface="Liter" pitchFamily="34" charset="0"/>
                <a:ea typeface="Liter" pitchFamily="34" charset="-122"/>
                <a:cs typeface="Liter" pitchFamily="34" charset="-120"/>
              </a:rPr>
              <a:t>Soru:</a:t>
            </a:r>
            <a:pPr>
              <a:lnSpc>
                <a:spcPct val="130000"/>
              </a:lnSpc>
            </a:pPr>
            <a:r>
              <a:rPr lang="en-US" sz="1177" dirty="0">
                <a:solidFill>
                  <a:srgbClr val="8D99AE"/>
                </a:solidFill>
                <a:latin typeface="Liter" pitchFamily="34" charset="0"/>
                <a:ea typeface="Liter" pitchFamily="34" charset="-122"/>
                <a:cs typeface="Liter" pitchFamily="34" charset="-120"/>
              </a:rPr>
              <a:t> Bir müşterinin davranışına göre oluşturduğu ekonomik değer nedir?</a:t>
            </a:r>
            <a:endParaRPr lang="en-US" sz="1600" dirty="0"/>
          </a:p>
        </p:txBody>
      </p:sp>
      <p:sp>
        <p:nvSpPr>
          <p:cNvPr id="35" name="Shape 33"/>
          <p:cNvSpPr/>
          <p:nvPr/>
        </p:nvSpPr>
        <p:spPr>
          <a:xfrm>
            <a:off x="6385034" y="4605867"/>
            <a:ext cx="5231816" cy="859513"/>
          </a:xfrm>
          <a:custGeom>
            <a:avLst/>
            <a:gdLst/>
            <a:ahLst/>
            <a:cxnLst/>
            <a:rect l="l" t="t" r="r" b="b"/>
            <a:pathLst>
              <a:path w="5231816" h="859513">
                <a:moveTo>
                  <a:pt x="74743" y="0"/>
                </a:moveTo>
                <a:lnTo>
                  <a:pt x="5157073" y="0"/>
                </a:lnTo>
                <a:cubicBezTo>
                  <a:pt x="5198352" y="0"/>
                  <a:pt x="5231816" y="33464"/>
                  <a:pt x="5231816" y="74743"/>
                </a:cubicBezTo>
                <a:lnTo>
                  <a:pt x="5231816" y="784769"/>
                </a:lnTo>
                <a:cubicBezTo>
                  <a:pt x="5231816" y="826049"/>
                  <a:pt x="5198352" y="859513"/>
                  <a:pt x="5157073" y="859513"/>
                </a:cubicBezTo>
                <a:lnTo>
                  <a:pt x="74743" y="859513"/>
                </a:lnTo>
                <a:cubicBezTo>
                  <a:pt x="33491" y="859513"/>
                  <a:pt x="0" y="826021"/>
                  <a:pt x="0" y="784769"/>
                </a:cubicBezTo>
                <a:lnTo>
                  <a:pt x="0" y="74743"/>
                </a:lnTo>
                <a:cubicBezTo>
                  <a:pt x="0" y="33491"/>
                  <a:pt x="33491" y="0"/>
                  <a:pt x="74743" y="0"/>
                </a:cubicBezTo>
                <a:close/>
              </a:path>
            </a:pathLst>
          </a:custGeom>
          <a:solidFill>
            <a:srgbClr val="D4A373">
              <a:alpha val="20000"/>
            </a:srgbClr>
          </a:solidFill>
          <a:ln/>
        </p:spPr>
      </p:sp>
      <p:sp>
        <p:nvSpPr>
          <p:cNvPr id="36" name="Text 34"/>
          <p:cNvSpPr/>
          <p:nvPr/>
        </p:nvSpPr>
        <p:spPr>
          <a:xfrm>
            <a:off x="6534515" y="4755347"/>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Models | Modeller:</a:t>
            </a:r>
            <a:endParaRPr lang="en-US" sz="1600" dirty="0"/>
          </a:p>
        </p:txBody>
      </p:sp>
      <p:sp>
        <p:nvSpPr>
          <p:cNvPr id="37" name="Text 35"/>
          <p:cNvSpPr/>
          <p:nvPr/>
        </p:nvSpPr>
        <p:spPr>
          <a:xfrm>
            <a:off x="6534515" y="5054308"/>
            <a:ext cx="5016938" cy="261591"/>
          </a:xfrm>
          <a:prstGeom prst="rect">
            <a:avLst/>
          </a:prstGeom>
          <a:noFill/>
          <a:ln/>
        </p:spPr>
        <p:txBody>
          <a:bodyPr wrap="square" lIns="0" tIns="0" rIns="0" bIns="0" rtlCol="0" anchor="ctr"/>
          <a:lstStyle/>
          <a:p>
            <a:pPr>
              <a:lnSpc>
                <a:spcPct val="130000"/>
              </a:lnSpc>
            </a:pPr>
            <a:r>
              <a:rPr lang="en-US" sz="1324" dirty="0">
                <a:solidFill>
                  <a:srgbClr val="EDF2F4"/>
                </a:solidFill>
                <a:latin typeface="Liter" pitchFamily="34" charset="0"/>
                <a:ea typeface="Liter" pitchFamily="34" charset="-122"/>
                <a:cs typeface="Liter" pitchFamily="34" charset="-120"/>
              </a:rPr>
              <a:t>Ridge Regression, Random Forest, HGB</a:t>
            </a:r>
            <a:endParaRPr lang="en-US" sz="1600" dirty="0"/>
          </a:p>
        </p:txBody>
      </p:sp>
      <p:sp>
        <p:nvSpPr>
          <p:cNvPr id="38" name="Shape 36"/>
          <p:cNvSpPr/>
          <p:nvPr/>
        </p:nvSpPr>
        <p:spPr>
          <a:xfrm>
            <a:off x="6385034" y="5577490"/>
            <a:ext cx="5231816" cy="1083733"/>
          </a:xfrm>
          <a:custGeom>
            <a:avLst/>
            <a:gdLst/>
            <a:ahLst/>
            <a:cxnLst/>
            <a:rect l="l" t="t" r="r" b="b"/>
            <a:pathLst>
              <a:path w="5231816" h="1083733">
                <a:moveTo>
                  <a:pt x="74745" y="0"/>
                </a:moveTo>
                <a:lnTo>
                  <a:pt x="5157071" y="0"/>
                </a:lnTo>
                <a:cubicBezTo>
                  <a:pt x="5198352" y="0"/>
                  <a:pt x="5231816" y="33465"/>
                  <a:pt x="5231816" y="74745"/>
                </a:cubicBezTo>
                <a:lnTo>
                  <a:pt x="5231816" y="1008988"/>
                </a:lnTo>
                <a:cubicBezTo>
                  <a:pt x="5231816" y="1050269"/>
                  <a:pt x="5198352" y="1083733"/>
                  <a:pt x="5157071" y="1083733"/>
                </a:cubicBezTo>
                <a:lnTo>
                  <a:pt x="74745" y="1083733"/>
                </a:lnTo>
                <a:cubicBezTo>
                  <a:pt x="33465" y="1083733"/>
                  <a:pt x="0" y="1050269"/>
                  <a:pt x="0" y="1008988"/>
                </a:cubicBezTo>
                <a:lnTo>
                  <a:pt x="0" y="74745"/>
                </a:lnTo>
                <a:cubicBezTo>
                  <a:pt x="0" y="33492"/>
                  <a:pt x="33492" y="0"/>
                  <a:pt x="74745" y="0"/>
                </a:cubicBezTo>
                <a:close/>
              </a:path>
            </a:pathLst>
          </a:custGeom>
          <a:solidFill>
            <a:srgbClr val="1A1D21">
              <a:alpha val="60000"/>
            </a:srgbClr>
          </a:solidFill>
          <a:ln/>
        </p:spPr>
      </p:sp>
      <p:sp>
        <p:nvSpPr>
          <p:cNvPr id="39" name="Text 37"/>
          <p:cNvSpPr/>
          <p:nvPr/>
        </p:nvSpPr>
        <p:spPr>
          <a:xfrm>
            <a:off x="6534515" y="5726970"/>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Dataset | Veri Seti:</a:t>
            </a:r>
            <a:endParaRPr lang="en-US" sz="1600" dirty="0"/>
          </a:p>
        </p:txBody>
      </p:sp>
      <p:sp>
        <p:nvSpPr>
          <p:cNvPr id="40" name="Text 38"/>
          <p:cNvSpPr/>
          <p:nvPr/>
        </p:nvSpPr>
        <p:spPr>
          <a:xfrm>
            <a:off x="6534515" y="6025931"/>
            <a:ext cx="5016938" cy="261591"/>
          </a:xfrm>
          <a:prstGeom prst="rect">
            <a:avLst/>
          </a:prstGeom>
          <a:noFill/>
          <a:ln/>
        </p:spPr>
        <p:txBody>
          <a:bodyPr wrap="square" lIns="0" tIns="0" rIns="0" bIns="0" rtlCol="0" anchor="ctr"/>
          <a:lstStyle/>
          <a:p>
            <a:pPr>
              <a:lnSpc>
                <a:spcPct val="130000"/>
              </a:lnSpc>
            </a:pPr>
            <a:r>
              <a:rPr lang="en-US" sz="1324" dirty="0">
                <a:solidFill>
                  <a:srgbClr val="EDF2F4"/>
                </a:solidFill>
                <a:latin typeface="Liter" pitchFamily="34" charset="0"/>
                <a:ea typeface="Liter" pitchFamily="34" charset="-122"/>
                <a:cs typeface="Liter" pitchFamily="34" charset="-120"/>
              </a:rPr>
              <a:t>E-Commerce Customer Behavior (Kaggle)</a:t>
            </a:r>
            <a:endParaRPr lang="en-US" sz="1600" dirty="0"/>
          </a:p>
        </p:txBody>
      </p:sp>
      <p:sp>
        <p:nvSpPr>
          <p:cNvPr id="41" name="Text 39"/>
          <p:cNvSpPr/>
          <p:nvPr/>
        </p:nvSpPr>
        <p:spPr>
          <a:xfrm>
            <a:off x="6534515" y="6287522"/>
            <a:ext cx="5007595" cy="224221"/>
          </a:xfrm>
          <a:prstGeom prst="rect">
            <a:avLst/>
          </a:prstGeom>
          <a:noFill/>
          <a:ln/>
        </p:spPr>
        <p:txBody>
          <a:bodyPr wrap="square" lIns="0" tIns="0" rIns="0" bIns="0" rtlCol="0" anchor="ctr"/>
          <a:lstStyle/>
          <a:p>
            <a:pPr>
              <a:lnSpc>
                <a:spcPct val="130000"/>
              </a:lnSpc>
            </a:pPr>
            <a:r>
              <a:rPr lang="en-US" sz="1177" dirty="0">
                <a:solidFill>
                  <a:srgbClr val="8D99AE"/>
                </a:solidFill>
                <a:latin typeface="Liter" pitchFamily="34" charset="0"/>
                <a:ea typeface="Liter" pitchFamily="34" charset="-122"/>
                <a:cs typeface="Liter" pitchFamily="34" charset="-120"/>
              </a:rPr>
              <a:t>E-Ticaret Müşteri Davranışı</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8D99AE"/>
          </a:solidFill>
          <a:ln/>
        </p:spPr>
      </p:sp>
      <p:sp>
        <p:nvSpPr>
          <p:cNvPr id="3" name="Text 1"/>
          <p:cNvSpPr/>
          <p:nvPr/>
        </p:nvSpPr>
        <p:spPr>
          <a:xfrm>
            <a:off x="571500" y="419100"/>
            <a:ext cx="2838450"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Dataset Overview</a:t>
            </a:r>
            <a:endParaRPr lang="en-US" sz="1600" dirty="0"/>
          </a:p>
        </p:txBody>
      </p:sp>
      <p:sp>
        <p:nvSpPr>
          <p:cNvPr id="4" name="Text 2"/>
          <p:cNvSpPr/>
          <p:nvPr/>
        </p:nvSpPr>
        <p:spPr>
          <a:xfrm>
            <a:off x="571500" y="914400"/>
            <a:ext cx="11353800" cy="304800"/>
          </a:xfrm>
          <a:prstGeom prst="rect">
            <a:avLst/>
          </a:prstGeom>
          <a:noFill/>
          <a:ln/>
        </p:spPr>
        <p:txBody>
          <a:bodyPr wrap="square" lIns="0" tIns="0" rIns="0" bIns="0" rtlCol="0" anchor="ctr"/>
          <a:lstStyle/>
          <a:p>
            <a:pPr>
              <a:lnSpc>
                <a:spcPct val="110000"/>
              </a:lnSpc>
            </a:pPr>
            <a:r>
              <a:rPr lang="en-US" sz="1800" dirty="0">
                <a:solidFill>
                  <a:srgbClr val="8D99AE"/>
                </a:solidFill>
                <a:latin typeface="Liter" pitchFamily="34" charset="0"/>
                <a:ea typeface="Liter" pitchFamily="34" charset="-122"/>
                <a:cs typeface="Liter" pitchFamily="34" charset="-120"/>
              </a:rPr>
              <a:t>Veri Seti Genel Bakış</a:t>
            </a:r>
            <a:endParaRPr lang="en-US" sz="1600" dirty="0"/>
          </a:p>
        </p:txBody>
      </p:sp>
      <p:sp>
        <p:nvSpPr>
          <p:cNvPr id="5" name="Shape 3"/>
          <p:cNvSpPr/>
          <p:nvPr/>
        </p:nvSpPr>
        <p:spPr>
          <a:xfrm>
            <a:off x="385763" y="1376363"/>
            <a:ext cx="3676650" cy="1762125"/>
          </a:xfrm>
          <a:custGeom>
            <a:avLst/>
            <a:gdLst/>
            <a:ahLst/>
            <a:cxnLst/>
            <a:rect l="l" t="t" r="r" b="b"/>
            <a:pathLst>
              <a:path w="3676650" h="1762125">
                <a:moveTo>
                  <a:pt x="114291" y="0"/>
                </a:moveTo>
                <a:lnTo>
                  <a:pt x="3562359" y="0"/>
                </a:lnTo>
                <a:cubicBezTo>
                  <a:pt x="3625480" y="0"/>
                  <a:pt x="3676650" y="51170"/>
                  <a:pt x="3676650" y="114291"/>
                </a:cubicBezTo>
                <a:lnTo>
                  <a:pt x="3676650" y="1647834"/>
                </a:lnTo>
                <a:cubicBezTo>
                  <a:pt x="3676650" y="1710955"/>
                  <a:pt x="3625480" y="1762125"/>
                  <a:pt x="3562359" y="1762125"/>
                </a:cubicBezTo>
                <a:lnTo>
                  <a:pt x="114291" y="1762125"/>
                </a:lnTo>
                <a:cubicBezTo>
                  <a:pt x="51170" y="1762125"/>
                  <a:pt x="0" y="1710955"/>
                  <a:pt x="0" y="1647834"/>
                </a:cubicBezTo>
                <a:lnTo>
                  <a:pt x="0" y="114291"/>
                </a:lnTo>
                <a:cubicBezTo>
                  <a:pt x="0" y="51212"/>
                  <a:pt x="51212" y="0"/>
                  <a:pt x="114291" y="0"/>
                </a:cubicBezTo>
                <a:close/>
              </a:path>
            </a:pathLst>
          </a:custGeom>
          <a:gradFill rotWithShape="1" flip="none">
            <a:gsLst>
              <a:gs pos="0">
                <a:srgbClr val="4A6C8C">
                  <a:alpha val="30000"/>
                </a:srgbClr>
              </a:gs>
              <a:gs pos="100000">
                <a:srgbClr val="1A1D21">
                  <a:alpha val="60000"/>
                </a:srgbClr>
              </a:gs>
            </a:gsLst>
            <a:lin ang="2700000" scaled="1"/>
          </a:gradFill>
          <a:ln w="12700">
            <a:solidFill>
              <a:srgbClr val="4A6C8C">
                <a:alpha val="50196"/>
              </a:srgbClr>
            </a:solidFill>
            <a:prstDash val="solid"/>
          </a:ln>
        </p:spPr>
      </p:sp>
      <p:sp>
        <p:nvSpPr>
          <p:cNvPr id="6" name="Shape 4"/>
          <p:cNvSpPr/>
          <p:nvPr/>
        </p:nvSpPr>
        <p:spPr>
          <a:xfrm>
            <a:off x="2008138" y="1571625"/>
            <a:ext cx="428625" cy="342900"/>
          </a:xfrm>
          <a:custGeom>
            <a:avLst/>
            <a:gdLst/>
            <a:ahLst/>
            <a:cxnLst/>
            <a:rect l="l" t="t" r="r" b="b"/>
            <a:pathLst>
              <a:path w="428625" h="342900">
                <a:moveTo>
                  <a:pt x="214313" y="10716"/>
                </a:moveTo>
                <a:cubicBezTo>
                  <a:pt x="252754" y="10716"/>
                  <a:pt x="283964" y="41925"/>
                  <a:pt x="283964" y="80367"/>
                </a:cubicBezTo>
                <a:cubicBezTo>
                  <a:pt x="283964" y="118809"/>
                  <a:pt x="252754" y="150019"/>
                  <a:pt x="214313" y="150019"/>
                </a:cubicBezTo>
                <a:cubicBezTo>
                  <a:pt x="175871" y="150019"/>
                  <a:pt x="144661" y="118809"/>
                  <a:pt x="144661" y="80367"/>
                </a:cubicBezTo>
                <a:cubicBezTo>
                  <a:pt x="144661" y="41925"/>
                  <a:pt x="175871" y="10716"/>
                  <a:pt x="214313" y="10716"/>
                </a:cubicBezTo>
                <a:close/>
                <a:moveTo>
                  <a:pt x="64294" y="58936"/>
                </a:moveTo>
                <a:cubicBezTo>
                  <a:pt x="90907" y="58936"/>
                  <a:pt x="112514" y="80543"/>
                  <a:pt x="112514" y="107156"/>
                </a:cubicBezTo>
                <a:cubicBezTo>
                  <a:pt x="112514" y="133770"/>
                  <a:pt x="90907" y="155377"/>
                  <a:pt x="64294" y="155377"/>
                </a:cubicBezTo>
                <a:cubicBezTo>
                  <a:pt x="37680" y="155377"/>
                  <a:pt x="16073" y="133770"/>
                  <a:pt x="16073" y="107156"/>
                </a:cubicBezTo>
                <a:cubicBezTo>
                  <a:pt x="16073" y="80543"/>
                  <a:pt x="37680" y="58936"/>
                  <a:pt x="64294" y="58936"/>
                </a:cubicBezTo>
                <a:close/>
                <a:moveTo>
                  <a:pt x="0" y="278606"/>
                </a:moveTo>
                <a:cubicBezTo>
                  <a:pt x="0" y="231257"/>
                  <a:pt x="38375" y="192881"/>
                  <a:pt x="85725" y="192881"/>
                </a:cubicBezTo>
                <a:cubicBezTo>
                  <a:pt x="94298" y="192881"/>
                  <a:pt x="102602" y="194154"/>
                  <a:pt x="110438" y="196498"/>
                </a:cubicBezTo>
                <a:cubicBezTo>
                  <a:pt x="88404" y="221144"/>
                  <a:pt x="75009" y="253692"/>
                  <a:pt x="75009" y="289322"/>
                </a:cubicBezTo>
                <a:lnTo>
                  <a:pt x="75009" y="300038"/>
                </a:lnTo>
                <a:cubicBezTo>
                  <a:pt x="75009" y="307672"/>
                  <a:pt x="76617" y="314905"/>
                  <a:pt x="79497" y="321469"/>
                </a:cubicBezTo>
                <a:lnTo>
                  <a:pt x="21431" y="321469"/>
                </a:lnTo>
                <a:cubicBezTo>
                  <a:pt x="9577" y="321469"/>
                  <a:pt x="0" y="311892"/>
                  <a:pt x="0" y="300038"/>
                </a:cubicBezTo>
                <a:lnTo>
                  <a:pt x="0" y="278606"/>
                </a:lnTo>
                <a:close/>
                <a:moveTo>
                  <a:pt x="349128" y="321469"/>
                </a:moveTo>
                <a:cubicBezTo>
                  <a:pt x="352008" y="314905"/>
                  <a:pt x="353616" y="307672"/>
                  <a:pt x="353616" y="300038"/>
                </a:cubicBezTo>
                <a:lnTo>
                  <a:pt x="353616" y="289322"/>
                </a:lnTo>
                <a:cubicBezTo>
                  <a:pt x="353616" y="253692"/>
                  <a:pt x="340221" y="221144"/>
                  <a:pt x="318187" y="196498"/>
                </a:cubicBezTo>
                <a:cubicBezTo>
                  <a:pt x="326023" y="194154"/>
                  <a:pt x="334328" y="192881"/>
                  <a:pt x="342900" y="192881"/>
                </a:cubicBezTo>
                <a:cubicBezTo>
                  <a:pt x="390250" y="192881"/>
                  <a:pt x="428625" y="231257"/>
                  <a:pt x="428625" y="278606"/>
                </a:cubicBezTo>
                <a:lnTo>
                  <a:pt x="428625" y="300038"/>
                </a:lnTo>
                <a:cubicBezTo>
                  <a:pt x="428625" y="311892"/>
                  <a:pt x="419048" y="321469"/>
                  <a:pt x="407194" y="321469"/>
                </a:cubicBezTo>
                <a:lnTo>
                  <a:pt x="349128" y="321469"/>
                </a:lnTo>
                <a:close/>
                <a:moveTo>
                  <a:pt x="316111" y="107156"/>
                </a:moveTo>
                <a:cubicBezTo>
                  <a:pt x="316111" y="80543"/>
                  <a:pt x="337718" y="58936"/>
                  <a:pt x="364331" y="58936"/>
                </a:cubicBezTo>
                <a:cubicBezTo>
                  <a:pt x="390945" y="58936"/>
                  <a:pt x="412552" y="80543"/>
                  <a:pt x="412552" y="107156"/>
                </a:cubicBezTo>
                <a:cubicBezTo>
                  <a:pt x="412552" y="133770"/>
                  <a:pt x="390945" y="155377"/>
                  <a:pt x="364331" y="155377"/>
                </a:cubicBezTo>
                <a:cubicBezTo>
                  <a:pt x="337718" y="155377"/>
                  <a:pt x="316111" y="133770"/>
                  <a:pt x="316111" y="107156"/>
                </a:cubicBezTo>
                <a:close/>
                <a:moveTo>
                  <a:pt x="107156" y="289322"/>
                </a:moveTo>
                <a:cubicBezTo>
                  <a:pt x="107156" y="230118"/>
                  <a:pt x="155109" y="182166"/>
                  <a:pt x="214313" y="182166"/>
                </a:cubicBezTo>
                <a:cubicBezTo>
                  <a:pt x="273516" y="182166"/>
                  <a:pt x="321469" y="230118"/>
                  <a:pt x="321469" y="289322"/>
                </a:cubicBezTo>
                <a:lnTo>
                  <a:pt x="321469" y="300038"/>
                </a:lnTo>
                <a:cubicBezTo>
                  <a:pt x="321469" y="311892"/>
                  <a:pt x="311892" y="321469"/>
                  <a:pt x="300038" y="321469"/>
                </a:cubicBezTo>
                <a:lnTo>
                  <a:pt x="128588" y="321469"/>
                </a:lnTo>
                <a:cubicBezTo>
                  <a:pt x="116733" y="321469"/>
                  <a:pt x="107156" y="311892"/>
                  <a:pt x="107156" y="300038"/>
                </a:cubicBezTo>
                <a:lnTo>
                  <a:pt x="107156" y="289322"/>
                </a:lnTo>
                <a:close/>
              </a:path>
            </a:pathLst>
          </a:custGeom>
          <a:solidFill>
            <a:srgbClr val="D4A373"/>
          </a:solidFill>
          <a:ln/>
        </p:spPr>
      </p:sp>
      <p:sp>
        <p:nvSpPr>
          <p:cNvPr id="7" name="Text 5"/>
          <p:cNvSpPr/>
          <p:nvPr/>
        </p:nvSpPr>
        <p:spPr>
          <a:xfrm>
            <a:off x="542925" y="2028825"/>
            <a:ext cx="3362325" cy="228600"/>
          </a:xfrm>
          <a:prstGeom prst="rect">
            <a:avLst/>
          </a:prstGeom>
          <a:noFill/>
          <a:ln/>
        </p:spPr>
        <p:txBody>
          <a:bodyPr wrap="square" lIns="0" tIns="0" rIns="0" bIns="0" rtlCol="0" anchor="ctr"/>
          <a:lstStyle/>
          <a:p>
            <a:pPr algn="ctr">
              <a:lnSpc>
                <a:spcPct val="130000"/>
              </a:lnSpc>
            </a:pPr>
            <a:r>
              <a:rPr lang="en-US" sz="1200" dirty="0">
                <a:solidFill>
                  <a:srgbClr val="8D99AE"/>
                </a:solidFill>
                <a:latin typeface="Liter" pitchFamily="34" charset="0"/>
                <a:ea typeface="Liter" pitchFamily="34" charset="-122"/>
                <a:cs typeface="Liter" pitchFamily="34" charset="-120"/>
              </a:rPr>
              <a:t>Total Records | Toplam Kayıt</a:t>
            </a:r>
            <a:endParaRPr lang="en-US" sz="1600" dirty="0"/>
          </a:p>
        </p:txBody>
      </p:sp>
      <p:sp>
        <p:nvSpPr>
          <p:cNvPr id="8" name="Text 6"/>
          <p:cNvSpPr/>
          <p:nvPr/>
        </p:nvSpPr>
        <p:spPr>
          <a:xfrm>
            <a:off x="495300" y="2333625"/>
            <a:ext cx="3457575" cy="381000"/>
          </a:xfrm>
          <a:prstGeom prst="rect">
            <a:avLst/>
          </a:prstGeom>
          <a:noFill/>
          <a:ln/>
        </p:spPr>
        <p:txBody>
          <a:bodyPr wrap="square" lIns="0" tIns="0" rIns="0" bIns="0" rtlCol="0" anchor="ctr"/>
          <a:lstStyle/>
          <a:p>
            <a:pPr algn="ctr">
              <a:lnSpc>
                <a:spcPct val="90000"/>
              </a:lnSpc>
            </a:pPr>
            <a:r>
              <a:rPr lang="en-US" sz="2700" b="1" dirty="0">
                <a:solidFill>
                  <a:srgbClr val="EDF2F4"/>
                </a:solidFill>
                <a:latin typeface="Liter" pitchFamily="34" charset="0"/>
                <a:ea typeface="Liter" pitchFamily="34" charset="-122"/>
                <a:cs typeface="Liter" pitchFamily="34" charset="-120"/>
              </a:rPr>
              <a:t>50,000</a:t>
            </a:r>
            <a:endParaRPr lang="en-US" sz="1600" dirty="0"/>
          </a:p>
        </p:txBody>
      </p:sp>
      <p:sp>
        <p:nvSpPr>
          <p:cNvPr id="9" name="Shape 7"/>
          <p:cNvSpPr/>
          <p:nvPr/>
        </p:nvSpPr>
        <p:spPr>
          <a:xfrm>
            <a:off x="4259163" y="1376363"/>
            <a:ext cx="3676650" cy="1762125"/>
          </a:xfrm>
          <a:custGeom>
            <a:avLst/>
            <a:gdLst/>
            <a:ahLst/>
            <a:cxnLst/>
            <a:rect l="l" t="t" r="r" b="b"/>
            <a:pathLst>
              <a:path w="3676650" h="1762125">
                <a:moveTo>
                  <a:pt x="114291" y="0"/>
                </a:moveTo>
                <a:lnTo>
                  <a:pt x="3562359" y="0"/>
                </a:lnTo>
                <a:cubicBezTo>
                  <a:pt x="3625480" y="0"/>
                  <a:pt x="3676650" y="51170"/>
                  <a:pt x="3676650" y="114291"/>
                </a:cubicBezTo>
                <a:lnTo>
                  <a:pt x="3676650" y="1647834"/>
                </a:lnTo>
                <a:cubicBezTo>
                  <a:pt x="3676650" y="1710955"/>
                  <a:pt x="3625480" y="1762125"/>
                  <a:pt x="3562359" y="1762125"/>
                </a:cubicBezTo>
                <a:lnTo>
                  <a:pt x="114291" y="1762125"/>
                </a:lnTo>
                <a:cubicBezTo>
                  <a:pt x="51170" y="1762125"/>
                  <a:pt x="0" y="1710955"/>
                  <a:pt x="0" y="1647834"/>
                </a:cubicBezTo>
                <a:lnTo>
                  <a:pt x="0" y="114291"/>
                </a:lnTo>
                <a:cubicBezTo>
                  <a:pt x="0" y="51212"/>
                  <a:pt x="51212" y="0"/>
                  <a:pt x="114291" y="0"/>
                </a:cubicBezTo>
                <a:close/>
              </a:path>
            </a:pathLst>
          </a:custGeom>
          <a:gradFill rotWithShape="1" flip="none">
            <a:gsLst>
              <a:gs pos="0">
                <a:srgbClr val="D4A373">
                  <a:alpha val="30000"/>
                </a:srgbClr>
              </a:gs>
              <a:gs pos="100000">
                <a:srgbClr val="1A1D21">
                  <a:alpha val="60000"/>
                </a:srgbClr>
              </a:gs>
            </a:gsLst>
            <a:lin ang="2700000" scaled="1"/>
          </a:gradFill>
          <a:ln w="12700">
            <a:solidFill>
              <a:srgbClr val="D4A373">
                <a:alpha val="50196"/>
              </a:srgbClr>
            </a:solidFill>
            <a:prstDash val="solid"/>
          </a:ln>
        </p:spPr>
      </p:sp>
      <p:sp>
        <p:nvSpPr>
          <p:cNvPr id="10" name="Shape 8"/>
          <p:cNvSpPr/>
          <p:nvPr/>
        </p:nvSpPr>
        <p:spPr>
          <a:xfrm>
            <a:off x="5945832" y="1571625"/>
            <a:ext cx="300038" cy="342900"/>
          </a:xfrm>
          <a:custGeom>
            <a:avLst/>
            <a:gdLst/>
            <a:ahLst/>
            <a:cxnLst/>
            <a:rect l="l" t="t" r="r" b="b"/>
            <a:pathLst>
              <a:path w="300038" h="342900">
                <a:moveTo>
                  <a:pt x="171450" y="107156"/>
                </a:moveTo>
                <a:lnTo>
                  <a:pt x="171450" y="171450"/>
                </a:lnTo>
                <a:lnTo>
                  <a:pt x="257175" y="171450"/>
                </a:lnTo>
                <a:lnTo>
                  <a:pt x="257175" y="107156"/>
                </a:lnTo>
                <a:lnTo>
                  <a:pt x="171450" y="107156"/>
                </a:lnTo>
                <a:close/>
                <a:moveTo>
                  <a:pt x="128588" y="107156"/>
                </a:moveTo>
                <a:lnTo>
                  <a:pt x="42863" y="107156"/>
                </a:lnTo>
                <a:lnTo>
                  <a:pt x="42863" y="171450"/>
                </a:lnTo>
                <a:lnTo>
                  <a:pt x="128588" y="171450"/>
                </a:lnTo>
                <a:lnTo>
                  <a:pt x="128588" y="107156"/>
                </a:lnTo>
                <a:close/>
                <a:moveTo>
                  <a:pt x="0" y="214313"/>
                </a:moveTo>
                <a:lnTo>
                  <a:pt x="0" y="64294"/>
                </a:lnTo>
                <a:cubicBezTo>
                  <a:pt x="0" y="40652"/>
                  <a:pt x="19221" y="21431"/>
                  <a:pt x="42863" y="21431"/>
                </a:cubicBezTo>
                <a:lnTo>
                  <a:pt x="257175" y="21431"/>
                </a:lnTo>
                <a:cubicBezTo>
                  <a:pt x="280816" y="21431"/>
                  <a:pt x="300038" y="40652"/>
                  <a:pt x="300038" y="64294"/>
                </a:cubicBezTo>
                <a:lnTo>
                  <a:pt x="300038" y="278606"/>
                </a:lnTo>
                <a:cubicBezTo>
                  <a:pt x="300038" y="302248"/>
                  <a:pt x="280816" y="321469"/>
                  <a:pt x="257175" y="321469"/>
                </a:cubicBezTo>
                <a:lnTo>
                  <a:pt x="42863" y="321469"/>
                </a:lnTo>
                <a:cubicBezTo>
                  <a:pt x="19221" y="321469"/>
                  <a:pt x="0" y="302248"/>
                  <a:pt x="0" y="278606"/>
                </a:cubicBezTo>
                <a:lnTo>
                  <a:pt x="0" y="214313"/>
                </a:lnTo>
                <a:close/>
                <a:moveTo>
                  <a:pt x="257175" y="214313"/>
                </a:moveTo>
                <a:lnTo>
                  <a:pt x="171450" y="214313"/>
                </a:lnTo>
                <a:lnTo>
                  <a:pt x="171450" y="278606"/>
                </a:lnTo>
                <a:lnTo>
                  <a:pt x="257175" y="278606"/>
                </a:lnTo>
                <a:lnTo>
                  <a:pt x="257175" y="214313"/>
                </a:lnTo>
                <a:close/>
                <a:moveTo>
                  <a:pt x="128588" y="278606"/>
                </a:moveTo>
                <a:lnTo>
                  <a:pt x="128588" y="214313"/>
                </a:lnTo>
                <a:lnTo>
                  <a:pt x="42863" y="214313"/>
                </a:lnTo>
                <a:lnTo>
                  <a:pt x="42863" y="278606"/>
                </a:lnTo>
                <a:lnTo>
                  <a:pt x="128588" y="278606"/>
                </a:lnTo>
                <a:close/>
              </a:path>
            </a:pathLst>
          </a:custGeom>
          <a:solidFill>
            <a:srgbClr val="4A6C8C"/>
          </a:solidFill>
          <a:ln/>
        </p:spPr>
      </p:sp>
      <p:sp>
        <p:nvSpPr>
          <p:cNvPr id="11" name="Text 9"/>
          <p:cNvSpPr/>
          <p:nvPr/>
        </p:nvSpPr>
        <p:spPr>
          <a:xfrm>
            <a:off x="4416326" y="2028825"/>
            <a:ext cx="3362325" cy="228600"/>
          </a:xfrm>
          <a:prstGeom prst="rect">
            <a:avLst/>
          </a:prstGeom>
          <a:noFill/>
          <a:ln/>
        </p:spPr>
        <p:txBody>
          <a:bodyPr wrap="square" lIns="0" tIns="0" rIns="0" bIns="0" rtlCol="0" anchor="ctr"/>
          <a:lstStyle/>
          <a:p>
            <a:pPr algn="ctr">
              <a:lnSpc>
                <a:spcPct val="130000"/>
              </a:lnSpc>
            </a:pPr>
            <a:r>
              <a:rPr lang="en-US" sz="1200" dirty="0">
                <a:solidFill>
                  <a:srgbClr val="8D99AE"/>
                </a:solidFill>
                <a:latin typeface="Liter" pitchFamily="34" charset="0"/>
                <a:ea typeface="Liter" pitchFamily="34" charset="-122"/>
                <a:cs typeface="Liter" pitchFamily="34" charset="-120"/>
              </a:rPr>
              <a:t>Features | Özellikler</a:t>
            </a:r>
            <a:endParaRPr lang="en-US" sz="1600" dirty="0"/>
          </a:p>
        </p:txBody>
      </p:sp>
      <p:sp>
        <p:nvSpPr>
          <p:cNvPr id="12" name="Text 10"/>
          <p:cNvSpPr/>
          <p:nvPr/>
        </p:nvSpPr>
        <p:spPr>
          <a:xfrm>
            <a:off x="4368701" y="2333625"/>
            <a:ext cx="3457575" cy="381000"/>
          </a:xfrm>
          <a:prstGeom prst="rect">
            <a:avLst/>
          </a:prstGeom>
          <a:noFill/>
          <a:ln/>
        </p:spPr>
        <p:txBody>
          <a:bodyPr wrap="square" lIns="0" tIns="0" rIns="0" bIns="0" rtlCol="0" anchor="ctr"/>
          <a:lstStyle/>
          <a:p>
            <a:pPr algn="ctr">
              <a:lnSpc>
                <a:spcPct val="90000"/>
              </a:lnSpc>
            </a:pPr>
            <a:r>
              <a:rPr lang="en-US" sz="2700" b="1" dirty="0">
                <a:solidFill>
                  <a:srgbClr val="EDF2F4"/>
                </a:solidFill>
                <a:latin typeface="Liter" pitchFamily="34" charset="0"/>
                <a:ea typeface="Liter" pitchFamily="34" charset="-122"/>
                <a:cs typeface="Liter" pitchFamily="34" charset="-120"/>
              </a:rPr>
              <a:t>20 / 17</a:t>
            </a:r>
            <a:endParaRPr lang="en-US" sz="1600" dirty="0"/>
          </a:p>
        </p:txBody>
      </p:sp>
      <p:sp>
        <p:nvSpPr>
          <p:cNvPr id="13" name="Text 11"/>
          <p:cNvSpPr/>
          <p:nvPr/>
        </p:nvSpPr>
        <p:spPr>
          <a:xfrm>
            <a:off x="4421088" y="2752725"/>
            <a:ext cx="3352800"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Classification / Regression</a:t>
            </a:r>
            <a:endParaRPr lang="en-US" sz="1600" dirty="0"/>
          </a:p>
        </p:txBody>
      </p:sp>
      <p:sp>
        <p:nvSpPr>
          <p:cNvPr id="14" name="Shape 12"/>
          <p:cNvSpPr/>
          <p:nvPr/>
        </p:nvSpPr>
        <p:spPr>
          <a:xfrm>
            <a:off x="8132713" y="1376363"/>
            <a:ext cx="3676650" cy="1762125"/>
          </a:xfrm>
          <a:custGeom>
            <a:avLst/>
            <a:gdLst/>
            <a:ahLst/>
            <a:cxnLst/>
            <a:rect l="l" t="t" r="r" b="b"/>
            <a:pathLst>
              <a:path w="3676650" h="1762125">
                <a:moveTo>
                  <a:pt x="114291" y="0"/>
                </a:moveTo>
                <a:lnTo>
                  <a:pt x="3562359" y="0"/>
                </a:lnTo>
                <a:cubicBezTo>
                  <a:pt x="3625480" y="0"/>
                  <a:pt x="3676650" y="51170"/>
                  <a:pt x="3676650" y="114291"/>
                </a:cubicBezTo>
                <a:lnTo>
                  <a:pt x="3676650" y="1647834"/>
                </a:lnTo>
                <a:cubicBezTo>
                  <a:pt x="3676650" y="1710955"/>
                  <a:pt x="3625480" y="1762125"/>
                  <a:pt x="3562359" y="1762125"/>
                </a:cubicBezTo>
                <a:lnTo>
                  <a:pt x="114291" y="1762125"/>
                </a:lnTo>
                <a:cubicBezTo>
                  <a:pt x="51170" y="1762125"/>
                  <a:pt x="0" y="1710955"/>
                  <a:pt x="0" y="1647834"/>
                </a:cubicBezTo>
                <a:lnTo>
                  <a:pt x="0" y="114291"/>
                </a:lnTo>
                <a:cubicBezTo>
                  <a:pt x="0" y="51212"/>
                  <a:pt x="51212" y="0"/>
                  <a:pt x="114291" y="0"/>
                </a:cubicBezTo>
                <a:close/>
              </a:path>
            </a:pathLst>
          </a:custGeom>
          <a:gradFill rotWithShape="1" flip="none">
            <a:gsLst>
              <a:gs pos="0">
                <a:srgbClr val="8D99AE">
                  <a:alpha val="30000"/>
                </a:srgbClr>
              </a:gs>
              <a:gs pos="100000">
                <a:srgbClr val="1A1D21">
                  <a:alpha val="60000"/>
                </a:srgbClr>
              </a:gs>
            </a:gsLst>
            <a:lin ang="2700000" scaled="1"/>
          </a:gradFill>
          <a:ln w="12700">
            <a:solidFill>
              <a:srgbClr val="8D99AE">
                <a:alpha val="50196"/>
              </a:srgbClr>
            </a:solidFill>
            <a:prstDash val="solid"/>
          </a:ln>
        </p:spPr>
      </p:sp>
      <p:sp>
        <p:nvSpPr>
          <p:cNvPr id="15" name="Shape 13"/>
          <p:cNvSpPr/>
          <p:nvPr/>
        </p:nvSpPr>
        <p:spPr>
          <a:xfrm>
            <a:off x="9797951" y="1571625"/>
            <a:ext cx="342900" cy="342900"/>
          </a:xfrm>
          <a:custGeom>
            <a:avLst/>
            <a:gdLst/>
            <a:ahLst/>
            <a:cxnLst/>
            <a:rect l="l" t="t" r="r" b="b"/>
            <a:pathLst>
              <a:path w="342900" h="342900">
                <a:moveTo>
                  <a:pt x="192881" y="300038"/>
                </a:moveTo>
                <a:lnTo>
                  <a:pt x="42863" y="300038"/>
                </a:lnTo>
                <a:lnTo>
                  <a:pt x="42863" y="150019"/>
                </a:lnTo>
                <a:lnTo>
                  <a:pt x="75009" y="150019"/>
                </a:lnTo>
                <a:lnTo>
                  <a:pt x="75009" y="107156"/>
                </a:lnTo>
                <a:lnTo>
                  <a:pt x="42863" y="107156"/>
                </a:lnTo>
                <a:cubicBezTo>
                  <a:pt x="19221" y="107156"/>
                  <a:pt x="0" y="126377"/>
                  <a:pt x="0" y="150019"/>
                </a:cubicBezTo>
                <a:lnTo>
                  <a:pt x="0" y="300038"/>
                </a:lnTo>
                <a:cubicBezTo>
                  <a:pt x="0" y="323679"/>
                  <a:pt x="19221" y="342900"/>
                  <a:pt x="42863" y="342900"/>
                </a:cubicBezTo>
                <a:lnTo>
                  <a:pt x="192881" y="342900"/>
                </a:lnTo>
                <a:cubicBezTo>
                  <a:pt x="216523" y="342900"/>
                  <a:pt x="235744" y="323679"/>
                  <a:pt x="235744" y="300038"/>
                </a:cubicBezTo>
                <a:lnTo>
                  <a:pt x="235744" y="267891"/>
                </a:lnTo>
                <a:lnTo>
                  <a:pt x="192881" y="267891"/>
                </a:lnTo>
                <a:lnTo>
                  <a:pt x="192881" y="300038"/>
                </a:lnTo>
                <a:close/>
                <a:moveTo>
                  <a:pt x="150019" y="235744"/>
                </a:moveTo>
                <a:lnTo>
                  <a:pt x="300038" y="235744"/>
                </a:lnTo>
                <a:cubicBezTo>
                  <a:pt x="323679" y="235744"/>
                  <a:pt x="342900" y="216523"/>
                  <a:pt x="342900" y="192881"/>
                </a:cubicBezTo>
                <a:lnTo>
                  <a:pt x="342900" y="42863"/>
                </a:lnTo>
                <a:cubicBezTo>
                  <a:pt x="342900" y="19221"/>
                  <a:pt x="323679" y="0"/>
                  <a:pt x="300038" y="0"/>
                </a:cubicBezTo>
                <a:lnTo>
                  <a:pt x="150019" y="0"/>
                </a:lnTo>
                <a:cubicBezTo>
                  <a:pt x="126377" y="0"/>
                  <a:pt x="107156" y="19221"/>
                  <a:pt x="107156" y="42863"/>
                </a:cubicBezTo>
                <a:lnTo>
                  <a:pt x="107156" y="192881"/>
                </a:lnTo>
                <a:cubicBezTo>
                  <a:pt x="107156" y="216523"/>
                  <a:pt x="126377" y="235744"/>
                  <a:pt x="150019" y="235744"/>
                </a:cubicBezTo>
                <a:close/>
              </a:path>
            </a:pathLst>
          </a:custGeom>
          <a:solidFill>
            <a:srgbClr val="D4A373"/>
          </a:solidFill>
          <a:ln/>
        </p:spPr>
      </p:sp>
      <p:sp>
        <p:nvSpPr>
          <p:cNvPr id="16" name="Text 14"/>
          <p:cNvSpPr/>
          <p:nvPr/>
        </p:nvSpPr>
        <p:spPr>
          <a:xfrm>
            <a:off x="8289875" y="2028825"/>
            <a:ext cx="3362325" cy="228600"/>
          </a:xfrm>
          <a:prstGeom prst="rect">
            <a:avLst/>
          </a:prstGeom>
          <a:noFill/>
          <a:ln/>
        </p:spPr>
        <p:txBody>
          <a:bodyPr wrap="square" lIns="0" tIns="0" rIns="0" bIns="0" rtlCol="0" anchor="ctr"/>
          <a:lstStyle/>
          <a:p>
            <a:pPr algn="ctr">
              <a:lnSpc>
                <a:spcPct val="130000"/>
              </a:lnSpc>
            </a:pPr>
            <a:r>
              <a:rPr lang="en-US" sz="1200" dirty="0">
                <a:solidFill>
                  <a:srgbClr val="8D99AE"/>
                </a:solidFill>
                <a:latin typeface="Liter" pitchFamily="34" charset="0"/>
                <a:ea typeface="Liter" pitchFamily="34" charset="-122"/>
                <a:cs typeface="Liter" pitchFamily="34" charset="-120"/>
              </a:rPr>
              <a:t>Duplicates | Kopyalar</a:t>
            </a:r>
            <a:endParaRPr lang="en-US" sz="1600" dirty="0"/>
          </a:p>
        </p:txBody>
      </p:sp>
      <p:sp>
        <p:nvSpPr>
          <p:cNvPr id="17" name="Text 15"/>
          <p:cNvSpPr/>
          <p:nvPr/>
        </p:nvSpPr>
        <p:spPr>
          <a:xfrm>
            <a:off x="8242250" y="2333625"/>
            <a:ext cx="3457575" cy="381000"/>
          </a:xfrm>
          <a:prstGeom prst="rect">
            <a:avLst/>
          </a:prstGeom>
          <a:noFill/>
          <a:ln/>
        </p:spPr>
        <p:txBody>
          <a:bodyPr wrap="square" lIns="0" tIns="0" rIns="0" bIns="0" rtlCol="0" anchor="ctr"/>
          <a:lstStyle/>
          <a:p>
            <a:pPr algn="ctr">
              <a:lnSpc>
                <a:spcPct val="90000"/>
              </a:lnSpc>
            </a:pPr>
            <a:r>
              <a:rPr lang="en-US" sz="2700" b="1" dirty="0">
                <a:solidFill>
                  <a:srgbClr val="EDF2F4"/>
                </a:solidFill>
                <a:latin typeface="Liter" pitchFamily="34" charset="0"/>
                <a:ea typeface="Liter" pitchFamily="34" charset="-122"/>
                <a:cs typeface="Liter" pitchFamily="34" charset="-120"/>
              </a:rPr>
              <a:t>0</a:t>
            </a:r>
            <a:endParaRPr lang="en-US" sz="1600" dirty="0"/>
          </a:p>
        </p:txBody>
      </p:sp>
      <p:sp>
        <p:nvSpPr>
          <p:cNvPr id="18" name="Shape 16"/>
          <p:cNvSpPr/>
          <p:nvPr/>
        </p:nvSpPr>
        <p:spPr>
          <a:xfrm>
            <a:off x="385763" y="3338513"/>
            <a:ext cx="11420475" cy="1876425"/>
          </a:xfrm>
          <a:custGeom>
            <a:avLst/>
            <a:gdLst/>
            <a:ahLst/>
            <a:cxnLst/>
            <a:rect l="l" t="t" r="r" b="b"/>
            <a:pathLst>
              <a:path w="11420475" h="1876425">
                <a:moveTo>
                  <a:pt x="114293" y="0"/>
                </a:moveTo>
                <a:lnTo>
                  <a:pt x="11306182" y="0"/>
                </a:lnTo>
                <a:cubicBezTo>
                  <a:pt x="11369304" y="0"/>
                  <a:pt x="11420475" y="51171"/>
                  <a:pt x="11420475" y="114293"/>
                </a:cubicBezTo>
                <a:lnTo>
                  <a:pt x="11420475" y="1762132"/>
                </a:lnTo>
                <a:cubicBezTo>
                  <a:pt x="11420475" y="1825254"/>
                  <a:pt x="11369304" y="1876425"/>
                  <a:pt x="11306182" y="1876425"/>
                </a:cubicBezTo>
                <a:lnTo>
                  <a:pt x="114293" y="1876425"/>
                </a:lnTo>
                <a:cubicBezTo>
                  <a:pt x="51171" y="1876425"/>
                  <a:pt x="0" y="1825254"/>
                  <a:pt x="0" y="1762132"/>
                </a:cubicBezTo>
                <a:lnTo>
                  <a:pt x="0" y="114293"/>
                </a:lnTo>
                <a:cubicBezTo>
                  <a:pt x="0" y="51213"/>
                  <a:pt x="51213" y="0"/>
                  <a:pt x="114293" y="0"/>
                </a:cubicBezTo>
                <a:close/>
              </a:path>
            </a:pathLst>
          </a:custGeom>
          <a:solidFill>
            <a:srgbClr val="4A6C8C">
              <a:alpha val="10196"/>
            </a:srgbClr>
          </a:solidFill>
          <a:ln w="12700">
            <a:solidFill>
              <a:srgbClr val="4A6C8C">
                <a:alpha val="30196"/>
              </a:srgbClr>
            </a:solidFill>
            <a:prstDash val="solid"/>
          </a:ln>
        </p:spPr>
      </p:sp>
      <p:sp>
        <p:nvSpPr>
          <p:cNvPr id="19" name="Shape 17"/>
          <p:cNvSpPr/>
          <p:nvPr/>
        </p:nvSpPr>
        <p:spPr>
          <a:xfrm>
            <a:off x="604838" y="3571875"/>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D4A373"/>
          </a:solidFill>
          <a:ln/>
        </p:spPr>
      </p:sp>
      <p:sp>
        <p:nvSpPr>
          <p:cNvPr id="20" name="Text 18"/>
          <p:cNvSpPr/>
          <p:nvPr/>
        </p:nvSpPr>
        <p:spPr>
          <a:xfrm>
            <a:off x="819150" y="3533775"/>
            <a:ext cx="10887075"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Missing Data Handling | Eksik Veri İşleme</a:t>
            </a:r>
            <a:endParaRPr lang="en-US" sz="1600" dirty="0"/>
          </a:p>
        </p:txBody>
      </p:sp>
      <p:sp>
        <p:nvSpPr>
          <p:cNvPr id="21" name="Text 19"/>
          <p:cNvSpPr/>
          <p:nvPr/>
        </p:nvSpPr>
        <p:spPr>
          <a:xfrm>
            <a:off x="581025" y="3952875"/>
            <a:ext cx="5495925" cy="495300"/>
          </a:xfrm>
          <a:prstGeom prst="rect">
            <a:avLst/>
          </a:prstGeom>
          <a:noFill/>
          <a:ln/>
        </p:spPr>
        <p:txBody>
          <a:bodyPr wrap="square" lIns="0" tIns="0" rIns="0" bIns="0" rtlCol="0" anchor="ctr"/>
          <a:lstStyle/>
          <a:p>
            <a:pPr>
              <a:lnSpc>
                <a:spcPct val="140000"/>
              </a:lnSpc>
            </a:pPr>
            <a:r>
              <a:rPr lang="en-US" sz="1200" b="1" dirty="0">
                <a:solidFill>
                  <a:srgbClr val="EDF2F4"/>
                </a:solidFill>
                <a:latin typeface="Liter" pitchFamily="34" charset="0"/>
                <a:ea typeface="Liter" pitchFamily="34" charset="-122"/>
                <a:cs typeface="Liter" pitchFamily="34" charset="-120"/>
              </a:rPr>
              <a:t>English:</a:t>
            </a:r>
            <a:pPr>
              <a:lnSpc>
                <a:spcPct val="140000"/>
              </a:lnSpc>
            </a:pPr>
            <a:r>
              <a:rPr lang="en-US" sz="1200" dirty="0">
                <a:solidFill>
                  <a:srgbClr val="EDF2F4"/>
                </a:solidFill>
                <a:latin typeface="Liter" pitchFamily="34" charset="0"/>
                <a:ea typeface="Liter" pitchFamily="34" charset="-122"/>
                <a:cs typeface="Liter" pitchFamily="34" charset="-120"/>
              </a:rPr>
              <a:t> Some columns had missing values, but they were randomly distributed — meaning there was no hidden pattern trying to conceal something.</a:t>
            </a:r>
            <a:endParaRPr lang="en-US" sz="1600" dirty="0"/>
          </a:p>
        </p:txBody>
      </p:sp>
      <p:sp>
        <p:nvSpPr>
          <p:cNvPr id="22" name="Shape 20"/>
          <p:cNvSpPr/>
          <p:nvPr/>
        </p:nvSpPr>
        <p:spPr>
          <a:xfrm>
            <a:off x="581025" y="4562475"/>
            <a:ext cx="5419725" cy="457200"/>
          </a:xfrm>
          <a:custGeom>
            <a:avLst/>
            <a:gdLst/>
            <a:ahLst/>
            <a:cxnLst/>
            <a:rect l="l" t="t" r="r" b="b"/>
            <a:pathLst>
              <a:path w="5419725" h="457200">
                <a:moveTo>
                  <a:pt x="76202" y="0"/>
                </a:moveTo>
                <a:lnTo>
                  <a:pt x="5343523" y="0"/>
                </a:lnTo>
                <a:cubicBezTo>
                  <a:pt x="5385608" y="0"/>
                  <a:pt x="5419725" y="34117"/>
                  <a:pt x="5419725" y="76202"/>
                </a:cubicBezTo>
                <a:lnTo>
                  <a:pt x="5419725" y="380998"/>
                </a:lnTo>
                <a:cubicBezTo>
                  <a:pt x="5419725" y="423083"/>
                  <a:pt x="5385608" y="457200"/>
                  <a:pt x="5343523" y="457200"/>
                </a:cubicBezTo>
                <a:lnTo>
                  <a:pt x="76202" y="457200"/>
                </a:lnTo>
                <a:cubicBezTo>
                  <a:pt x="34145" y="457200"/>
                  <a:pt x="0" y="423055"/>
                  <a:pt x="0" y="380998"/>
                </a:cubicBezTo>
                <a:lnTo>
                  <a:pt x="0" y="76202"/>
                </a:lnTo>
                <a:cubicBezTo>
                  <a:pt x="0" y="34145"/>
                  <a:pt x="34145" y="0"/>
                  <a:pt x="76202" y="0"/>
                </a:cubicBezTo>
                <a:close/>
              </a:path>
            </a:pathLst>
          </a:custGeom>
          <a:solidFill>
            <a:srgbClr val="1A1D21">
              <a:alpha val="60000"/>
            </a:srgbClr>
          </a:solidFill>
          <a:ln/>
        </p:spPr>
      </p:sp>
      <p:sp>
        <p:nvSpPr>
          <p:cNvPr id="23" name="Text 21"/>
          <p:cNvSpPr/>
          <p:nvPr/>
        </p:nvSpPr>
        <p:spPr>
          <a:xfrm>
            <a:off x="695325" y="4676775"/>
            <a:ext cx="5267325" cy="228600"/>
          </a:xfrm>
          <a:prstGeom prst="rect">
            <a:avLst/>
          </a:prstGeom>
          <a:noFill/>
          <a:ln/>
        </p:spPr>
        <p:txBody>
          <a:bodyPr wrap="square" lIns="0" tIns="0" rIns="0" bIns="0" rtlCol="0" anchor="ctr"/>
          <a:lstStyle/>
          <a:p>
            <a:pPr>
              <a:lnSpc>
                <a:spcPct val="130000"/>
              </a:lnSpc>
            </a:pPr>
            <a:r>
              <a:rPr lang="en-US" sz="1200" b="1" dirty="0">
                <a:solidFill>
                  <a:srgbClr val="8D99AE"/>
                </a:solidFill>
                <a:latin typeface="Liter" pitchFamily="34" charset="0"/>
                <a:ea typeface="Liter" pitchFamily="34" charset="-122"/>
                <a:cs typeface="Liter" pitchFamily="34" charset="-120"/>
              </a:rPr>
              <a:t>Method:</a:t>
            </a:r>
            <a:pPr>
              <a:lnSpc>
                <a:spcPct val="130000"/>
              </a:lnSpc>
            </a:pPr>
            <a:r>
              <a:rPr lang="en-US" sz="1200" dirty="0">
                <a:solidFill>
                  <a:srgbClr val="8D99AE"/>
                </a:solidFill>
                <a:latin typeface="Liter" pitchFamily="34" charset="0"/>
                <a:ea typeface="Liter" pitchFamily="34" charset="-122"/>
                <a:cs typeface="Liter" pitchFamily="34" charset="-120"/>
              </a:rPr>
              <a:t> Missing values were filled using </a:t>
            </a:r>
            <a:pPr>
              <a:lnSpc>
                <a:spcPct val="130000"/>
              </a:lnSpc>
            </a:pPr>
            <a:r>
              <a:rPr lang="en-US" sz="1200" b="1" dirty="0">
                <a:solidFill>
                  <a:srgbClr val="D4A373"/>
                </a:solidFill>
                <a:latin typeface="Liter" pitchFamily="34" charset="0"/>
                <a:ea typeface="Liter" pitchFamily="34" charset="-122"/>
                <a:cs typeface="Liter" pitchFamily="34" charset="-120"/>
              </a:rPr>
              <a:t>Median Imputation</a:t>
            </a:r>
            <a:endParaRPr lang="en-US" sz="1600" dirty="0"/>
          </a:p>
        </p:txBody>
      </p:sp>
      <p:sp>
        <p:nvSpPr>
          <p:cNvPr id="24" name="Text 22"/>
          <p:cNvSpPr/>
          <p:nvPr/>
        </p:nvSpPr>
        <p:spPr>
          <a:xfrm>
            <a:off x="6191250" y="3952875"/>
            <a:ext cx="5495925" cy="495300"/>
          </a:xfrm>
          <a:prstGeom prst="rect">
            <a:avLst/>
          </a:prstGeom>
          <a:noFill/>
          <a:ln/>
        </p:spPr>
        <p:txBody>
          <a:bodyPr wrap="square" lIns="0" tIns="0" rIns="0" bIns="0" rtlCol="0" anchor="ctr"/>
          <a:lstStyle/>
          <a:p>
            <a:pPr>
              <a:lnSpc>
                <a:spcPct val="140000"/>
              </a:lnSpc>
            </a:pPr>
            <a:r>
              <a:rPr lang="en-US" sz="1200" b="1" dirty="0">
                <a:solidFill>
                  <a:srgbClr val="EDF2F4"/>
                </a:solidFill>
                <a:latin typeface="Liter" pitchFamily="34" charset="0"/>
                <a:ea typeface="Liter" pitchFamily="34" charset="-122"/>
                <a:cs typeface="Liter" pitchFamily="34" charset="-120"/>
              </a:rPr>
              <a:t>Türkçe:</a:t>
            </a:r>
            <a:pPr>
              <a:lnSpc>
                <a:spcPct val="140000"/>
              </a:lnSpc>
            </a:pPr>
            <a:r>
              <a:rPr lang="en-US" sz="1200" dirty="0">
                <a:solidFill>
                  <a:srgbClr val="EDF2F4"/>
                </a:solidFill>
                <a:latin typeface="Liter" pitchFamily="34" charset="0"/>
                <a:ea typeface="Liter" pitchFamily="34" charset="-122"/>
                <a:cs typeface="Liter" pitchFamily="34" charset="-120"/>
              </a:rPr>
              <a:t> Bazı sütunlarda eksik veri vardı ama bunlar rastgele dağılmıştı — yani bir şeyleri gizlemeye çalışan bir pattern yoktu.</a:t>
            </a:r>
            <a:endParaRPr lang="en-US" sz="1600" dirty="0"/>
          </a:p>
        </p:txBody>
      </p:sp>
      <p:sp>
        <p:nvSpPr>
          <p:cNvPr id="25" name="Shape 23"/>
          <p:cNvSpPr/>
          <p:nvPr/>
        </p:nvSpPr>
        <p:spPr>
          <a:xfrm>
            <a:off x="6191250" y="4562475"/>
            <a:ext cx="5419725" cy="457200"/>
          </a:xfrm>
          <a:custGeom>
            <a:avLst/>
            <a:gdLst/>
            <a:ahLst/>
            <a:cxnLst/>
            <a:rect l="l" t="t" r="r" b="b"/>
            <a:pathLst>
              <a:path w="5419725" h="457200">
                <a:moveTo>
                  <a:pt x="76202" y="0"/>
                </a:moveTo>
                <a:lnTo>
                  <a:pt x="5343523" y="0"/>
                </a:lnTo>
                <a:cubicBezTo>
                  <a:pt x="5385608" y="0"/>
                  <a:pt x="5419725" y="34117"/>
                  <a:pt x="5419725" y="76202"/>
                </a:cubicBezTo>
                <a:lnTo>
                  <a:pt x="5419725" y="380998"/>
                </a:lnTo>
                <a:cubicBezTo>
                  <a:pt x="5419725" y="423083"/>
                  <a:pt x="5385608" y="457200"/>
                  <a:pt x="5343523" y="457200"/>
                </a:cubicBezTo>
                <a:lnTo>
                  <a:pt x="76202" y="457200"/>
                </a:lnTo>
                <a:cubicBezTo>
                  <a:pt x="34145" y="457200"/>
                  <a:pt x="0" y="423055"/>
                  <a:pt x="0" y="380998"/>
                </a:cubicBezTo>
                <a:lnTo>
                  <a:pt x="0" y="76202"/>
                </a:lnTo>
                <a:cubicBezTo>
                  <a:pt x="0" y="34145"/>
                  <a:pt x="34145" y="0"/>
                  <a:pt x="76202" y="0"/>
                </a:cubicBezTo>
                <a:close/>
              </a:path>
            </a:pathLst>
          </a:custGeom>
          <a:solidFill>
            <a:srgbClr val="1A1D21">
              <a:alpha val="60000"/>
            </a:srgbClr>
          </a:solidFill>
          <a:ln/>
        </p:spPr>
      </p:sp>
      <p:sp>
        <p:nvSpPr>
          <p:cNvPr id="26" name="Text 24"/>
          <p:cNvSpPr/>
          <p:nvPr/>
        </p:nvSpPr>
        <p:spPr>
          <a:xfrm>
            <a:off x="6305550" y="4676775"/>
            <a:ext cx="5267325" cy="228600"/>
          </a:xfrm>
          <a:prstGeom prst="rect">
            <a:avLst/>
          </a:prstGeom>
          <a:noFill/>
          <a:ln/>
        </p:spPr>
        <p:txBody>
          <a:bodyPr wrap="square" lIns="0" tIns="0" rIns="0" bIns="0" rtlCol="0" anchor="ctr"/>
          <a:lstStyle/>
          <a:p>
            <a:pPr>
              <a:lnSpc>
                <a:spcPct val="130000"/>
              </a:lnSpc>
            </a:pPr>
            <a:r>
              <a:rPr lang="en-US" sz="1200" b="1" dirty="0">
                <a:solidFill>
                  <a:srgbClr val="8D99AE"/>
                </a:solidFill>
                <a:latin typeface="Liter" pitchFamily="34" charset="0"/>
                <a:ea typeface="Liter" pitchFamily="34" charset="-122"/>
                <a:cs typeface="Liter" pitchFamily="34" charset="-120"/>
              </a:rPr>
              <a:t>Yöntem:</a:t>
            </a:r>
            <a:pPr>
              <a:lnSpc>
                <a:spcPct val="130000"/>
              </a:lnSpc>
            </a:pPr>
            <a:r>
              <a:rPr lang="en-US" sz="1200" dirty="0">
                <a:solidFill>
                  <a:srgbClr val="8D99AE"/>
                </a:solidFill>
                <a:latin typeface="Liter" pitchFamily="34" charset="0"/>
                <a:ea typeface="Liter" pitchFamily="34" charset="-122"/>
                <a:cs typeface="Liter" pitchFamily="34" charset="-120"/>
              </a:rPr>
              <a:t> Eksik değerler </a:t>
            </a:r>
            <a:pPr>
              <a:lnSpc>
                <a:spcPct val="130000"/>
              </a:lnSpc>
            </a:pPr>
            <a:r>
              <a:rPr lang="en-US" sz="1200" b="1" dirty="0">
                <a:solidFill>
                  <a:srgbClr val="D4A373"/>
                </a:solidFill>
                <a:latin typeface="Liter" pitchFamily="34" charset="0"/>
                <a:ea typeface="Liter" pitchFamily="34" charset="-122"/>
                <a:cs typeface="Liter" pitchFamily="34" charset="-120"/>
              </a:rPr>
              <a:t>Medyan İmputasyonu</a:t>
            </a:r>
            <a:pPr>
              <a:lnSpc>
                <a:spcPct val="130000"/>
              </a:lnSpc>
            </a:pPr>
            <a:r>
              <a:rPr lang="en-US" sz="1200" dirty="0">
                <a:solidFill>
                  <a:srgbClr val="8D99AE"/>
                </a:solidFill>
                <a:latin typeface="Liter" pitchFamily="34" charset="0"/>
                <a:ea typeface="Liter" pitchFamily="34" charset="-122"/>
                <a:cs typeface="Liter" pitchFamily="34" charset="-120"/>
              </a:rPr>
              <a:t> ile dolduruldu</a:t>
            </a:r>
            <a:endParaRPr lang="en-US" sz="1600" dirty="0"/>
          </a:p>
        </p:txBody>
      </p:sp>
      <p:sp>
        <p:nvSpPr>
          <p:cNvPr id="27" name="Shape 25"/>
          <p:cNvSpPr/>
          <p:nvPr/>
        </p:nvSpPr>
        <p:spPr>
          <a:xfrm>
            <a:off x="385763" y="5414963"/>
            <a:ext cx="11420475" cy="1381125"/>
          </a:xfrm>
          <a:custGeom>
            <a:avLst/>
            <a:gdLst/>
            <a:ahLst/>
            <a:cxnLst/>
            <a:rect l="l" t="t" r="r" b="b"/>
            <a:pathLst>
              <a:path w="11420475" h="1381125">
                <a:moveTo>
                  <a:pt x="114302" y="0"/>
                </a:moveTo>
                <a:lnTo>
                  <a:pt x="11306173" y="0"/>
                </a:lnTo>
                <a:cubicBezTo>
                  <a:pt x="11369300" y="0"/>
                  <a:pt x="11420475" y="51175"/>
                  <a:pt x="11420475" y="114302"/>
                </a:cubicBezTo>
                <a:lnTo>
                  <a:pt x="11420475" y="1266823"/>
                </a:lnTo>
                <a:cubicBezTo>
                  <a:pt x="11420475" y="1329950"/>
                  <a:pt x="11369300" y="1381125"/>
                  <a:pt x="11306173" y="1381125"/>
                </a:cubicBezTo>
                <a:lnTo>
                  <a:pt x="114302" y="1381125"/>
                </a:lnTo>
                <a:cubicBezTo>
                  <a:pt x="51175" y="1381125"/>
                  <a:pt x="0" y="1329950"/>
                  <a:pt x="0" y="1266823"/>
                </a:cubicBezTo>
                <a:lnTo>
                  <a:pt x="0" y="114302"/>
                </a:lnTo>
                <a:cubicBezTo>
                  <a:pt x="0" y="51217"/>
                  <a:pt x="51217" y="0"/>
                  <a:pt x="114302" y="0"/>
                </a:cubicBezTo>
                <a:close/>
              </a:path>
            </a:pathLst>
          </a:custGeom>
          <a:solidFill>
            <a:srgbClr val="1A1D21">
              <a:alpha val="60000"/>
            </a:srgbClr>
          </a:solidFill>
          <a:ln w="12700">
            <a:solidFill>
              <a:srgbClr val="8D99AE">
                <a:alpha val="30196"/>
              </a:srgbClr>
            </a:solidFill>
            <a:prstDash val="solid"/>
          </a:ln>
        </p:spPr>
      </p:sp>
      <p:sp>
        <p:nvSpPr>
          <p:cNvPr id="28" name="Text 26"/>
          <p:cNvSpPr/>
          <p:nvPr/>
        </p:nvSpPr>
        <p:spPr>
          <a:xfrm>
            <a:off x="542925" y="5572125"/>
            <a:ext cx="11191875"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Liter" pitchFamily="34" charset="0"/>
                <a:ea typeface="Liter" pitchFamily="34" charset="-122"/>
                <a:cs typeface="Liter" pitchFamily="34" charset="-120"/>
              </a:rPr>
              <a:t>Top Missing Values | En Çok Eksik Değerler</a:t>
            </a:r>
            <a:endParaRPr lang="en-US" sz="1600" dirty="0"/>
          </a:p>
        </p:txBody>
      </p:sp>
      <p:sp>
        <p:nvSpPr>
          <p:cNvPr id="29" name="Shape 27"/>
          <p:cNvSpPr/>
          <p:nvPr/>
        </p:nvSpPr>
        <p:spPr>
          <a:xfrm>
            <a:off x="542925" y="5953125"/>
            <a:ext cx="2695575" cy="685800"/>
          </a:xfrm>
          <a:custGeom>
            <a:avLst/>
            <a:gdLst/>
            <a:ahLst/>
            <a:cxnLst/>
            <a:rect l="l" t="t" r="r" b="b"/>
            <a:pathLst>
              <a:path w="2695575" h="685800">
                <a:moveTo>
                  <a:pt x="76199" y="0"/>
                </a:moveTo>
                <a:lnTo>
                  <a:pt x="2619376" y="0"/>
                </a:lnTo>
                <a:cubicBezTo>
                  <a:pt x="2661459" y="0"/>
                  <a:pt x="2695575" y="34116"/>
                  <a:pt x="2695575" y="76199"/>
                </a:cubicBezTo>
                <a:lnTo>
                  <a:pt x="2695575" y="609601"/>
                </a:lnTo>
                <a:cubicBezTo>
                  <a:pt x="2695575" y="651684"/>
                  <a:pt x="2661459" y="685800"/>
                  <a:pt x="2619376" y="685800"/>
                </a:cubicBezTo>
                <a:lnTo>
                  <a:pt x="76199" y="685800"/>
                </a:lnTo>
                <a:cubicBezTo>
                  <a:pt x="34116" y="685800"/>
                  <a:pt x="0" y="651684"/>
                  <a:pt x="0" y="609601"/>
                </a:cubicBezTo>
                <a:lnTo>
                  <a:pt x="0" y="76199"/>
                </a:lnTo>
                <a:cubicBezTo>
                  <a:pt x="0" y="34144"/>
                  <a:pt x="34144" y="0"/>
                  <a:pt x="76199" y="0"/>
                </a:cubicBezTo>
                <a:close/>
              </a:path>
            </a:pathLst>
          </a:custGeom>
          <a:solidFill>
            <a:srgbClr val="4A6C8C">
              <a:alpha val="20000"/>
            </a:srgbClr>
          </a:solidFill>
          <a:ln/>
        </p:spPr>
      </p:sp>
      <p:sp>
        <p:nvSpPr>
          <p:cNvPr id="30" name="Text 28"/>
          <p:cNvSpPr/>
          <p:nvPr/>
        </p:nvSpPr>
        <p:spPr>
          <a:xfrm>
            <a:off x="623888" y="6067425"/>
            <a:ext cx="2533650"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Social Media Engagement</a:t>
            </a:r>
            <a:endParaRPr lang="en-US" sz="1600" dirty="0"/>
          </a:p>
        </p:txBody>
      </p:sp>
      <p:sp>
        <p:nvSpPr>
          <p:cNvPr id="31" name="Text 29"/>
          <p:cNvSpPr/>
          <p:nvPr/>
        </p:nvSpPr>
        <p:spPr>
          <a:xfrm>
            <a:off x="609600" y="6257925"/>
            <a:ext cx="2562225" cy="266700"/>
          </a:xfrm>
          <a:prstGeom prst="rect">
            <a:avLst/>
          </a:prstGeom>
          <a:noFill/>
          <a:ln/>
        </p:spPr>
        <p:txBody>
          <a:bodyPr wrap="square" lIns="0" tIns="0" rIns="0" bIns="0" rtlCol="0" anchor="ctr"/>
          <a:lstStyle/>
          <a:p>
            <a:pPr algn="ctr">
              <a:lnSpc>
                <a:spcPct val="120000"/>
              </a:lnSpc>
            </a:pPr>
            <a:r>
              <a:rPr lang="en-US" sz="1500" b="1" dirty="0">
                <a:solidFill>
                  <a:srgbClr val="D4A373"/>
                </a:solidFill>
                <a:latin typeface="Liter" pitchFamily="34" charset="0"/>
                <a:ea typeface="Liter" pitchFamily="34" charset="-122"/>
                <a:cs typeface="Liter" pitchFamily="34" charset="-120"/>
              </a:rPr>
              <a:t>12%</a:t>
            </a:r>
            <a:endParaRPr lang="en-US" sz="1600" dirty="0"/>
          </a:p>
        </p:txBody>
      </p:sp>
      <p:sp>
        <p:nvSpPr>
          <p:cNvPr id="32" name="Shape 30"/>
          <p:cNvSpPr/>
          <p:nvPr/>
        </p:nvSpPr>
        <p:spPr>
          <a:xfrm>
            <a:off x="3348038" y="5953125"/>
            <a:ext cx="2695575" cy="685800"/>
          </a:xfrm>
          <a:custGeom>
            <a:avLst/>
            <a:gdLst/>
            <a:ahLst/>
            <a:cxnLst/>
            <a:rect l="l" t="t" r="r" b="b"/>
            <a:pathLst>
              <a:path w="2695575" h="685800">
                <a:moveTo>
                  <a:pt x="76199" y="0"/>
                </a:moveTo>
                <a:lnTo>
                  <a:pt x="2619376" y="0"/>
                </a:lnTo>
                <a:cubicBezTo>
                  <a:pt x="2661459" y="0"/>
                  <a:pt x="2695575" y="34116"/>
                  <a:pt x="2695575" y="76199"/>
                </a:cubicBezTo>
                <a:lnTo>
                  <a:pt x="2695575" y="609601"/>
                </a:lnTo>
                <a:cubicBezTo>
                  <a:pt x="2695575" y="651684"/>
                  <a:pt x="2661459" y="685800"/>
                  <a:pt x="2619376" y="685800"/>
                </a:cubicBezTo>
                <a:lnTo>
                  <a:pt x="76199" y="685800"/>
                </a:lnTo>
                <a:cubicBezTo>
                  <a:pt x="34116" y="685800"/>
                  <a:pt x="0" y="651684"/>
                  <a:pt x="0" y="609601"/>
                </a:cubicBezTo>
                <a:lnTo>
                  <a:pt x="0" y="76199"/>
                </a:lnTo>
                <a:cubicBezTo>
                  <a:pt x="0" y="34144"/>
                  <a:pt x="34144" y="0"/>
                  <a:pt x="76199" y="0"/>
                </a:cubicBezTo>
                <a:close/>
              </a:path>
            </a:pathLst>
          </a:custGeom>
          <a:solidFill>
            <a:srgbClr val="4A6C8C">
              <a:alpha val="20000"/>
            </a:srgbClr>
          </a:solidFill>
          <a:ln/>
        </p:spPr>
      </p:sp>
      <p:sp>
        <p:nvSpPr>
          <p:cNvPr id="33" name="Text 31"/>
          <p:cNvSpPr/>
          <p:nvPr/>
        </p:nvSpPr>
        <p:spPr>
          <a:xfrm>
            <a:off x="3429000" y="6067425"/>
            <a:ext cx="2533650"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Credit Balance</a:t>
            </a:r>
            <a:endParaRPr lang="en-US" sz="1600" dirty="0"/>
          </a:p>
        </p:txBody>
      </p:sp>
      <p:sp>
        <p:nvSpPr>
          <p:cNvPr id="34" name="Text 32"/>
          <p:cNvSpPr/>
          <p:nvPr/>
        </p:nvSpPr>
        <p:spPr>
          <a:xfrm>
            <a:off x="3414713" y="6257925"/>
            <a:ext cx="2562225" cy="266700"/>
          </a:xfrm>
          <a:prstGeom prst="rect">
            <a:avLst/>
          </a:prstGeom>
          <a:noFill/>
          <a:ln/>
        </p:spPr>
        <p:txBody>
          <a:bodyPr wrap="square" lIns="0" tIns="0" rIns="0" bIns="0" rtlCol="0" anchor="ctr"/>
          <a:lstStyle/>
          <a:p>
            <a:pPr algn="ctr">
              <a:lnSpc>
                <a:spcPct val="120000"/>
              </a:lnSpc>
            </a:pPr>
            <a:r>
              <a:rPr lang="en-US" sz="1500" b="1" dirty="0">
                <a:solidFill>
                  <a:srgbClr val="D4A373"/>
                </a:solidFill>
                <a:latin typeface="Liter" pitchFamily="34" charset="0"/>
                <a:ea typeface="Liter" pitchFamily="34" charset="-122"/>
                <a:cs typeface="Liter" pitchFamily="34" charset="-120"/>
              </a:rPr>
              <a:t>11%</a:t>
            </a:r>
            <a:endParaRPr lang="en-US" sz="1600" dirty="0"/>
          </a:p>
        </p:txBody>
      </p:sp>
      <p:sp>
        <p:nvSpPr>
          <p:cNvPr id="35" name="Shape 33"/>
          <p:cNvSpPr/>
          <p:nvPr/>
        </p:nvSpPr>
        <p:spPr>
          <a:xfrm>
            <a:off x="6153150" y="5953125"/>
            <a:ext cx="2695575" cy="685800"/>
          </a:xfrm>
          <a:custGeom>
            <a:avLst/>
            <a:gdLst/>
            <a:ahLst/>
            <a:cxnLst/>
            <a:rect l="l" t="t" r="r" b="b"/>
            <a:pathLst>
              <a:path w="2695575" h="685800">
                <a:moveTo>
                  <a:pt x="76199" y="0"/>
                </a:moveTo>
                <a:lnTo>
                  <a:pt x="2619376" y="0"/>
                </a:lnTo>
                <a:cubicBezTo>
                  <a:pt x="2661459" y="0"/>
                  <a:pt x="2695575" y="34116"/>
                  <a:pt x="2695575" y="76199"/>
                </a:cubicBezTo>
                <a:lnTo>
                  <a:pt x="2695575" y="609601"/>
                </a:lnTo>
                <a:cubicBezTo>
                  <a:pt x="2695575" y="651684"/>
                  <a:pt x="2661459" y="685800"/>
                  <a:pt x="2619376" y="685800"/>
                </a:cubicBezTo>
                <a:lnTo>
                  <a:pt x="76199" y="685800"/>
                </a:lnTo>
                <a:cubicBezTo>
                  <a:pt x="34116" y="685800"/>
                  <a:pt x="0" y="651684"/>
                  <a:pt x="0" y="609601"/>
                </a:cubicBezTo>
                <a:lnTo>
                  <a:pt x="0" y="76199"/>
                </a:lnTo>
                <a:cubicBezTo>
                  <a:pt x="0" y="34144"/>
                  <a:pt x="34144" y="0"/>
                  <a:pt x="76199" y="0"/>
                </a:cubicBezTo>
                <a:close/>
              </a:path>
            </a:pathLst>
          </a:custGeom>
          <a:solidFill>
            <a:srgbClr val="4A6C8C">
              <a:alpha val="20000"/>
            </a:srgbClr>
          </a:solidFill>
          <a:ln/>
        </p:spPr>
      </p:sp>
      <p:sp>
        <p:nvSpPr>
          <p:cNvPr id="36" name="Text 34"/>
          <p:cNvSpPr/>
          <p:nvPr/>
        </p:nvSpPr>
        <p:spPr>
          <a:xfrm>
            <a:off x="6234113" y="6067425"/>
            <a:ext cx="2533650"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Mobile App Usage</a:t>
            </a:r>
            <a:endParaRPr lang="en-US" sz="1600" dirty="0"/>
          </a:p>
        </p:txBody>
      </p:sp>
      <p:sp>
        <p:nvSpPr>
          <p:cNvPr id="37" name="Text 35"/>
          <p:cNvSpPr/>
          <p:nvPr/>
        </p:nvSpPr>
        <p:spPr>
          <a:xfrm>
            <a:off x="6219825" y="6257925"/>
            <a:ext cx="2562225" cy="266700"/>
          </a:xfrm>
          <a:prstGeom prst="rect">
            <a:avLst/>
          </a:prstGeom>
          <a:noFill/>
          <a:ln/>
        </p:spPr>
        <p:txBody>
          <a:bodyPr wrap="square" lIns="0" tIns="0" rIns="0" bIns="0" rtlCol="0" anchor="ctr"/>
          <a:lstStyle/>
          <a:p>
            <a:pPr algn="ctr">
              <a:lnSpc>
                <a:spcPct val="120000"/>
              </a:lnSpc>
            </a:pPr>
            <a:r>
              <a:rPr lang="en-US" sz="1500" b="1" dirty="0">
                <a:solidFill>
                  <a:srgbClr val="D4A373"/>
                </a:solidFill>
                <a:latin typeface="Liter" pitchFamily="34" charset="0"/>
                <a:ea typeface="Liter" pitchFamily="34" charset="-122"/>
                <a:cs typeface="Liter" pitchFamily="34" charset="-120"/>
              </a:rPr>
              <a:t>10%</a:t>
            </a:r>
            <a:endParaRPr lang="en-US" sz="1600" dirty="0"/>
          </a:p>
        </p:txBody>
      </p:sp>
      <p:sp>
        <p:nvSpPr>
          <p:cNvPr id="38" name="Shape 36"/>
          <p:cNvSpPr/>
          <p:nvPr/>
        </p:nvSpPr>
        <p:spPr>
          <a:xfrm>
            <a:off x="8958263" y="5953125"/>
            <a:ext cx="2695575" cy="685800"/>
          </a:xfrm>
          <a:custGeom>
            <a:avLst/>
            <a:gdLst/>
            <a:ahLst/>
            <a:cxnLst/>
            <a:rect l="l" t="t" r="r" b="b"/>
            <a:pathLst>
              <a:path w="2695575" h="685800">
                <a:moveTo>
                  <a:pt x="76199" y="0"/>
                </a:moveTo>
                <a:lnTo>
                  <a:pt x="2619376" y="0"/>
                </a:lnTo>
                <a:cubicBezTo>
                  <a:pt x="2661459" y="0"/>
                  <a:pt x="2695575" y="34116"/>
                  <a:pt x="2695575" y="76199"/>
                </a:cubicBezTo>
                <a:lnTo>
                  <a:pt x="2695575" y="609601"/>
                </a:lnTo>
                <a:cubicBezTo>
                  <a:pt x="2695575" y="651684"/>
                  <a:pt x="2661459" y="685800"/>
                  <a:pt x="2619376" y="685800"/>
                </a:cubicBezTo>
                <a:lnTo>
                  <a:pt x="76199" y="685800"/>
                </a:lnTo>
                <a:cubicBezTo>
                  <a:pt x="34116" y="685800"/>
                  <a:pt x="0" y="651684"/>
                  <a:pt x="0" y="609601"/>
                </a:cubicBezTo>
                <a:lnTo>
                  <a:pt x="0" y="76199"/>
                </a:lnTo>
                <a:cubicBezTo>
                  <a:pt x="0" y="34144"/>
                  <a:pt x="34144" y="0"/>
                  <a:pt x="76199" y="0"/>
                </a:cubicBezTo>
                <a:close/>
              </a:path>
            </a:pathLst>
          </a:custGeom>
          <a:solidFill>
            <a:srgbClr val="4A6C8C">
              <a:alpha val="20000"/>
            </a:srgbClr>
          </a:solidFill>
          <a:ln/>
        </p:spPr>
      </p:sp>
      <p:sp>
        <p:nvSpPr>
          <p:cNvPr id="39" name="Text 37"/>
          <p:cNvSpPr/>
          <p:nvPr/>
        </p:nvSpPr>
        <p:spPr>
          <a:xfrm>
            <a:off x="9039225" y="6067425"/>
            <a:ext cx="2533650"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Returns Rate</a:t>
            </a:r>
            <a:endParaRPr lang="en-US" sz="1600" dirty="0"/>
          </a:p>
        </p:txBody>
      </p:sp>
      <p:sp>
        <p:nvSpPr>
          <p:cNvPr id="40" name="Text 38"/>
          <p:cNvSpPr/>
          <p:nvPr/>
        </p:nvSpPr>
        <p:spPr>
          <a:xfrm>
            <a:off x="9024938" y="6257925"/>
            <a:ext cx="2562225" cy="266700"/>
          </a:xfrm>
          <a:prstGeom prst="rect">
            <a:avLst/>
          </a:prstGeom>
          <a:noFill/>
          <a:ln/>
        </p:spPr>
        <p:txBody>
          <a:bodyPr wrap="square" lIns="0" tIns="0" rIns="0" bIns="0" rtlCol="0" anchor="ctr"/>
          <a:lstStyle/>
          <a:p>
            <a:pPr algn="ctr">
              <a:lnSpc>
                <a:spcPct val="120000"/>
              </a:lnSpc>
            </a:pPr>
            <a:r>
              <a:rPr lang="en-US" sz="1500" b="1" dirty="0">
                <a:solidFill>
                  <a:srgbClr val="D4A373"/>
                </a:solidFill>
                <a:latin typeface="Liter" pitchFamily="34" charset="0"/>
                <a:ea typeface="Liter" pitchFamily="34" charset="-122"/>
                <a:cs typeface="Liter" pitchFamily="34" charset="-120"/>
              </a:rPr>
              <a:t>9%</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D4A373"/>
          </a:solidFill>
          <a:ln/>
        </p:spPr>
      </p:sp>
      <p:sp>
        <p:nvSpPr>
          <p:cNvPr id="3" name="Text 1"/>
          <p:cNvSpPr/>
          <p:nvPr/>
        </p:nvSpPr>
        <p:spPr>
          <a:xfrm>
            <a:off x="571500" y="419100"/>
            <a:ext cx="5495925"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Target Variables &amp; Class Imbalance</a:t>
            </a:r>
            <a:endParaRPr lang="en-US" sz="1600" dirty="0"/>
          </a:p>
        </p:txBody>
      </p:sp>
      <p:sp>
        <p:nvSpPr>
          <p:cNvPr id="4" name="Text 2"/>
          <p:cNvSpPr/>
          <p:nvPr/>
        </p:nvSpPr>
        <p:spPr>
          <a:xfrm>
            <a:off x="571500" y="914400"/>
            <a:ext cx="11353800" cy="304800"/>
          </a:xfrm>
          <a:prstGeom prst="rect">
            <a:avLst/>
          </a:prstGeom>
          <a:noFill/>
          <a:ln/>
        </p:spPr>
        <p:txBody>
          <a:bodyPr wrap="square" lIns="0" tIns="0" rIns="0" bIns="0" rtlCol="0" anchor="ctr"/>
          <a:lstStyle/>
          <a:p>
            <a:pPr>
              <a:lnSpc>
                <a:spcPct val="110000"/>
              </a:lnSpc>
            </a:pPr>
            <a:r>
              <a:rPr lang="en-US" sz="1800" dirty="0">
                <a:solidFill>
                  <a:srgbClr val="8D99AE"/>
                </a:solidFill>
                <a:latin typeface="Liter" pitchFamily="34" charset="0"/>
                <a:ea typeface="Liter" pitchFamily="34" charset="-122"/>
                <a:cs typeface="Liter" pitchFamily="34" charset="-120"/>
              </a:rPr>
              <a:t>Hedef Değişkenler ve Sınıf Dengesizliği</a:t>
            </a:r>
            <a:endParaRPr lang="en-US" sz="1600" dirty="0"/>
          </a:p>
        </p:txBody>
      </p:sp>
      <p:sp>
        <p:nvSpPr>
          <p:cNvPr id="5" name="Shape 3"/>
          <p:cNvSpPr/>
          <p:nvPr/>
        </p:nvSpPr>
        <p:spPr>
          <a:xfrm>
            <a:off x="385763" y="1376363"/>
            <a:ext cx="5610225" cy="3857625"/>
          </a:xfrm>
          <a:custGeom>
            <a:avLst/>
            <a:gdLst/>
            <a:ahLst/>
            <a:cxnLst/>
            <a:rect l="l" t="t" r="r" b="b"/>
            <a:pathLst>
              <a:path w="5610225" h="3857625">
                <a:moveTo>
                  <a:pt x="114301" y="0"/>
                </a:moveTo>
                <a:lnTo>
                  <a:pt x="5495924" y="0"/>
                </a:lnTo>
                <a:cubicBezTo>
                  <a:pt x="5559051" y="0"/>
                  <a:pt x="5610225" y="51174"/>
                  <a:pt x="5610225" y="114301"/>
                </a:cubicBezTo>
                <a:lnTo>
                  <a:pt x="5610225" y="3743324"/>
                </a:lnTo>
                <a:cubicBezTo>
                  <a:pt x="5610225" y="3806451"/>
                  <a:pt x="5559051" y="3857625"/>
                  <a:pt x="5495924" y="3857625"/>
                </a:cubicBezTo>
                <a:lnTo>
                  <a:pt x="114301" y="3857625"/>
                </a:lnTo>
                <a:cubicBezTo>
                  <a:pt x="51174" y="3857625"/>
                  <a:pt x="0" y="3806451"/>
                  <a:pt x="0" y="3743324"/>
                </a:cubicBezTo>
                <a:lnTo>
                  <a:pt x="0" y="114301"/>
                </a:lnTo>
                <a:cubicBezTo>
                  <a:pt x="0" y="51174"/>
                  <a:pt x="51174" y="0"/>
                  <a:pt x="114301" y="0"/>
                </a:cubicBezTo>
                <a:close/>
              </a:path>
            </a:pathLst>
          </a:custGeom>
          <a:gradFill rotWithShape="1" flip="none">
            <a:gsLst>
              <a:gs pos="0">
                <a:srgbClr val="D4A373">
                  <a:alpha val="20000"/>
                </a:srgbClr>
              </a:gs>
              <a:gs pos="100000">
                <a:srgbClr val="1A1D21">
                  <a:alpha val="40000"/>
                </a:srgbClr>
              </a:gs>
            </a:gsLst>
            <a:lin ang="2700000" scaled="1"/>
          </a:gradFill>
          <a:ln w="12700">
            <a:solidFill>
              <a:srgbClr val="D4A373">
                <a:alpha val="40000"/>
              </a:srgbClr>
            </a:solidFill>
            <a:prstDash val="solid"/>
          </a:ln>
        </p:spPr>
      </p:sp>
      <p:sp>
        <p:nvSpPr>
          <p:cNvPr id="6" name="Shape 4"/>
          <p:cNvSpPr/>
          <p:nvPr/>
        </p:nvSpPr>
        <p:spPr>
          <a:xfrm>
            <a:off x="601266" y="1581150"/>
            <a:ext cx="321469" cy="285750"/>
          </a:xfrm>
          <a:custGeom>
            <a:avLst/>
            <a:gdLst/>
            <a:ahLst/>
            <a:cxnLst/>
            <a:rect l="l" t="t" r="r" b="b"/>
            <a:pathLst>
              <a:path w="321469" h="285750">
                <a:moveTo>
                  <a:pt x="285973" y="133945"/>
                </a:moveTo>
                <a:lnTo>
                  <a:pt x="187747" y="133945"/>
                </a:lnTo>
                <a:cubicBezTo>
                  <a:pt x="177868" y="133945"/>
                  <a:pt x="169887" y="125964"/>
                  <a:pt x="169887" y="116086"/>
                </a:cubicBezTo>
                <a:lnTo>
                  <a:pt x="169887" y="17859"/>
                </a:lnTo>
                <a:cubicBezTo>
                  <a:pt x="169887" y="7981"/>
                  <a:pt x="177924" y="-112"/>
                  <a:pt x="187691" y="1172"/>
                </a:cubicBezTo>
                <a:cubicBezTo>
                  <a:pt x="247408" y="9097"/>
                  <a:pt x="294735" y="56424"/>
                  <a:pt x="302661" y="116142"/>
                </a:cubicBezTo>
                <a:cubicBezTo>
                  <a:pt x="303944" y="125909"/>
                  <a:pt x="295852" y="133945"/>
                  <a:pt x="285973" y="133945"/>
                </a:cubicBezTo>
                <a:close/>
                <a:moveTo>
                  <a:pt x="124234" y="20762"/>
                </a:moveTo>
                <a:cubicBezTo>
                  <a:pt x="134336" y="18641"/>
                  <a:pt x="143098" y="26901"/>
                  <a:pt x="143098" y="37226"/>
                </a:cubicBezTo>
                <a:lnTo>
                  <a:pt x="143098" y="147340"/>
                </a:lnTo>
                <a:cubicBezTo>
                  <a:pt x="143098" y="150465"/>
                  <a:pt x="144214" y="153479"/>
                  <a:pt x="146168" y="155879"/>
                </a:cubicBezTo>
                <a:lnTo>
                  <a:pt x="219894" y="244841"/>
                </a:lnTo>
                <a:cubicBezTo>
                  <a:pt x="226423" y="252710"/>
                  <a:pt x="225028" y="264598"/>
                  <a:pt x="216043" y="269453"/>
                </a:cubicBezTo>
                <a:cubicBezTo>
                  <a:pt x="197011" y="279834"/>
                  <a:pt x="175189" y="285750"/>
                  <a:pt x="152028" y="285750"/>
                </a:cubicBezTo>
                <a:cubicBezTo>
                  <a:pt x="78079" y="285750"/>
                  <a:pt x="18083" y="225754"/>
                  <a:pt x="18083" y="151805"/>
                </a:cubicBezTo>
                <a:cubicBezTo>
                  <a:pt x="18083" y="87344"/>
                  <a:pt x="63568" y="33542"/>
                  <a:pt x="124234" y="20762"/>
                </a:cubicBezTo>
                <a:close/>
                <a:moveTo>
                  <a:pt x="266663" y="160734"/>
                </a:moveTo>
                <a:lnTo>
                  <a:pt x="302382" y="160734"/>
                </a:lnTo>
                <a:cubicBezTo>
                  <a:pt x="312706" y="160734"/>
                  <a:pt x="320966" y="169497"/>
                  <a:pt x="318846" y="179598"/>
                </a:cubicBezTo>
                <a:cubicBezTo>
                  <a:pt x="313153" y="206611"/>
                  <a:pt x="299312" y="230609"/>
                  <a:pt x="280002" y="248915"/>
                </a:cubicBezTo>
                <a:cubicBezTo>
                  <a:pt x="273137" y="255445"/>
                  <a:pt x="262365" y="254050"/>
                  <a:pt x="256338" y="246738"/>
                </a:cubicBezTo>
                <a:lnTo>
                  <a:pt x="209234" y="189979"/>
                </a:lnTo>
                <a:cubicBezTo>
                  <a:pt x="199579" y="178315"/>
                  <a:pt x="207894" y="160734"/>
                  <a:pt x="222963" y="160734"/>
                </a:cubicBezTo>
                <a:lnTo>
                  <a:pt x="266607" y="160734"/>
                </a:lnTo>
                <a:close/>
              </a:path>
            </a:pathLst>
          </a:custGeom>
          <a:solidFill>
            <a:srgbClr val="D4A373"/>
          </a:solidFill>
          <a:ln/>
        </p:spPr>
      </p:sp>
      <p:sp>
        <p:nvSpPr>
          <p:cNvPr id="7" name="Text 5"/>
          <p:cNvSpPr/>
          <p:nvPr/>
        </p:nvSpPr>
        <p:spPr>
          <a:xfrm>
            <a:off x="1052513" y="1571625"/>
            <a:ext cx="1952625"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Churn Distribution</a:t>
            </a:r>
            <a:endParaRPr lang="en-US" sz="1600" dirty="0"/>
          </a:p>
        </p:txBody>
      </p:sp>
      <p:pic>
        <p:nvPicPr>
          <p:cNvPr id="8" name="Image 0" descr="https://kimi-img.moonshot.cn/pub/slides/26-02-12-04:11:53-d66e528h947a6cg0m5kg.png">    </p:cNvPr>
          <p:cNvPicPr>
            <a:picLocks noChangeAspect="1"/>
          </p:cNvPicPr>
          <p:nvPr/>
        </p:nvPicPr>
        <p:blipFill>
          <a:blip r:embed="rId1"/>
          <a:srcRect l="0" r="0" t="0" b="0"/>
          <a:stretch/>
        </p:blipFill>
        <p:spPr>
          <a:xfrm>
            <a:off x="581025" y="2028825"/>
            <a:ext cx="5219700" cy="1905000"/>
          </a:xfrm>
          <a:prstGeom prst="roundRect">
            <a:avLst>
              <a:gd name="adj" fmla="val 0"/>
            </a:avLst>
          </a:prstGeom>
        </p:spPr>
      </p:pic>
      <p:sp>
        <p:nvSpPr>
          <p:cNvPr id="9" name="Shape 6"/>
          <p:cNvSpPr/>
          <p:nvPr/>
        </p:nvSpPr>
        <p:spPr>
          <a:xfrm>
            <a:off x="600075" y="4086225"/>
            <a:ext cx="2533650" cy="952500"/>
          </a:xfrm>
          <a:custGeom>
            <a:avLst/>
            <a:gdLst/>
            <a:ahLst/>
            <a:cxnLst/>
            <a:rect l="l" t="t" r="r" b="b"/>
            <a:pathLst>
              <a:path w="2533650" h="952500">
                <a:moveTo>
                  <a:pt x="38100" y="0"/>
                </a:moveTo>
                <a:lnTo>
                  <a:pt x="2457450" y="0"/>
                </a:lnTo>
                <a:cubicBezTo>
                  <a:pt x="2499506" y="0"/>
                  <a:pt x="2533650" y="34144"/>
                  <a:pt x="2533650" y="76200"/>
                </a:cubicBezTo>
                <a:lnTo>
                  <a:pt x="2533650" y="876300"/>
                </a:lnTo>
                <a:cubicBezTo>
                  <a:pt x="2533650" y="918356"/>
                  <a:pt x="2499506" y="952500"/>
                  <a:pt x="2457450" y="952500"/>
                </a:cubicBezTo>
                <a:lnTo>
                  <a:pt x="38100" y="952500"/>
                </a:lnTo>
                <a:cubicBezTo>
                  <a:pt x="17072" y="952500"/>
                  <a:pt x="0" y="935428"/>
                  <a:pt x="0" y="914400"/>
                </a:cubicBezTo>
                <a:lnTo>
                  <a:pt x="0" y="38100"/>
                </a:lnTo>
                <a:cubicBezTo>
                  <a:pt x="0" y="17072"/>
                  <a:pt x="17072" y="0"/>
                  <a:pt x="38100" y="0"/>
                </a:cubicBezTo>
                <a:close/>
              </a:path>
            </a:pathLst>
          </a:custGeom>
          <a:solidFill>
            <a:srgbClr val="1A1D21">
              <a:alpha val="60000"/>
            </a:srgbClr>
          </a:solidFill>
          <a:ln/>
        </p:spPr>
      </p:sp>
      <p:sp>
        <p:nvSpPr>
          <p:cNvPr id="10" name="Shape 7"/>
          <p:cNvSpPr/>
          <p:nvPr/>
        </p:nvSpPr>
        <p:spPr>
          <a:xfrm>
            <a:off x="600075" y="4086225"/>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4A6C8C"/>
          </a:solidFill>
          <a:ln/>
        </p:spPr>
      </p:sp>
      <p:sp>
        <p:nvSpPr>
          <p:cNvPr id="11" name="Text 8"/>
          <p:cNvSpPr/>
          <p:nvPr/>
        </p:nvSpPr>
        <p:spPr>
          <a:xfrm>
            <a:off x="700088" y="4200525"/>
            <a:ext cx="2352675"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Not Churned | Ayrılmamış</a:t>
            </a:r>
            <a:endParaRPr lang="en-US" sz="1600" dirty="0"/>
          </a:p>
        </p:txBody>
      </p:sp>
      <p:sp>
        <p:nvSpPr>
          <p:cNvPr id="12" name="Text 9"/>
          <p:cNvSpPr/>
          <p:nvPr/>
        </p:nvSpPr>
        <p:spPr>
          <a:xfrm>
            <a:off x="676275" y="4391025"/>
            <a:ext cx="2400300" cy="304800"/>
          </a:xfrm>
          <a:prstGeom prst="rect">
            <a:avLst/>
          </a:prstGeom>
          <a:noFill/>
          <a:ln/>
        </p:spPr>
        <p:txBody>
          <a:bodyPr wrap="square" lIns="0" tIns="0" rIns="0" bIns="0" rtlCol="0" anchor="ctr"/>
          <a:lstStyle/>
          <a:p>
            <a:pPr algn="ctr">
              <a:lnSpc>
                <a:spcPct val="110000"/>
              </a:lnSpc>
            </a:pPr>
            <a:r>
              <a:rPr lang="en-US" sz="1800" b="1" dirty="0">
                <a:solidFill>
                  <a:srgbClr val="4A6C8C"/>
                </a:solidFill>
                <a:latin typeface="Liter" pitchFamily="34" charset="0"/>
                <a:ea typeface="Liter" pitchFamily="34" charset="-122"/>
                <a:cs typeface="Liter" pitchFamily="34" charset="-120"/>
              </a:rPr>
              <a:t>71.1%</a:t>
            </a:r>
            <a:endParaRPr lang="en-US" sz="1600" dirty="0"/>
          </a:p>
        </p:txBody>
      </p:sp>
      <p:sp>
        <p:nvSpPr>
          <p:cNvPr id="13" name="Text 10"/>
          <p:cNvSpPr/>
          <p:nvPr/>
        </p:nvSpPr>
        <p:spPr>
          <a:xfrm>
            <a:off x="695325" y="4695825"/>
            <a:ext cx="2362200" cy="228600"/>
          </a:xfrm>
          <a:prstGeom prst="rect">
            <a:avLst/>
          </a:prstGeom>
          <a:noFill/>
          <a:ln/>
        </p:spPr>
        <p:txBody>
          <a:bodyPr wrap="square" lIns="0" tIns="0" rIns="0" bIns="0" rtlCol="0" anchor="ctr"/>
          <a:lstStyle/>
          <a:p>
            <a:pPr algn="ctr">
              <a:lnSpc>
                <a:spcPct val="130000"/>
              </a:lnSpc>
            </a:pPr>
            <a:r>
              <a:rPr lang="en-US" sz="1200" dirty="0">
                <a:solidFill>
                  <a:srgbClr val="EDF2F4"/>
                </a:solidFill>
                <a:latin typeface="Liter" pitchFamily="34" charset="0"/>
                <a:ea typeface="Liter" pitchFamily="34" charset="-122"/>
                <a:cs typeface="Liter" pitchFamily="34" charset="-120"/>
              </a:rPr>
              <a:t>35,550 customers</a:t>
            </a:r>
            <a:endParaRPr lang="en-US" sz="1600" dirty="0"/>
          </a:p>
        </p:txBody>
      </p:sp>
      <p:sp>
        <p:nvSpPr>
          <p:cNvPr id="14" name="Shape 11"/>
          <p:cNvSpPr/>
          <p:nvPr/>
        </p:nvSpPr>
        <p:spPr>
          <a:xfrm>
            <a:off x="3267075" y="4086225"/>
            <a:ext cx="2533650" cy="952500"/>
          </a:xfrm>
          <a:custGeom>
            <a:avLst/>
            <a:gdLst/>
            <a:ahLst/>
            <a:cxnLst/>
            <a:rect l="l" t="t" r="r" b="b"/>
            <a:pathLst>
              <a:path w="2533650" h="952500">
                <a:moveTo>
                  <a:pt x="38100" y="0"/>
                </a:moveTo>
                <a:lnTo>
                  <a:pt x="2457450" y="0"/>
                </a:lnTo>
                <a:cubicBezTo>
                  <a:pt x="2499506" y="0"/>
                  <a:pt x="2533650" y="34144"/>
                  <a:pt x="2533650" y="76200"/>
                </a:cubicBezTo>
                <a:lnTo>
                  <a:pt x="2533650" y="876300"/>
                </a:lnTo>
                <a:cubicBezTo>
                  <a:pt x="2533650" y="918356"/>
                  <a:pt x="2499506" y="952500"/>
                  <a:pt x="2457450" y="952500"/>
                </a:cubicBezTo>
                <a:lnTo>
                  <a:pt x="38100" y="952500"/>
                </a:lnTo>
                <a:cubicBezTo>
                  <a:pt x="17072" y="952500"/>
                  <a:pt x="0" y="935428"/>
                  <a:pt x="0" y="914400"/>
                </a:cubicBezTo>
                <a:lnTo>
                  <a:pt x="0" y="38100"/>
                </a:lnTo>
                <a:cubicBezTo>
                  <a:pt x="0" y="17072"/>
                  <a:pt x="17072" y="0"/>
                  <a:pt x="38100" y="0"/>
                </a:cubicBezTo>
                <a:close/>
              </a:path>
            </a:pathLst>
          </a:custGeom>
          <a:solidFill>
            <a:srgbClr val="1A1D21">
              <a:alpha val="60000"/>
            </a:srgbClr>
          </a:solidFill>
          <a:ln/>
        </p:spPr>
      </p:sp>
      <p:sp>
        <p:nvSpPr>
          <p:cNvPr id="15" name="Shape 12"/>
          <p:cNvSpPr/>
          <p:nvPr/>
        </p:nvSpPr>
        <p:spPr>
          <a:xfrm>
            <a:off x="3267075" y="4086225"/>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D4A373"/>
          </a:solidFill>
          <a:ln/>
        </p:spPr>
      </p:sp>
      <p:sp>
        <p:nvSpPr>
          <p:cNvPr id="16" name="Text 13"/>
          <p:cNvSpPr/>
          <p:nvPr/>
        </p:nvSpPr>
        <p:spPr>
          <a:xfrm>
            <a:off x="3367088" y="4200525"/>
            <a:ext cx="2352675"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Churned | Ayrılmış</a:t>
            </a:r>
            <a:endParaRPr lang="en-US" sz="1600" dirty="0"/>
          </a:p>
        </p:txBody>
      </p:sp>
      <p:sp>
        <p:nvSpPr>
          <p:cNvPr id="17" name="Text 14"/>
          <p:cNvSpPr/>
          <p:nvPr/>
        </p:nvSpPr>
        <p:spPr>
          <a:xfrm>
            <a:off x="3343275" y="4391025"/>
            <a:ext cx="2400300" cy="304800"/>
          </a:xfrm>
          <a:prstGeom prst="rect">
            <a:avLst/>
          </a:prstGeom>
          <a:noFill/>
          <a:ln/>
        </p:spPr>
        <p:txBody>
          <a:bodyPr wrap="square" lIns="0" tIns="0" rIns="0" bIns="0" rtlCol="0" anchor="ctr"/>
          <a:lstStyle/>
          <a:p>
            <a:pPr algn="ctr">
              <a:lnSpc>
                <a:spcPct val="110000"/>
              </a:lnSpc>
            </a:pPr>
            <a:r>
              <a:rPr lang="en-US" sz="1800" b="1" dirty="0">
                <a:solidFill>
                  <a:srgbClr val="D4A373"/>
                </a:solidFill>
                <a:latin typeface="Liter" pitchFamily="34" charset="0"/>
                <a:ea typeface="Liter" pitchFamily="34" charset="-122"/>
                <a:cs typeface="Liter" pitchFamily="34" charset="-120"/>
              </a:rPr>
              <a:t>28.9%</a:t>
            </a:r>
            <a:endParaRPr lang="en-US" sz="1600" dirty="0"/>
          </a:p>
        </p:txBody>
      </p:sp>
      <p:sp>
        <p:nvSpPr>
          <p:cNvPr id="18" name="Text 15"/>
          <p:cNvSpPr/>
          <p:nvPr/>
        </p:nvSpPr>
        <p:spPr>
          <a:xfrm>
            <a:off x="3362325" y="4695825"/>
            <a:ext cx="2362200" cy="228600"/>
          </a:xfrm>
          <a:prstGeom prst="rect">
            <a:avLst/>
          </a:prstGeom>
          <a:noFill/>
          <a:ln/>
        </p:spPr>
        <p:txBody>
          <a:bodyPr wrap="square" lIns="0" tIns="0" rIns="0" bIns="0" rtlCol="0" anchor="ctr"/>
          <a:lstStyle/>
          <a:p>
            <a:pPr algn="ctr">
              <a:lnSpc>
                <a:spcPct val="130000"/>
              </a:lnSpc>
            </a:pPr>
            <a:r>
              <a:rPr lang="en-US" sz="1200" dirty="0">
                <a:solidFill>
                  <a:srgbClr val="EDF2F4"/>
                </a:solidFill>
                <a:latin typeface="Liter" pitchFamily="34" charset="0"/>
                <a:ea typeface="Liter" pitchFamily="34" charset="-122"/>
                <a:cs typeface="Liter" pitchFamily="34" charset="-120"/>
              </a:rPr>
              <a:t>14,450 customers</a:t>
            </a:r>
            <a:endParaRPr lang="en-US" sz="1600" dirty="0"/>
          </a:p>
        </p:txBody>
      </p:sp>
      <p:sp>
        <p:nvSpPr>
          <p:cNvPr id="19" name="Shape 16"/>
          <p:cNvSpPr/>
          <p:nvPr/>
        </p:nvSpPr>
        <p:spPr>
          <a:xfrm>
            <a:off x="6196013" y="1376363"/>
            <a:ext cx="5610225" cy="3857625"/>
          </a:xfrm>
          <a:custGeom>
            <a:avLst/>
            <a:gdLst/>
            <a:ahLst/>
            <a:cxnLst/>
            <a:rect l="l" t="t" r="r" b="b"/>
            <a:pathLst>
              <a:path w="5610225" h="3857625">
                <a:moveTo>
                  <a:pt x="114301" y="0"/>
                </a:moveTo>
                <a:lnTo>
                  <a:pt x="5495924" y="0"/>
                </a:lnTo>
                <a:cubicBezTo>
                  <a:pt x="5559051" y="0"/>
                  <a:pt x="5610225" y="51174"/>
                  <a:pt x="5610225" y="114301"/>
                </a:cubicBezTo>
                <a:lnTo>
                  <a:pt x="5610225" y="3743324"/>
                </a:lnTo>
                <a:cubicBezTo>
                  <a:pt x="5610225" y="3806451"/>
                  <a:pt x="5559051" y="3857625"/>
                  <a:pt x="5495924" y="3857625"/>
                </a:cubicBezTo>
                <a:lnTo>
                  <a:pt x="114301" y="3857625"/>
                </a:lnTo>
                <a:cubicBezTo>
                  <a:pt x="51174" y="3857625"/>
                  <a:pt x="0" y="3806451"/>
                  <a:pt x="0" y="3743324"/>
                </a:cubicBezTo>
                <a:lnTo>
                  <a:pt x="0" y="114301"/>
                </a:lnTo>
                <a:cubicBezTo>
                  <a:pt x="0" y="51174"/>
                  <a:pt x="51174" y="0"/>
                  <a:pt x="114301" y="0"/>
                </a:cubicBezTo>
                <a:close/>
              </a:path>
            </a:pathLst>
          </a:custGeom>
          <a:gradFill rotWithShape="1" flip="none">
            <a:gsLst>
              <a:gs pos="0">
                <a:srgbClr val="4A6C8C">
                  <a:alpha val="20000"/>
                </a:srgbClr>
              </a:gs>
              <a:gs pos="100000">
                <a:srgbClr val="1A1D21">
                  <a:alpha val="40000"/>
                </a:srgbClr>
              </a:gs>
            </a:gsLst>
            <a:lin ang="2700000" scaled="1"/>
          </a:gradFill>
          <a:ln w="12700">
            <a:solidFill>
              <a:srgbClr val="4A6C8C">
                <a:alpha val="40000"/>
              </a:srgbClr>
            </a:solidFill>
            <a:prstDash val="solid"/>
          </a:ln>
        </p:spPr>
      </p:sp>
      <p:sp>
        <p:nvSpPr>
          <p:cNvPr id="20" name="Shape 17"/>
          <p:cNvSpPr/>
          <p:nvPr/>
        </p:nvSpPr>
        <p:spPr>
          <a:xfrm>
            <a:off x="6429375" y="1581150"/>
            <a:ext cx="285750" cy="285750"/>
          </a:xfrm>
          <a:custGeom>
            <a:avLst/>
            <a:gdLst/>
            <a:ahLst/>
            <a:cxnLst/>
            <a:rect l="l" t="t" r="r" b="b"/>
            <a:pathLst>
              <a:path w="285750" h="285750">
                <a:moveTo>
                  <a:pt x="17859" y="17859"/>
                </a:moveTo>
                <a:cubicBezTo>
                  <a:pt x="27738" y="17859"/>
                  <a:pt x="35719" y="25840"/>
                  <a:pt x="35719" y="35719"/>
                </a:cubicBezTo>
                <a:lnTo>
                  <a:pt x="35719" y="223242"/>
                </a:lnTo>
                <a:cubicBezTo>
                  <a:pt x="35719" y="228154"/>
                  <a:pt x="39737" y="232172"/>
                  <a:pt x="44648" y="232172"/>
                </a:cubicBezTo>
                <a:lnTo>
                  <a:pt x="267891" y="232172"/>
                </a:lnTo>
                <a:cubicBezTo>
                  <a:pt x="277769" y="232172"/>
                  <a:pt x="285750" y="240153"/>
                  <a:pt x="285750" y="250031"/>
                </a:cubicBezTo>
                <a:cubicBezTo>
                  <a:pt x="285750" y="259910"/>
                  <a:pt x="277769" y="267891"/>
                  <a:pt x="267891" y="267891"/>
                </a:cubicBezTo>
                <a:lnTo>
                  <a:pt x="44648" y="267891"/>
                </a:lnTo>
                <a:cubicBezTo>
                  <a:pt x="19980" y="267891"/>
                  <a:pt x="0" y="247910"/>
                  <a:pt x="0" y="223242"/>
                </a:cubicBezTo>
                <a:lnTo>
                  <a:pt x="0" y="35719"/>
                </a:lnTo>
                <a:cubicBezTo>
                  <a:pt x="0" y="25840"/>
                  <a:pt x="7981" y="17859"/>
                  <a:pt x="17859" y="17859"/>
                </a:cubicBezTo>
                <a:close/>
                <a:moveTo>
                  <a:pt x="71438" y="53578"/>
                </a:moveTo>
                <a:cubicBezTo>
                  <a:pt x="71438" y="43700"/>
                  <a:pt x="79418" y="35719"/>
                  <a:pt x="89297" y="35719"/>
                </a:cubicBezTo>
                <a:lnTo>
                  <a:pt x="196453" y="35719"/>
                </a:lnTo>
                <a:cubicBezTo>
                  <a:pt x="206332" y="35719"/>
                  <a:pt x="214313" y="43700"/>
                  <a:pt x="214313" y="53578"/>
                </a:cubicBezTo>
                <a:cubicBezTo>
                  <a:pt x="214313" y="63457"/>
                  <a:pt x="206332" y="71438"/>
                  <a:pt x="196453" y="71438"/>
                </a:cubicBezTo>
                <a:lnTo>
                  <a:pt x="89297" y="71438"/>
                </a:lnTo>
                <a:cubicBezTo>
                  <a:pt x="79418" y="71438"/>
                  <a:pt x="71438" y="63457"/>
                  <a:pt x="71438" y="53578"/>
                </a:cubicBezTo>
                <a:close/>
                <a:moveTo>
                  <a:pt x="89297" y="98227"/>
                </a:moveTo>
                <a:lnTo>
                  <a:pt x="160734" y="98227"/>
                </a:lnTo>
                <a:cubicBezTo>
                  <a:pt x="170613" y="98227"/>
                  <a:pt x="178594" y="106207"/>
                  <a:pt x="178594" y="116086"/>
                </a:cubicBezTo>
                <a:cubicBezTo>
                  <a:pt x="178594" y="125964"/>
                  <a:pt x="170613" y="133945"/>
                  <a:pt x="160734" y="133945"/>
                </a:cubicBezTo>
                <a:lnTo>
                  <a:pt x="89297" y="133945"/>
                </a:lnTo>
                <a:cubicBezTo>
                  <a:pt x="79418" y="133945"/>
                  <a:pt x="71438" y="125964"/>
                  <a:pt x="71438" y="116086"/>
                </a:cubicBezTo>
                <a:cubicBezTo>
                  <a:pt x="71438" y="106207"/>
                  <a:pt x="79418" y="98227"/>
                  <a:pt x="89297" y="98227"/>
                </a:cubicBezTo>
                <a:close/>
                <a:moveTo>
                  <a:pt x="89297" y="160734"/>
                </a:moveTo>
                <a:lnTo>
                  <a:pt x="232172" y="160734"/>
                </a:lnTo>
                <a:cubicBezTo>
                  <a:pt x="242050" y="160734"/>
                  <a:pt x="250031" y="168715"/>
                  <a:pt x="250031" y="178594"/>
                </a:cubicBezTo>
                <a:cubicBezTo>
                  <a:pt x="250031" y="188472"/>
                  <a:pt x="242050" y="196453"/>
                  <a:pt x="232172" y="196453"/>
                </a:cubicBezTo>
                <a:lnTo>
                  <a:pt x="89297" y="196453"/>
                </a:lnTo>
                <a:cubicBezTo>
                  <a:pt x="79418" y="196453"/>
                  <a:pt x="71438" y="188472"/>
                  <a:pt x="71438" y="178594"/>
                </a:cubicBezTo>
                <a:cubicBezTo>
                  <a:pt x="71438" y="168715"/>
                  <a:pt x="79418" y="160734"/>
                  <a:pt x="89297" y="160734"/>
                </a:cubicBezTo>
                <a:close/>
              </a:path>
            </a:pathLst>
          </a:custGeom>
          <a:solidFill>
            <a:srgbClr val="4A6C8C"/>
          </a:solidFill>
          <a:ln/>
        </p:spPr>
      </p:sp>
      <p:sp>
        <p:nvSpPr>
          <p:cNvPr id="21" name="Text 18"/>
          <p:cNvSpPr/>
          <p:nvPr/>
        </p:nvSpPr>
        <p:spPr>
          <a:xfrm>
            <a:off x="6862763" y="1571625"/>
            <a:ext cx="2133600"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Lifetime Value Stats</a:t>
            </a:r>
            <a:endParaRPr lang="en-US" sz="1600" dirty="0"/>
          </a:p>
        </p:txBody>
      </p:sp>
      <p:sp>
        <p:nvSpPr>
          <p:cNvPr id="22" name="Shape 19"/>
          <p:cNvSpPr/>
          <p:nvPr/>
        </p:nvSpPr>
        <p:spPr>
          <a:xfrm>
            <a:off x="6391275" y="2209800"/>
            <a:ext cx="2552700" cy="723900"/>
          </a:xfrm>
          <a:custGeom>
            <a:avLst/>
            <a:gdLst/>
            <a:ahLst/>
            <a:cxnLst/>
            <a:rect l="l" t="t" r="r" b="b"/>
            <a:pathLst>
              <a:path w="2552700" h="723900">
                <a:moveTo>
                  <a:pt x="76198" y="0"/>
                </a:moveTo>
                <a:lnTo>
                  <a:pt x="2476502" y="0"/>
                </a:lnTo>
                <a:cubicBezTo>
                  <a:pt x="2518557" y="0"/>
                  <a:pt x="2552700" y="34143"/>
                  <a:pt x="2552700" y="76198"/>
                </a:cubicBezTo>
                <a:lnTo>
                  <a:pt x="2552700" y="647702"/>
                </a:lnTo>
                <a:cubicBezTo>
                  <a:pt x="2552700" y="689757"/>
                  <a:pt x="2518557" y="723900"/>
                  <a:pt x="2476502" y="723900"/>
                </a:cubicBezTo>
                <a:lnTo>
                  <a:pt x="76198" y="723900"/>
                </a:lnTo>
                <a:cubicBezTo>
                  <a:pt x="34143" y="723900"/>
                  <a:pt x="0" y="689757"/>
                  <a:pt x="0" y="647702"/>
                </a:cubicBezTo>
                <a:lnTo>
                  <a:pt x="0" y="76198"/>
                </a:lnTo>
                <a:cubicBezTo>
                  <a:pt x="0" y="34143"/>
                  <a:pt x="34143" y="0"/>
                  <a:pt x="76198" y="0"/>
                </a:cubicBezTo>
                <a:close/>
              </a:path>
            </a:pathLst>
          </a:custGeom>
          <a:solidFill>
            <a:srgbClr val="1A1D21">
              <a:alpha val="60000"/>
            </a:srgbClr>
          </a:solidFill>
          <a:ln/>
        </p:spPr>
      </p:sp>
      <p:sp>
        <p:nvSpPr>
          <p:cNvPr id="23" name="Text 20"/>
          <p:cNvSpPr/>
          <p:nvPr/>
        </p:nvSpPr>
        <p:spPr>
          <a:xfrm>
            <a:off x="6472238" y="2324100"/>
            <a:ext cx="2390775"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Mean | Ortalama</a:t>
            </a:r>
            <a:endParaRPr lang="en-US" sz="1600" dirty="0"/>
          </a:p>
        </p:txBody>
      </p:sp>
      <p:sp>
        <p:nvSpPr>
          <p:cNvPr id="24" name="Text 21"/>
          <p:cNvSpPr/>
          <p:nvPr/>
        </p:nvSpPr>
        <p:spPr>
          <a:xfrm>
            <a:off x="6448425" y="2514600"/>
            <a:ext cx="2438400" cy="304800"/>
          </a:xfrm>
          <a:prstGeom prst="rect">
            <a:avLst/>
          </a:prstGeom>
          <a:noFill/>
          <a:ln/>
        </p:spPr>
        <p:txBody>
          <a:bodyPr wrap="square" lIns="0" tIns="0" rIns="0" bIns="0" rtlCol="0" anchor="ctr"/>
          <a:lstStyle/>
          <a:p>
            <a:pPr algn="ctr">
              <a:lnSpc>
                <a:spcPct val="110000"/>
              </a:lnSpc>
            </a:pPr>
            <a:r>
              <a:rPr lang="en-US" sz="1800" b="1" dirty="0">
                <a:solidFill>
                  <a:srgbClr val="D4A373"/>
                </a:solidFill>
                <a:latin typeface="Liter" pitchFamily="34" charset="0"/>
                <a:ea typeface="Liter" pitchFamily="34" charset="-122"/>
                <a:cs typeface="Liter" pitchFamily="34" charset="-120"/>
              </a:rPr>
              <a:t>€1,440</a:t>
            </a:r>
            <a:endParaRPr lang="en-US" sz="1600" dirty="0"/>
          </a:p>
        </p:txBody>
      </p:sp>
      <p:sp>
        <p:nvSpPr>
          <p:cNvPr id="25" name="Shape 22"/>
          <p:cNvSpPr/>
          <p:nvPr/>
        </p:nvSpPr>
        <p:spPr>
          <a:xfrm>
            <a:off x="9058275" y="2209800"/>
            <a:ext cx="2552700" cy="723900"/>
          </a:xfrm>
          <a:custGeom>
            <a:avLst/>
            <a:gdLst/>
            <a:ahLst/>
            <a:cxnLst/>
            <a:rect l="l" t="t" r="r" b="b"/>
            <a:pathLst>
              <a:path w="2552700" h="723900">
                <a:moveTo>
                  <a:pt x="76198" y="0"/>
                </a:moveTo>
                <a:lnTo>
                  <a:pt x="2476502" y="0"/>
                </a:lnTo>
                <a:cubicBezTo>
                  <a:pt x="2518557" y="0"/>
                  <a:pt x="2552700" y="34143"/>
                  <a:pt x="2552700" y="76198"/>
                </a:cubicBezTo>
                <a:lnTo>
                  <a:pt x="2552700" y="647702"/>
                </a:lnTo>
                <a:cubicBezTo>
                  <a:pt x="2552700" y="689757"/>
                  <a:pt x="2518557" y="723900"/>
                  <a:pt x="2476502" y="723900"/>
                </a:cubicBezTo>
                <a:lnTo>
                  <a:pt x="76198" y="723900"/>
                </a:lnTo>
                <a:cubicBezTo>
                  <a:pt x="34143" y="723900"/>
                  <a:pt x="0" y="689757"/>
                  <a:pt x="0" y="647702"/>
                </a:cubicBezTo>
                <a:lnTo>
                  <a:pt x="0" y="76198"/>
                </a:lnTo>
                <a:cubicBezTo>
                  <a:pt x="0" y="34143"/>
                  <a:pt x="34143" y="0"/>
                  <a:pt x="76198" y="0"/>
                </a:cubicBezTo>
                <a:close/>
              </a:path>
            </a:pathLst>
          </a:custGeom>
          <a:solidFill>
            <a:srgbClr val="1A1D21">
              <a:alpha val="60000"/>
            </a:srgbClr>
          </a:solidFill>
          <a:ln/>
        </p:spPr>
      </p:sp>
      <p:sp>
        <p:nvSpPr>
          <p:cNvPr id="26" name="Text 23"/>
          <p:cNvSpPr/>
          <p:nvPr/>
        </p:nvSpPr>
        <p:spPr>
          <a:xfrm>
            <a:off x="9139238" y="2324100"/>
            <a:ext cx="2390775"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Median | Medyan</a:t>
            </a:r>
            <a:endParaRPr lang="en-US" sz="1600" dirty="0"/>
          </a:p>
        </p:txBody>
      </p:sp>
      <p:sp>
        <p:nvSpPr>
          <p:cNvPr id="27" name="Text 24"/>
          <p:cNvSpPr/>
          <p:nvPr/>
        </p:nvSpPr>
        <p:spPr>
          <a:xfrm>
            <a:off x="9115425" y="2514600"/>
            <a:ext cx="2438400" cy="304800"/>
          </a:xfrm>
          <a:prstGeom prst="rect">
            <a:avLst/>
          </a:prstGeom>
          <a:noFill/>
          <a:ln/>
        </p:spPr>
        <p:txBody>
          <a:bodyPr wrap="square" lIns="0" tIns="0" rIns="0" bIns="0" rtlCol="0" anchor="ctr"/>
          <a:lstStyle/>
          <a:p>
            <a:pPr algn="ctr">
              <a:lnSpc>
                <a:spcPct val="110000"/>
              </a:lnSpc>
            </a:pPr>
            <a:r>
              <a:rPr lang="en-US" sz="1800" b="1" dirty="0">
                <a:solidFill>
                  <a:srgbClr val="4A6C8C"/>
                </a:solidFill>
                <a:latin typeface="Liter" pitchFamily="34" charset="0"/>
                <a:ea typeface="Liter" pitchFamily="34" charset="-122"/>
                <a:cs typeface="Liter" pitchFamily="34" charset="-120"/>
              </a:rPr>
              <a:t>€1,243</a:t>
            </a:r>
            <a:endParaRPr lang="en-US" sz="1600" dirty="0"/>
          </a:p>
        </p:txBody>
      </p:sp>
      <p:sp>
        <p:nvSpPr>
          <p:cNvPr id="28" name="Shape 25"/>
          <p:cNvSpPr/>
          <p:nvPr/>
        </p:nvSpPr>
        <p:spPr>
          <a:xfrm>
            <a:off x="6391275" y="3048000"/>
            <a:ext cx="2552700" cy="685800"/>
          </a:xfrm>
          <a:custGeom>
            <a:avLst/>
            <a:gdLst/>
            <a:ahLst/>
            <a:cxnLst/>
            <a:rect l="l" t="t" r="r" b="b"/>
            <a:pathLst>
              <a:path w="2552700" h="685800">
                <a:moveTo>
                  <a:pt x="76199" y="0"/>
                </a:moveTo>
                <a:lnTo>
                  <a:pt x="2476501" y="0"/>
                </a:lnTo>
                <a:cubicBezTo>
                  <a:pt x="2518584" y="0"/>
                  <a:pt x="2552700" y="34116"/>
                  <a:pt x="2552700" y="76199"/>
                </a:cubicBezTo>
                <a:lnTo>
                  <a:pt x="2552700" y="609601"/>
                </a:lnTo>
                <a:cubicBezTo>
                  <a:pt x="2552700" y="651684"/>
                  <a:pt x="2518584" y="685800"/>
                  <a:pt x="2476501"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alpha val="60000"/>
            </a:srgbClr>
          </a:solidFill>
          <a:ln/>
        </p:spPr>
      </p:sp>
      <p:sp>
        <p:nvSpPr>
          <p:cNvPr id="29" name="Text 26"/>
          <p:cNvSpPr/>
          <p:nvPr/>
        </p:nvSpPr>
        <p:spPr>
          <a:xfrm>
            <a:off x="6472238" y="3162300"/>
            <a:ext cx="2390775"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Min | Min</a:t>
            </a:r>
            <a:endParaRPr lang="en-US" sz="1600" dirty="0"/>
          </a:p>
        </p:txBody>
      </p:sp>
      <p:sp>
        <p:nvSpPr>
          <p:cNvPr id="30" name="Text 27"/>
          <p:cNvSpPr/>
          <p:nvPr/>
        </p:nvSpPr>
        <p:spPr>
          <a:xfrm>
            <a:off x="6457950" y="3352800"/>
            <a:ext cx="2419350" cy="266700"/>
          </a:xfrm>
          <a:prstGeom prst="rect">
            <a:avLst/>
          </a:prstGeom>
          <a:noFill/>
          <a:ln/>
        </p:spPr>
        <p:txBody>
          <a:bodyPr wrap="square" lIns="0" tIns="0" rIns="0" bIns="0" rtlCol="0" anchor="ctr"/>
          <a:lstStyle/>
          <a:p>
            <a:pPr algn="ctr">
              <a:lnSpc>
                <a:spcPct val="120000"/>
              </a:lnSpc>
            </a:pPr>
            <a:r>
              <a:rPr lang="en-US" sz="1500" b="1" dirty="0">
                <a:solidFill>
                  <a:srgbClr val="8D99AE"/>
                </a:solidFill>
                <a:latin typeface="Liter" pitchFamily="34" charset="0"/>
                <a:ea typeface="Liter" pitchFamily="34" charset="-122"/>
                <a:cs typeface="Liter" pitchFamily="34" charset="-120"/>
              </a:rPr>
              <a:t>€0</a:t>
            </a:r>
            <a:endParaRPr lang="en-US" sz="1600" dirty="0"/>
          </a:p>
        </p:txBody>
      </p:sp>
      <p:sp>
        <p:nvSpPr>
          <p:cNvPr id="31" name="Shape 28"/>
          <p:cNvSpPr/>
          <p:nvPr/>
        </p:nvSpPr>
        <p:spPr>
          <a:xfrm>
            <a:off x="9058275" y="3048000"/>
            <a:ext cx="2552700" cy="685800"/>
          </a:xfrm>
          <a:custGeom>
            <a:avLst/>
            <a:gdLst/>
            <a:ahLst/>
            <a:cxnLst/>
            <a:rect l="l" t="t" r="r" b="b"/>
            <a:pathLst>
              <a:path w="2552700" h="685800">
                <a:moveTo>
                  <a:pt x="76199" y="0"/>
                </a:moveTo>
                <a:lnTo>
                  <a:pt x="2476501" y="0"/>
                </a:lnTo>
                <a:cubicBezTo>
                  <a:pt x="2518584" y="0"/>
                  <a:pt x="2552700" y="34116"/>
                  <a:pt x="2552700" y="76199"/>
                </a:cubicBezTo>
                <a:lnTo>
                  <a:pt x="2552700" y="609601"/>
                </a:lnTo>
                <a:cubicBezTo>
                  <a:pt x="2552700" y="651684"/>
                  <a:pt x="2518584" y="685800"/>
                  <a:pt x="2476501"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alpha val="60000"/>
            </a:srgbClr>
          </a:solidFill>
          <a:ln/>
        </p:spPr>
      </p:sp>
      <p:sp>
        <p:nvSpPr>
          <p:cNvPr id="32" name="Text 29"/>
          <p:cNvSpPr/>
          <p:nvPr/>
        </p:nvSpPr>
        <p:spPr>
          <a:xfrm>
            <a:off x="9139238" y="3162300"/>
            <a:ext cx="2390775" cy="190500"/>
          </a:xfrm>
          <a:prstGeom prst="rect">
            <a:avLst/>
          </a:prstGeom>
          <a:noFill/>
          <a:ln/>
        </p:spPr>
        <p:txBody>
          <a:bodyPr wrap="square" lIns="0" tIns="0" rIns="0" bIns="0" rtlCol="0" anchor="ctr"/>
          <a:lstStyle/>
          <a:p>
            <a:pPr algn="ctr">
              <a:lnSpc>
                <a:spcPct val="120000"/>
              </a:lnSpc>
            </a:pPr>
            <a:r>
              <a:rPr lang="en-US" sz="1050" dirty="0">
                <a:solidFill>
                  <a:srgbClr val="8D99AE"/>
                </a:solidFill>
                <a:latin typeface="Liter" pitchFamily="34" charset="0"/>
                <a:ea typeface="Liter" pitchFamily="34" charset="-122"/>
                <a:cs typeface="Liter" pitchFamily="34" charset="-120"/>
              </a:rPr>
              <a:t>Max | Maks</a:t>
            </a:r>
            <a:endParaRPr lang="en-US" sz="1600" dirty="0"/>
          </a:p>
        </p:txBody>
      </p:sp>
      <p:sp>
        <p:nvSpPr>
          <p:cNvPr id="33" name="Text 30"/>
          <p:cNvSpPr/>
          <p:nvPr/>
        </p:nvSpPr>
        <p:spPr>
          <a:xfrm>
            <a:off x="9124950" y="3352800"/>
            <a:ext cx="2419350" cy="266700"/>
          </a:xfrm>
          <a:prstGeom prst="rect">
            <a:avLst/>
          </a:prstGeom>
          <a:noFill/>
          <a:ln/>
        </p:spPr>
        <p:txBody>
          <a:bodyPr wrap="square" lIns="0" tIns="0" rIns="0" bIns="0" rtlCol="0" anchor="ctr"/>
          <a:lstStyle/>
          <a:p>
            <a:pPr algn="ctr">
              <a:lnSpc>
                <a:spcPct val="120000"/>
              </a:lnSpc>
            </a:pPr>
            <a:r>
              <a:rPr lang="en-US" sz="1500" b="1" dirty="0">
                <a:solidFill>
                  <a:srgbClr val="D4A373"/>
                </a:solidFill>
                <a:latin typeface="Liter" pitchFamily="34" charset="0"/>
                <a:ea typeface="Liter" pitchFamily="34" charset="-122"/>
                <a:cs typeface="Liter" pitchFamily="34" charset="-120"/>
              </a:rPr>
              <a:t>€8,987</a:t>
            </a:r>
            <a:endParaRPr lang="en-US" sz="1600" dirty="0"/>
          </a:p>
        </p:txBody>
      </p:sp>
      <p:sp>
        <p:nvSpPr>
          <p:cNvPr id="34" name="Shape 31"/>
          <p:cNvSpPr/>
          <p:nvPr/>
        </p:nvSpPr>
        <p:spPr>
          <a:xfrm>
            <a:off x="6396038" y="3890962"/>
            <a:ext cx="5210175" cy="962025"/>
          </a:xfrm>
          <a:custGeom>
            <a:avLst/>
            <a:gdLst/>
            <a:ahLst/>
            <a:cxnLst/>
            <a:rect l="l" t="t" r="r" b="b"/>
            <a:pathLst>
              <a:path w="5210175" h="962025">
                <a:moveTo>
                  <a:pt x="76202" y="0"/>
                </a:moveTo>
                <a:lnTo>
                  <a:pt x="5133973" y="0"/>
                </a:lnTo>
                <a:cubicBezTo>
                  <a:pt x="5176030" y="0"/>
                  <a:pt x="5210175" y="34145"/>
                  <a:pt x="5210175" y="76202"/>
                </a:cubicBezTo>
                <a:lnTo>
                  <a:pt x="5210175" y="885823"/>
                </a:lnTo>
                <a:cubicBezTo>
                  <a:pt x="5210175" y="927880"/>
                  <a:pt x="5176030" y="962025"/>
                  <a:pt x="5133973" y="962025"/>
                </a:cubicBezTo>
                <a:lnTo>
                  <a:pt x="76202" y="962025"/>
                </a:lnTo>
                <a:cubicBezTo>
                  <a:pt x="34145" y="962025"/>
                  <a:pt x="0" y="927880"/>
                  <a:pt x="0" y="885823"/>
                </a:cubicBezTo>
                <a:lnTo>
                  <a:pt x="0" y="76202"/>
                </a:lnTo>
                <a:cubicBezTo>
                  <a:pt x="0" y="34145"/>
                  <a:pt x="34145" y="0"/>
                  <a:pt x="76202" y="0"/>
                </a:cubicBezTo>
                <a:close/>
              </a:path>
            </a:pathLst>
          </a:custGeom>
          <a:solidFill>
            <a:srgbClr val="D4A373">
              <a:alpha val="10196"/>
            </a:srgbClr>
          </a:solidFill>
          <a:ln w="12700">
            <a:solidFill>
              <a:srgbClr val="D4A373">
                <a:alpha val="30196"/>
              </a:srgbClr>
            </a:solidFill>
            <a:prstDash val="solid"/>
          </a:ln>
        </p:spPr>
      </p:sp>
      <p:sp>
        <p:nvSpPr>
          <p:cNvPr id="35" name="Text 32"/>
          <p:cNvSpPr/>
          <p:nvPr/>
        </p:nvSpPr>
        <p:spPr>
          <a:xfrm>
            <a:off x="6515100" y="4010025"/>
            <a:ext cx="50387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Std Dev | Standart Sapma</a:t>
            </a:r>
            <a:endParaRPr lang="en-US" sz="1600" dirty="0"/>
          </a:p>
        </p:txBody>
      </p:sp>
      <p:sp>
        <p:nvSpPr>
          <p:cNvPr id="36" name="Text 33"/>
          <p:cNvSpPr/>
          <p:nvPr/>
        </p:nvSpPr>
        <p:spPr>
          <a:xfrm>
            <a:off x="6515100" y="4238625"/>
            <a:ext cx="5067300"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€907</a:t>
            </a:r>
            <a:endParaRPr lang="en-US" sz="1600" dirty="0"/>
          </a:p>
        </p:txBody>
      </p:sp>
      <p:sp>
        <p:nvSpPr>
          <p:cNvPr id="37" name="Text 34"/>
          <p:cNvSpPr/>
          <p:nvPr/>
        </p:nvSpPr>
        <p:spPr>
          <a:xfrm>
            <a:off x="6515100" y="4543425"/>
            <a:ext cx="50387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Right-skewed with outliers → Age &gt; 100 removed</a:t>
            </a:r>
            <a:endParaRPr lang="en-US" sz="1600" dirty="0"/>
          </a:p>
        </p:txBody>
      </p:sp>
      <p:sp>
        <p:nvSpPr>
          <p:cNvPr id="38" name="Shape 35"/>
          <p:cNvSpPr/>
          <p:nvPr/>
        </p:nvSpPr>
        <p:spPr>
          <a:xfrm>
            <a:off x="385763" y="5395913"/>
            <a:ext cx="11420475" cy="1304925"/>
          </a:xfrm>
          <a:custGeom>
            <a:avLst/>
            <a:gdLst/>
            <a:ahLst/>
            <a:cxnLst/>
            <a:rect l="l" t="t" r="r" b="b"/>
            <a:pathLst>
              <a:path w="11420475" h="1304925">
                <a:moveTo>
                  <a:pt x="114298" y="0"/>
                </a:moveTo>
                <a:lnTo>
                  <a:pt x="11306177" y="0"/>
                </a:lnTo>
                <a:cubicBezTo>
                  <a:pt x="11369302" y="0"/>
                  <a:pt x="11420475" y="51173"/>
                  <a:pt x="11420475" y="114298"/>
                </a:cubicBezTo>
                <a:lnTo>
                  <a:pt x="11420475" y="1190627"/>
                </a:lnTo>
                <a:cubicBezTo>
                  <a:pt x="11420475" y="1253752"/>
                  <a:pt x="11369302" y="1304925"/>
                  <a:pt x="11306177" y="1304925"/>
                </a:cubicBezTo>
                <a:lnTo>
                  <a:pt x="114298" y="1304925"/>
                </a:lnTo>
                <a:cubicBezTo>
                  <a:pt x="51173" y="1304925"/>
                  <a:pt x="0" y="1253752"/>
                  <a:pt x="0" y="1190627"/>
                </a:cubicBezTo>
                <a:lnTo>
                  <a:pt x="0" y="114298"/>
                </a:lnTo>
                <a:cubicBezTo>
                  <a:pt x="0" y="51215"/>
                  <a:pt x="51215" y="0"/>
                  <a:pt x="114298" y="0"/>
                </a:cubicBezTo>
                <a:close/>
              </a:path>
            </a:pathLst>
          </a:custGeom>
          <a:gradFill rotWithShape="1" flip="none">
            <a:gsLst>
              <a:gs pos="0">
                <a:srgbClr val="D4A373">
                  <a:alpha val="20000"/>
                </a:srgbClr>
              </a:gs>
              <a:gs pos="100000">
                <a:srgbClr val="4A6C8C">
                  <a:alpha val="20000"/>
                </a:srgbClr>
              </a:gs>
            </a:gsLst>
            <a:lin ang="0" scaled="1"/>
          </a:gradFill>
          <a:ln w="12700">
            <a:solidFill>
              <a:srgbClr val="D4A373">
                <a:alpha val="40000"/>
              </a:srgbClr>
            </a:solidFill>
            <a:prstDash val="solid"/>
          </a:ln>
        </p:spPr>
      </p:sp>
      <p:sp>
        <p:nvSpPr>
          <p:cNvPr id="39" name="Shape 36"/>
          <p:cNvSpPr/>
          <p:nvPr/>
        </p:nvSpPr>
        <p:spPr>
          <a:xfrm>
            <a:off x="581025" y="5591175"/>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42875" y="75902"/>
                </a:moveTo>
                <a:cubicBezTo>
                  <a:pt x="150298" y="75902"/>
                  <a:pt x="156270" y="81874"/>
                  <a:pt x="156270" y="89297"/>
                </a:cubicBezTo>
                <a:lnTo>
                  <a:pt x="156270" y="151805"/>
                </a:lnTo>
                <a:cubicBezTo>
                  <a:pt x="156270" y="159227"/>
                  <a:pt x="150298" y="165199"/>
                  <a:pt x="142875" y="165199"/>
                </a:cubicBezTo>
                <a:cubicBezTo>
                  <a:pt x="135452" y="165199"/>
                  <a:pt x="129480" y="159227"/>
                  <a:pt x="129480" y="151805"/>
                </a:cubicBezTo>
                <a:lnTo>
                  <a:pt x="129480" y="89297"/>
                </a:lnTo>
                <a:cubicBezTo>
                  <a:pt x="129480" y="81874"/>
                  <a:pt x="135452" y="75902"/>
                  <a:pt x="142875" y="75902"/>
                </a:cubicBezTo>
                <a:close/>
                <a:moveTo>
                  <a:pt x="127974" y="196453"/>
                </a:moveTo>
                <a:cubicBezTo>
                  <a:pt x="127635" y="190922"/>
                  <a:pt x="130393" y="185659"/>
                  <a:pt x="135135" y="182791"/>
                </a:cubicBezTo>
                <a:cubicBezTo>
                  <a:pt x="139876" y="179923"/>
                  <a:pt x="145818" y="179923"/>
                  <a:pt x="150560" y="182791"/>
                </a:cubicBezTo>
                <a:cubicBezTo>
                  <a:pt x="155301" y="185659"/>
                  <a:pt x="158060" y="190922"/>
                  <a:pt x="157721" y="196453"/>
                </a:cubicBezTo>
                <a:cubicBezTo>
                  <a:pt x="158060" y="201984"/>
                  <a:pt x="155301" y="207247"/>
                  <a:pt x="150560" y="210115"/>
                </a:cubicBezTo>
                <a:cubicBezTo>
                  <a:pt x="145818" y="212983"/>
                  <a:pt x="139876" y="212983"/>
                  <a:pt x="135135" y="210115"/>
                </a:cubicBezTo>
                <a:cubicBezTo>
                  <a:pt x="130393" y="207247"/>
                  <a:pt x="127635" y="201984"/>
                  <a:pt x="127974" y="196453"/>
                </a:cubicBezTo>
                <a:close/>
              </a:path>
            </a:pathLst>
          </a:custGeom>
          <a:solidFill>
            <a:srgbClr val="D4A373"/>
          </a:solidFill>
          <a:ln/>
        </p:spPr>
      </p:sp>
      <p:sp>
        <p:nvSpPr>
          <p:cNvPr id="40" name="Text 37"/>
          <p:cNvSpPr/>
          <p:nvPr/>
        </p:nvSpPr>
        <p:spPr>
          <a:xfrm>
            <a:off x="1052513" y="5553075"/>
            <a:ext cx="5276850" cy="990600"/>
          </a:xfrm>
          <a:prstGeom prst="rect">
            <a:avLst/>
          </a:prstGeom>
          <a:noFill/>
          <a:ln/>
        </p:spPr>
        <p:txBody>
          <a:bodyPr wrap="square" lIns="0" tIns="0" rIns="0" bIns="0" rtlCol="0" anchor="ctr"/>
          <a:lstStyle/>
          <a:p>
            <a:pPr>
              <a:lnSpc>
                <a:spcPct val="140000"/>
              </a:lnSpc>
            </a:pPr>
            <a:r>
              <a:rPr lang="en-US" sz="1200" b="1" dirty="0">
                <a:solidFill>
                  <a:srgbClr val="EDF2F4"/>
                </a:solidFill>
                <a:latin typeface="Liter" pitchFamily="34" charset="0"/>
                <a:ea typeface="Liter" pitchFamily="34" charset="-122"/>
                <a:cs typeface="Liter" pitchFamily="34" charset="-120"/>
              </a:rPr>
              <a:t>Class Imbalance Issue:</a:t>
            </a:r>
            <a:pPr>
              <a:lnSpc>
                <a:spcPct val="140000"/>
              </a:lnSpc>
            </a:pPr>
            <a:r>
              <a:rPr lang="en-US" sz="1200" dirty="0">
                <a:solidFill>
                  <a:srgbClr val="EDF2F4"/>
                </a:solidFill>
                <a:latin typeface="Liter" pitchFamily="34" charset="0"/>
                <a:ea typeface="Liter" pitchFamily="34" charset="-122"/>
                <a:cs typeface="Liter" pitchFamily="34" charset="-120"/>
              </a:rPr>
              <a:t> If we ignored this imbalance, the model could become lazy and predict "not churned" for everyone, achieving 71% accuracy — but this would be a useless model. We addressed this by informing the models about the imbalance using </a:t>
            </a:r>
            <a:pPr>
              <a:lnSpc>
                <a:spcPct val="140000"/>
              </a:lnSpc>
            </a:pPr>
            <a:r>
              <a:rPr lang="en-US" sz="1200" b="1" dirty="0">
                <a:solidFill>
                  <a:srgbClr val="D4A373"/>
                </a:solidFill>
                <a:latin typeface="Liter" pitchFamily="34" charset="0"/>
                <a:ea typeface="Liter" pitchFamily="34" charset="-122"/>
                <a:cs typeface="Liter" pitchFamily="34" charset="-120"/>
              </a:rPr>
              <a:t>class_weight='balanced'</a:t>
            </a:r>
            <a:pPr>
              <a:lnSpc>
                <a:spcPct val="140000"/>
              </a:lnSpc>
            </a:pPr>
            <a:r>
              <a:rPr lang="en-US" sz="1200" dirty="0">
                <a:solidFill>
                  <a:srgbClr val="EDF2F4"/>
                </a:solidFill>
                <a:latin typeface="Liter" pitchFamily="34" charset="0"/>
                <a:ea typeface="Liter" pitchFamily="34" charset="-122"/>
                <a:cs typeface="Liter" pitchFamily="34" charset="-120"/>
              </a:rPr>
              <a:t>.</a:t>
            </a:r>
            <a:endParaRPr lang="en-US" sz="1600" dirty="0"/>
          </a:p>
        </p:txBody>
      </p:sp>
      <p:sp>
        <p:nvSpPr>
          <p:cNvPr id="41" name="Text 38"/>
          <p:cNvSpPr/>
          <p:nvPr/>
        </p:nvSpPr>
        <p:spPr>
          <a:xfrm>
            <a:off x="6446044" y="5553075"/>
            <a:ext cx="5276850" cy="990600"/>
          </a:xfrm>
          <a:prstGeom prst="rect">
            <a:avLst/>
          </a:prstGeom>
          <a:noFill/>
          <a:ln/>
        </p:spPr>
        <p:txBody>
          <a:bodyPr wrap="square" lIns="0" tIns="0" rIns="0" bIns="0" rtlCol="0" anchor="ctr"/>
          <a:lstStyle/>
          <a:p>
            <a:pPr>
              <a:lnSpc>
                <a:spcPct val="140000"/>
              </a:lnSpc>
            </a:pPr>
            <a:r>
              <a:rPr lang="en-US" sz="1200" b="1" dirty="0">
                <a:solidFill>
                  <a:srgbClr val="EDF2F4"/>
                </a:solidFill>
                <a:latin typeface="Liter" pitchFamily="34" charset="0"/>
                <a:ea typeface="Liter" pitchFamily="34" charset="-122"/>
                <a:cs typeface="Liter" pitchFamily="34" charset="-120"/>
              </a:rPr>
              <a:t>Sınıf Dengesizliği Sorunu:</a:t>
            </a:r>
            <a:pPr>
              <a:lnSpc>
                <a:spcPct val="140000"/>
              </a:lnSpc>
            </a:pPr>
            <a:r>
              <a:rPr lang="en-US" sz="1200" dirty="0">
                <a:solidFill>
                  <a:srgbClr val="EDF2F4"/>
                </a:solidFill>
                <a:latin typeface="Liter" pitchFamily="34" charset="0"/>
                <a:ea typeface="Liter" pitchFamily="34" charset="-122"/>
                <a:cs typeface="Liter" pitchFamily="34" charset="-120"/>
              </a:rPr>
              <a:t> Bu dengesizliği görmezden gelseydik model tembelleşip herkese "kalmış" diyebilirdi ve %71 doğruluk oranı elde ederdi — ama bu işe yaramaz bir model olurdu. Bunu önlemek için </a:t>
            </a:r>
            <a:pPr>
              <a:lnSpc>
                <a:spcPct val="140000"/>
              </a:lnSpc>
            </a:pPr>
            <a:r>
              <a:rPr lang="en-US" sz="1200" b="1" dirty="0">
                <a:solidFill>
                  <a:srgbClr val="D4A373"/>
                </a:solidFill>
                <a:latin typeface="Liter" pitchFamily="34" charset="0"/>
                <a:ea typeface="Liter" pitchFamily="34" charset="-122"/>
                <a:cs typeface="Liter" pitchFamily="34" charset="-120"/>
              </a:rPr>
              <a:t>class_weight='balanced'</a:t>
            </a:r>
            <a:pPr>
              <a:lnSpc>
                <a:spcPct val="140000"/>
              </a:lnSpc>
            </a:pPr>
            <a:r>
              <a:rPr lang="en-US" sz="1200" dirty="0">
                <a:solidFill>
                  <a:srgbClr val="EDF2F4"/>
                </a:solidFill>
                <a:latin typeface="Liter" pitchFamily="34" charset="0"/>
                <a:ea typeface="Liter" pitchFamily="34" charset="-122"/>
                <a:cs typeface="Liter" pitchFamily="34" charset="-120"/>
              </a:rPr>
              <a:t> kullanarak modellere dengesizliği söyledik.</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4A6C8C"/>
          </a:solidFill>
          <a:ln/>
        </p:spPr>
      </p:sp>
      <p:sp>
        <p:nvSpPr>
          <p:cNvPr id="3" name="Text 1"/>
          <p:cNvSpPr/>
          <p:nvPr/>
        </p:nvSpPr>
        <p:spPr>
          <a:xfrm>
            <a:off x="476250" y="349250"/>
            <a:ext cx="2103438" cy="317500"/>
          </a:xfrm>
          <a:prstGeom prst="rect">
            <a:avLst/>
          </a:prstGeom>
          <a:noFill/>
          <a:ln/>
        </p:spPr>
        <p:txBody>
          <a:bodyPr wrap="square" lIns="0" tIns="0" rIns="0" bIns="0" rtlCol="0" anchor="ctr"/>
          <a:lstStyle/>
          <a:p>
            <a:pPr>
              <a:lnSpc>
                <a:spcPct val="90000"/>
              </a:lnSpc>
            </a:pPr>
            <a:r>
              <a:rPr lang="en-US" sz="2250" b="1" dirty="0">
                <a:solidFill>
                  <a:srgbClr val="EDF2F4"/>
                </a:solidFill>
                <a:latin typeface="Liter" pitchFamily="34" charset="0"/>
                <a:ea typeface="Liter" pitchFamily="34" charset="-122"/>
                <a:cs typeface="Liter" pitchFamily="34" charset="-120"/>
              </a:rPr>
              <a:t>Why 3 Models?</a:t>
            </a:r>
            <a:endParaRPr lang="en-US" sz="1600" dirty="0"/>
          </a:p>
        </p:txBody>
      </p:sp>
      <p:sp>
        <p:nvSpPr>
          <p:cNvPr id="4" name="Text 2"/>
          <p:cNvSpPr/>
          <p:nvPr/>
        </p:nvSpPr>
        <p:spPr>
          <a:xfrm>
            <a:off x="476250" y="762000"/>
            <a:ext cx="11493500" cy="254000"/>
          </a:xfrm>
          <a:prstGeom prst="rect">
            <a:avLst/>
          </a:prstGeom>
          <a:noFill/>
          <a:ln/>
        </p:spPr>
        <p:txBody>
          <a:bodyPr wrap="square" lIns="0" tIns="0" rIns="0" bIns="0" rtlCol="0" anchor="ctr"/>
          <a:lstStyle/>
          <a:p>
            <a:pPr>
              <a:lnSpc>
                <a:spcPct val="110000"/>
              </a:lnSpc>
            </a:pPr>
            <a:r>
              <a:rPr lang="en-US" sz="1500" dirty="0">
                <a:solidFill>
                  <a:srgbClr val="8D99AE"/>
                </a:solidFill>
                <a:latin typeface="Liter" pitchFamily="34" charset="0"/>
                <a:ea typeface="Liter" pitchFamily="34" charset="-122"/>
                <a:cs typeface="Liter" pitchFamily="34" charset="-120"/>
              </a:rPr>
              <a:t>Neden 3 Model?</a:t>
            </a:r>
            <a:endParaRPr lang="en-US" sz="1600" dirty="0"/>
          </a:p>
        </p:txBody>
      </p:sp>
      <p:sp>
        <p:nvSpPr>
          <p:cNvPr id="5" name="Shape 3"/>
          <p:cNvSpPr/>
          <p:nvPr/>
        </p:nvSpPr>
        <p:spPr>
          <a:xfrm>
            <a:off x="321469" y="1146969"/>
            <a:ext cx="11549063" cy="1357313"/>
          </a:xfrm>
          <a:custGeom>
            <a:avLst/>
            <a:gdLst/>
            <a:ahLst/>
            <a:cxnLst/>
            <a:rect l="l" t="t" r="r" b="b"/>
            <a:pathLst>
              <a:path w="11549063" h="1357313">
                <a:moveTo>
                  <a:pt x="95256" y="0"/>
                </a:moveTo>
                <a:lnTo>
                  <a:pt x="11453806" y="0"/>
                </a:lnTo>
                <a:cubicBezTo>
                  <a:pt x="11506415" y="0"/>
                  <a:pt x="11549063" y="42648"/>
                  <a:pt x="11549063" y="95256"/>
                </a:cubicBezTo>
                <a:lnTo>
                  <a:pt x="11549063" y="1262056"/>
                </a:lnTo>
                <a:cubicBezTo>
                  <a:pt x="11549063" y="1314665"/>
                  <a:pt x="11506415" y="1357312"/>
                  <a:pt x="11453806" y="1357313"/>
                </a:cubicBezTo>
                <a:lnTo>
                  <a:pt x="95256" y="1357313"/>
                </a:lnTo>
                <a:cubicBezTo>
                  <a:pt x="42648" y="1357313"/>
                  <a:pt x="0" y="1314665"/>
                  <a:pt x="0" y="1262056"/>
                </a:cubicBezTo>
                <a:lnTo>
                  <a:pt x="0" y="95256"/>
                </a:lnTo>
                <a:cubicBezTo>
                  <a:pt x="0" y="42683"/>
                  <a:pt x="42683" y="0"/>
                  <a:pt x="95256" y="0"/>
                </a:cubicBezTo>
                <a:close/>
              </a:path>
            </a:pathLst>
          </a:custGeom>
          <a:gradFill rotWithShape="1" flip="none">
            <a:gsLst>
              <a:gs pos="0">
                <a:srgbClr val="D4A373">
                  <a:alpha val="20000"/>
                </a:srgbClr>
              </a:gs>
              <a:gs pos="100000">
                <a:srgbClr val="1A1D21">
                  <a:alpha val="40000"/>
                </a:srgbClr>
              </a:gs>
            </a:gsLst>
            <a:lin ang="2700000" scaled="1"/>
          </a:gradFill>
          <a:ln w="12700">
            <a:solidFill>
              <a:srgbClr val="D4A373">
                <a:alpha val="40000"/>
              </a:srgbClr>
            </a:solidFill>
            <a:prstDash val="solid"/>
          </a:ln>
        </p:spPr>
      </p:sp>
      <p:sp>
        <p:nvSpPr>
          <p:cNvPr id="6" name="Shape 4"/>
          <p:cNvSpPr/>
          <p:nvPr/>
        </p:nvSpPr>
        <p:spPr>
          <a:xfrm>
            <a:off x="555625" y="1341438"/>
            <a:ext cx="214313" cy="285750"/>
          </a:xfrm>
          <a:custGeom>
            <a:avLst/>
            <a:gdLst/>
            <a:ahLst/>
            <a:cxnLst/>
            <a:rect l="l" t="t" r="r" b="b"/>
            <a:pathLst>
              <a:path w="214313" h="285750">
                <a:moveTo>
                  <a:pt x="163469" y="214313"/>
                </a:moveTo>
                <a:cubicBezTo>
                  <a:pt x="167543" y="201867"/>
                  <a:pt x="175692" y="190593"/>
                  <a:pt x="184900" y="180882"/>
                </a:cubicBezTo>
                <a:cubicBezTo>
                  <a:pt x="203150" y="161683"/>
                  <a:pt x="214312" y="135731"/>
                  <a:pt x="214312" y="107156"/>
                </a:cubicBezTo>
                <a:cubicBezTo>
                  <a:pt x="214312" y="47997"/>
                  <a:pt x="166315" y="0"/>
                  <a:pt x="107156" y="0"/>
                </a:cubicBezTo>
                <a:cubicBezTo>
                  <a:pt x="47997" y="0"/>
                  <a:pt x="0" y="47997"/>
                  <a:pt x="0" y="107156"/>
                </a:cubicBezTo>
                <a:cubicBezTo>
                  <a:pt x="0" y="135731"/>
                  <a:pt x="11162" y="161683"/>
                  <a:pt x="29412" y="180882"/>
                </a:cubicBezTo>
                <a:cubicBezTo>
                  <a:pt x="38621" y="190593"/>
                  <a:pt x="46825" y="201867"/>
                  <a:pt x="50843" y="214313"/>
                </a:cubicBezTo>
                <a:lnTo>
                  <a:pt x="163413" y="214313"/>
                </a:lnTo>
                <a:close/>
                <a:moveTo>
                  <a:pt x="160734" y="241102"/>
                </a:moveTo>
                <a:lnTo>
                  <a:pt x="53578" y="241102"/>
                </a:lnTo>
                <a:lnTo>
                  <a:pt x="53578" y="250031"/>
                </a:lnTo>
                <a:cubicBezTo>
                  <a:pt x="53578" y="274700"/>
                  <a:pt x="73558" y="294680"/>
                  <a:pt x="98227" y="294680"/>
                </a:cubicBezTo>
                <a:lnTo>
                  <a:pt x="116086" y="294680"/>
                </a:lnTo>
                <a:cubicBezTo>
                  <a:pt x="140754" y="294680"/>
                  <a:pt x="160734" y="274700"/>
                  <a:pt x="160734" y="250031"/>
                </a:cubicBezTo>
                <a:lnTo>
                  <a:pt x="160734" y="241102"/>
                </a:lnTo>
                <a:close/>
                <a:moveTo>
                  <a:pt x="102691" y="62508"/>
                </a:moveTo>
                <a:cubicBezTo>
                  <a:pt x="80479" y="62508"/>
                  <a:pt x="62508" y="80479"/>
                  <a:pt x="62508" y="102691"/>
                </a:cubicBezTo>
                <a:cubicBezTo>
                  <a:pt x="62508" y="110114"/>
                  <a:pt x="56536"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6"/>
                  <a:pt x="110114" y="62508"/>
                  <a:pt x="102691" y="62508"/>
                </a:cubicBezTo>
                <a:close/>
              </a:path>
            </a:pathLst>
          </a:custGeom>
          <a:solidFill>
            <a:srgbClr val="D4A373"/>
          </a:solidFill>
          <a:ln/>
        </p:spPr>
      </p:sp>
      <p:sp>
        <p:nvSpPr>
          <p:cNvPr id="7" name="Text 5"/>
          <p:cNvSpPr/>
          <p:nvPr/>
        </p:nvSpPr>
        <p:spPr>
          <a:xfrm>
            <a:off x="968375" y="1309688"/>
            <a:ext cx="5373688" cy="1031875"/>
          </a:xfrm>
          <a:prstGeom prst="rect">
            <a:avLst/>
          </a:prstGeom>
          <a:noFill/>
          <a:ln/>
        </p:spPr>
        <p:txBody>
          <a:bodyPr wrap="square" lIns="0" tIns="0" rIns="0" bIns="0" rtlCol="0" anchor="ctr"/>
          <a:lstStyle/>
          <a:p>
            <a:pPr>
              <a:lnSpc>
                <a:spcPct val="140000"/>
              </a:lnSpc>
            </a:pPr>
            <a:r>
              <a:rPr lang="en-US" sz="1250" b="1" dirty="0">
                <a:solidFill>
                  <a:srgbClr val="EDF2F4"/>
                </a:solidFill>
                <a:latin typeface="Liter" pitchFamily="34" charset="0"/>
                <a:ea typeface="Liter" pitchFamily="34" charset="-122"/>
                <a:cs typeface="Liter" pitchFamily="34" charset="-120"/>
              </a:rPr>
              <a:t>Rationale:</a:t>
            </a:r>
            <a:pPr>
              <a:lnSpc>
                <a:spcPct val="140000"/>
              </a:lnSpc>
            </a:pPr>
            <a:r>
              <a:rPr lang="en-US" sz="1250" dirty="0">
                <a:solidFill>
                  <a:srgbClr val="EDF2F4"/>
                </a:solidFill>
                <a:latin typeface="Liter" pitchFamily="34" charset="0"/>
                <a:ea typeface="Liter" pitchFamily="34" charset="-122"/>
                <a:cs typeface="Liter" pitchFamily="34" charset="-120"/>
              </a:rPr>
              <a:t> Making a decision with a single model is not correct. We compared a simple model, a medium-complexity model, and an advanced model — this way, we could see which one truly works best for this specific data.</a:t>
            </a:r>
            <a:endParaRPr lang="en-US" sz="1600" dirty="0"/>
          </a:p>
        </p:txBody>
      </p:sp>
      <p:sp>
        <p:nvSpPr>
          <p:cNvPr id="8" name="Text 6"/>
          <p:cNvSpPr/>
          <p:nvPr/>
        </p:nvSpPr>
        <p:spPr>
          <a:xfrm>
            <a:off x="6417469" y="1309688"/>
            <a:ext cx="5373688" cy="777875"/>
          </a:xfrm>
          <a:prstGeom prst="rect">
            <a:avLst/>
          </a:prstGeom>
          <a:noFill/>
          <a:ln/>
        </p:spPr>
        <p:txBody>
          <a:bodyPr wrap="square" lIns="0" tIns="0" rIns="0" bIns="0" rtlCol="0" anchor="ctr"/>
          <a:lstStyle/>
          <a:p>
            <a:pPr>
              <a:lnSpc>
                <a:spcPct val="140000"/>
              </a:lnSpc>
            </a:pPr>
            <a:r>
              <a:rPr lang="en-US" sz="1250" b="1" dirty="0">
                <a:solidFill>
                  <a:srgbClr val="EDF2F4"/>
                </a:solidFill>
                <a:latin typeface="Liter" pitchFamily="34" charset="0"/>
                <a:ea typeface="Liter" pitchFamily="34" charset="-122"/>
                <a:cs typeface="Liter" pitchFamily="34" charset="-120"/>
              </a:rPr>
              <a:t>Gerekçe:</a:t>
            </a:r>
            <a:pPr>
              <a:lnSpc>
                <a:spcPct val="140000"/>
              </a:lnSpc>
            </a:pPr>
            <a:r>
              <a:rPr lang="en-US" sz="1250" dirty="0">
                <a:solidFill>
                  <a:srgbClr val="EDF2F4"/>
                </a:solidFill>
                <a:latin typeface="Liter" pitchFamily="34" charset="0"/>
                <a:ea typeface="Liter" pitchFamily="34" charset="-122"/>
                <a:cs typeface="Liter" pitchFamily="34" charset="-120"/>
              </a:rPr>
              <a:t> Bir modelle karar vermek doğru değil. Basit bir model, orta karmaşıklıkta bir model ve gelişmiş bir model karşılaştırdık — böylece hangisinin bu veri için gerçekten işe yaradığını görebildik.</a:t>
            </a:r>
            <a:endParaRPr lang="en-US" sz="1600" dirty="0"/>
          </a:p>
        </p:txBody>
      </p:sp>
      <p:sp>
        <p:nvSpPr>
          <p:cNvPr id="9" name="Shape 7"/>
          <p:cNvSpPr/>
          <p:nvPr/>
        </p:nvSpPr>
        <p:spPr>
          <a:xfrm>
            <a:off x="321469" y="2639219"/>
            <a:ext cx="3738563" cy="3690937"/>
          </a:xfrm>
          <a:custGeom>
            <a:avLst/>
            <a:gdLst/>
            <a:ahLst/>
            <a:cxnLst/>
            <a:rect l="l" t="t" r="r" b="b"/>
            <a:pathLst>
              <a:path w="3738563" h="3690937">
                <a:moveTo>
                  <a:pt x="95263" y="0"/>
                </a:moveTo>
                <a:lnTo>
                  <a:pt x="3643299" y="0"/>
                </a:lnTo>
                <a:cubicBezTo>
                  <a:pt x="3695912" y="0"/>
                  <a:pt x="3738563" y="42651"/>
                  <a:pt x="3738563" y="95263"/>
                </a:cubicBezTo>
                <a:lnTo>
                  <a:pt x="3738563" y="3595674"/>
                </a:lnTo>
                <a:cubicBezTo>
                  <a:pt x="3738563" y="3648287"/>
                  <a:pt x="3695912" y="3690937"/>
                  <a:pt x="3643299" y="3690937"/>
                </a:cubicBezTo>
                <a:lnTo>
                  <a:pt x="95263" y="3690937"/>
                </a:lnTo>
                <a:cubicBezTo>
                  <a:pt x="42651" y="3690937"/>
                  <a:pt x="0" y="3648287"/>
                  <a:pt x="0" y="3595674"/>
                </a:cubicBezTo>
                <a:lnTo>
                  <a:pt x="0" y="95263"/>
                </a:lnTo>
                <a:cubicBezTo>
                  <a:pt x="0" y="42651"/>
                  <a:pt x="42651" y="0"/>
                  <a:pt x="95263" y="0"/>
                </a:cubicBezTo>
                <a:close/>
              </a:path>
            </a:pathLst>
          </a:custGeom>
          <a:gradFill rotWithShape="1" flip="none">
            <a:gsLst>
              <a:gs pos="0">
                <a:srgbClr val="4A6C8C">
                  <a:alpha val="20000"/>
                </a:srgbClr>
              </a:gs>
              <a:gs pos="100000">
                <a:srgbClr val="1A1D21">
                  <a:alpha val="40000"/>
                </a:srgbClr>
              </a:gs>
            </a:gsLst>
            <a:lin ang="2700000" scaled="1"/>
          </a:gradFill>
          <a:ln w="12700">
            <a:solidFill>
              <a:srgbClr val="4A6C8C">
                <a:alpha val="50196"/>
              </a:srgbClr>
            </a:solidFill>
            <a:prstDash val="solid"/>
          </a:ln>
        </p:spPr>
      </p:sp>
      <p:sp>
        <p:nvSpPr>
          <p:cNvPr id="10" name="Shape 8"/>
          <p:cNvSpPr/>
          <p:nvPr/>
        </p:nvSpPr>
        <p:spPr>
          <a:xfrm>
            <a:off x="1936750" y="2801938"/>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A6C8C">
              <a:alpha val="30196"/>
            </a:srgbClr>
          </a:solidFill>
          <a:ln/>
        </p:spPr>
      </p:sp>
      <p:sp>
        <p:nvSpPr>
          <p:cNvPr id="11" name="Shape 9"/>
          <p:cNvSpPr/>
          <p:nvPr/>
        </p:nvSpPr>
        <p:spPr>
          <a:xfrm>
            <a:off x="2073672" y="2936875"/>
            <a:ext cx="238125" cy="238125"/>
          </a:xfrm>
          <a:custGeom>
            <a:avLst/>
            <a:gdLst/>
            <a:ahLst/>
            <a:cxnLst/>
            <a:rect l="l" t="t" r="r" b="b"/>
            <a:pathLst>
              <a:path w="238125" h="238125">
                <a:moveTo>
                  <a:pt x="221056" y="47"/>
                </a:moveTo>
                <a:cubicBezTo>
                  <a:pt x="225661" y="-326"/>
                  <a:pt x="230172" y="1442"/>
                  <a:pt x="233428" y="4697"/>
                </a:cubicBezTo>
                <a:cubicBezTo>
                  <a:pt x="236683" y="7953"/>
                  <a:pt x="238451" y="12464"/>
                  <a:pt x="238078" y="17069"/>
                </a:cubicBezTo>
                <a:cubicBezTo>
                  <a:pt x="236218" y="39998"/>
                  <a:pt x="229986" y="75763"/>
                  <a:pt x="216545" y="109947"/>
                </a:cubicBezTo>
                <a:cubicBezTo>
                  <a:pt x="215708" y="112040"/>
                  <a:pt x="213987" y="113621"/>
                  <a:pt x="211801" y="114272"/>
                </a:cubicBezTo>
                <a:lnTo>
                  <a:pt x="174175" y="125574"/>
                </a:lnTo>
                <a:cubicBezTo>
                  <a:pt x="172362" y="126132"/>
                  <a:pt x="171152" y="127760"/>
                  <a:pt x="171152" y="129667"/>
                </a:cubicBezTo>
                <a:cubicBezTo>
                  <a:pt x="171152" y="132038"/>
                  <a:pt x="173059" y="133945"/>
                  <a:pt x="175431" y="133945"/>
                </a:cubicBezTo>
                <a:lnTo>
                  <a:pt x="193384" y="133945"/>
                </a:lnTo>
                <a:cubicBezTo>
                  <a:pt x="198965" y="133945"/>
                  <a:pt x="202546" y="139898"/>
                  <a:pt x="199662" y="144689"/>
                </a:cubicBezTo>
                <a:cubicBezTo>
                  <a:pt x="197802" y="147805"/>
                  <a:pt x="195802" y="150828"/>
                  <a:pt x="193756" y="153805"/>
                </a:cubicBezTo>
                <a:cubicBezTo>
                  <a:pt x="192825" y="155153"/>
                  <a:pt x="191430" y="156130"/>
                  <a:pt x="189849" y="156642"/>
                </a:cubicBezTo>
                <a:lnTo>
                  <a:pt x="144410" y="170222"/>
                </a:lnTo>
                <a:cubicBezTo>
                  <a:pt x="142596" y="170780"/>
                  <a:pt x="141387" y="172408"/>
                  <a:pt x="141387" y="174315"/>
                </a:cubicBezTo>
                <a:cubicBezTo>
                  <a:pt x="141387" y="176687"/>
                  <a:pt x="143294" y="178594"/>
                  <a:pt x="145666" y="178594"/>
                </a:cubicBezTo>
                <a:lnTo>
                  <a:pt x="153107" y="178594"/>
                </a:lnTo>
                <a:cubicBezTo>
                  <a:pt x="159897" y="178594"/>
                  <a:pt x="162874" y="186686"/>
                  <a:pt x="157200" y="190407"/>
                </a:cubicBezTo>
                <a:cubicBezTo>
                  <a:pt x="125574" y="211336"/>
                  <a:pt x="93157" y="210545"/>
                  <a:pt x="72368" y="204964"/>
                </a:cubicBezTo>
                <a:cubicBezTo>
                  <a:pt x="66461" y="203383"/>
                  <a:pt x="61206" y="200360"/>
                  <a:pt x="56369" y="196639"/>
                </a:cubicBezTo>
                <a:lnTo>
                  <a:pt x="22324" y="230684"/>
                </a:lnTo>
                <a:cubicBezTo>
                  <a:pt x="18231" y="234776"/>
                  <a:pt x="11534" y="234776"/>
                  <a:pt x="7441" y="230684"/>
                </a:cubicBezTo>
                <a:cubicBezTo>
                  <a:pt x="3349" y="226591"/>
                  <a:pt x="3349" y="219894"/>
                  <a:pt x="7441" y="215801"/>
                </a:cubicBezTo>
                <a:lnTo>
                  <a:pt x="44648" y="178594"/>
                </a:lnTo>
                <a:lnTo>
                  <a:pt x="44881" y="178826"/>
                </a:lnTo>
                <a:cubicBezTo>
                  <a:pt x="45207" y="178222"/>
                  <a:pt x="45625" y="177664"/>
                  <a:pt x="46137" y="177152"/>
                </a:cubicBezTo>
                <a:lnTo>
                  <a:pt x="119062" y="104180"/>
                </a:lnTo>
                <a:cubicBezTo>
                  <a:pt x="123155" y="100087"/>
                  <a:pt x="123155" y="93390"/>
                  <a:pt x="119062" y="89297"/>
                </a:cubicBezTo>
                <a:cubicBezTo>
                  <a:pt x="114970" y="85204"/>
                  <a:pt x="108272" y="85204"/>
                  <a:pt x="104180" y="89297"/>
                </a:cubicBezTo>
                <a:lnTo>
                  <a:pt x="41718" y="151712"/>
                </a:lnTo>
                <a:cubicBezTo>
                  <a:pt x="37579" y="155851"/>
                  <a:pt x="30556" y="153758"/>
                  <a:pt x="30091" y="147898"/>
                </a:cubicBezTo>
                <a:cubicBezTo>
                  <a:pt x="28091" y="123155"/>
                  <a:pt x="34417" y="90646"/>
                  <a:pt x="63857" y="61206"/>
                </a:cubicBezTo>
                <a:cubicBezTo>
                  <a:pt x="106226" y="18836"/>
                  <a:pt x="182082" y="3209"/>
                  <a:pt x="221010" y="47"/>
                </a:cubicBezTo>
                <a:close/>
              </a:path>
            </a:pathLst>
          </a:custGeom>
          <a:solidFill>
            <a:srgbClr val="4A6C8C"/>
          </a:solidFill>
          <a:ln/>
        </p:spPr>
      </p:sp>
      <p:sp>
        <p:nvSpPr>
          <p:cNvPr id="12" name="Text 10"/>
          <p:cNvSpPr/>
          <p:nvPr/>
        </p:nvSpPr>
        <p:spPr>
          <a:xfrm>
            <a:off x="444500" y="3405188"/>
            <a:ext cx="3492500" cy="222250"/>
          </a:xfrm>
          <a:prstGeom prst="rect">
            <a:avLst/>
          </a:prstGeom>
          <a:noFill/>
          <a:ln/>
        </p:spPr>
        <p:txBody>
          <a:bodyPr wrap="square" lIns="0" tIns="0" rIns="0" bIns="0" rtlCol="0" anchor="ctr"/>
          <a:lstStyle/>
          <a:p>
            <a:pPr algn="ctr">
              <a:lnSpc>
                <a:spcPct val="120000"/>
              </a:lnSpc>
            </a:pPr>
            <a:r>
              <a:rPr lang="en-US" sz="1250" b="1" dirty="0">
                <a:solidFill>
                  <a:srgbClr val="EDF2F4"/>
                </a:solidFill>
                <a:latin typeface="Liter" pitchFamily="34" charset="0"/>
                <a:ea typeface="Liter" pitchFamily="34" charset="-122"/>
                <a:cs typeface="Liter" pitchFamily="34" charset="-120"/>
              </a:rPr>
              <a:t>Simple Model</a:t>
            </a:r>
            <a:endParaRPr lang="en-US" sz="1600" dirty="0"/>
          </a:p>
        </p:txBody>
      </p:sp>
      <p:sp>
        <p:nvSpPr>
          <p:cNvPr id="13" name="Text 11"/>
          <p:cNvSpPr/>
          <p:nvPr/>
        </p:nvSpPr>
        <p:spPr>
          <a:xfrm>
            <a:off x="452438" y="3627438"/>
            <a:ext cx="3476625"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Liter" pitchFamily="34" charset="0"/>
                <a:ea typeface="Liter" pitchFamily="34" charset="-122"/>
                <a:cs typeface="Liter" pitchFamily="34" charset="-120"/>
              </a:rPr>
              <a:t>Basit Model</a:t>
            </a:r>
            <a:endParaRPr lang="en-US" sz="1600" dirty="0"/>
          </a:p>
        </p:txBody>
      </p:sp>
      <p:sp>
        <p:nvSpPr>
          <p:cNvPr id="14" name="Shape 12"/>
          <p:cNvSpPr/>
          <p:nvPr/>
        </p:nvSpPr>
        <p:spPr>
          <a:xfrm>
            <a:off x="484187" y="3944937"/>
            <a:ext cx="3413125" cy="635000"/>
          </a:xfrm>
          <a:custGeom>
            <a:avLst/>
            <a:gdLst/>
            <a:ahLst/>
            <a:cxnLst/>
            <a:rect l="l" t="t" r="r" b="b"/>
            <a:pathLst>
              <a:path w="3413125" h="635000">
                <a:moveTo>
                  <a:pt x="63500" y="0"/>
                </a:moveTo>
                <a:lnTo>
                  <a:pt x="3349625" y="0"/>
                </a:lnTo>
                <a:cubicBezTo>
                  <a:pt x="3384672" y="0"/>
                  <a:pt x="3413125" y="28453"/>
                  <a:pt x="3413125" y="63500"/>
                </a:cubicBezTo>
                <a:lnTo>
                  <a:pt x="3413125" y="571500"/>
                </a:lnTo>
                <a:cubicBezTo>
                  <a:pt x="3413125" y="606547"/>
                  <a:pt x="3384672" y="635000"/>
                  <a:pt x="3349625" y="635000"/>
                </a:cubicBezTo>
                <a:lnTo>
                  <a:pt x="63500" y="635000"/>
                </a:lnTo>
                <a:cubicBezTo>
                  <a:pt x="28453" y="635000"/>
                  <a:pt x="0" y="606547"/>
                  <a:pt x="0" y="571500"/>
                </a:cubicBezTo>
                <a:lnTo>
                  <a:pt x="0" y="63500"/>
                </a:lnTo>
                <a:cubicBezTo>
                  <a:pt x="0" y="28453"/>
                  <a:pt x="28453" y="0"/>
                  <a:pt x="63500" y="0"/>
                </a:cubicBezTo>
                <a:close/>
              </a:path>
            </a:pathLst>
          </a:custGeom>
          <a:solidFill>
            <a:srgbClr val="1A1D21">
              <a:alpha val="60000"/>
            </a:srgbClr>
          </a:solidFill>
          <a:ln/>
        </p:spPr>
      </p:sp>
      <p:sp>
        <p:nvSpPr>
          <p:cNvPr id="15" name="Text 13"/>
          <p:cNvSpPr/>
          <p:nvPr/>
        </p:nvSpPr>
        <p:spPr>
          <a:xfrm>
            <a:off x="579438" y="4040188"/>
            <a:ext cx="3286125"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Classification</a:t>
            </a:r>
            <a:endParaRPr lang="en-US" sz="1600" dirty="0"/>
          </a:p>
        </p:txBody>
      </p:sp>
      <p:sp>
        <p:nvSpPr>
          <p:cNvPr id="16" name="Text 14"/>
          <p:cNvSpPr/>
          <p:nvPr/>
        </p:nvSpPr>
        <p:spPr>
          <a:xfrm>
            <a:off x="579438" y="4262438"/>
            <a:ext cx="3294063" cy="222250"/>
          </a:xfrm>
          <a:prstGeom prst="rect">
            <a:avLst/>
          </a:prstGeom>
          <a:noFill/>
          <a:ln/>
        </p:spPr>
        <p:txBody>
          <a:bodyPr wrap="square" lIns="0" tIns="0" rIns="0" bIns="0" rtlCol="0" anchor="ctr"/>
          <a:lstStyle/>
          <a:p>
            <a:pPr>
              <a:lnSpc>
                <a:spcPct val="130000"/>
              </a:lnSpc>
            </a:pPr>
            <a:r>
              <a:rPr lang="en-US" sz="1125" b="1" dirty="0">
                <a:solidFill>
                  <a:srgbClr val="EDF2F4"/>
                </a:solidFill>
                <a:latin typeface="Liter" pitchFamily="34" charset="0"/>
                <a:ea typeface="Liter" pitchFamily="34" charset="-122"/>
                <a:cs typeface="Liter" pitchFamily="34" charset="-120"/>
              </a:rPr>
              <a:t>Logistic Regression</a:t>
            </a:r>
            <a:endParaRPr lang="en-US" sz="1600" dirty="0"/>
          </a:p>
        </p:txBody>
      </p:sp>
      <p:sp>
        <p:nvSpPr>
          <p:cNvPr id="17" name="Shape 15"/>
          <p:cNvSpPr/>
          <p:nvPr/>
        </p:nvSpPr>
        <p:spPr>
          <a:xfrm>
            <a:off x="484187" y="4675188"/>
            <a:ext cx="3413125" cy="635000"/>
          </a:xfrm>
          <a:custGeom>
            <a:avLst/>
            <a:gdLst/>
            <a:ahLst/>
            <a:cxnLst/>
            <a:rect l="l" t="t" r="r" b="b"/>
            <a:pathLst>
              <a:path w="3413125" h="635000">
                <a:moveTo>
                  <a:pt x="63500" y="0"/>
                </a:moveTo>
                <a:lnTo>
                  <a:pt x="3349625" y="0"/>
                </a:lnTo>
                <a:cubicBezTo>
                  <a:pt x="3384672" y="0"/>
                  <a:pt x="3413125" y="28453"/>
                  <a:pt x="3413125" y="63500"/>
                </a:cubicBezTo>
                <a:lnTo>
                  <a:pt x="3413125" y="571500"/>
                </a:lnTo>
                <a:cubicBezTo>
                  <a:pt x="3413125" y="606547"/>
                  <a:pt x="3384672" y="635000"/>
                  <a:pt x="3349625" y="635000"/>
                </a:cubicBezTo>
                <a:lnTo>
                  <a:pt x="63500" y="635000"/>
                </a:lnTo>
                <a:cubicBezTo>
                  <a:pt x="28453" y="635000"/>
                  <a:pt x="0" y="606547"/>
                  <a:pt x="0" y="571500"/>
                </a:cubicBezTo>
                <a:lnTo>
                  <a:pt x="0" y="63500"/>
                </a:lnTo>
                <a:cubicBezTo>
                  <a:pt x="0" y="28453"/>
                  <a:pt x="28453" y="0"/>
                  <a:pt x="63500" y="0"/>
                </a:cubicBezTo>
                <a:close/>
              </a:path>
            </a:pathLst>
          </a:custGeom>
          <a:solidFill>
            <a:srgbClr val="1A1D21">
              <a:alpha val="60000"/>
            </a:srgbClr>
          </a:solidFill>
          <a:ln/>
        </p:spPr>
      </p:sp>
      <p:sp>
        <p:nvSpPr>
          <p:cNvPr id="18" name="Text 16"/>
          <p:cNvSpPr/>
          <p:nvPr/>
        </p:nvSpPr>
        <p:spPr>
          <a:xfrm>
            <a:off x="579438" y="4770438"/>
            <a:ext cx="3286125"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Regression</a:t>
            </a:r>
            <a:endParaRPr lang="en-US" sz="1600" dirty="0"/>
          </a:p>
        </p:txBody>
      </p:sp>
      <p:sp>
        <p:nvSpPr>
          <p:cNvPr id="19" name="Text 17"/>
          <p:cNvSpPr/>
          <p:nvPr/>
        </p:nvSpPr>
        <p:spPr>
          <a:xfrm>
            <a:off x="579438" y="4992688"/>
            <a:ext cx="3294063" cy="222250"/>
          </a:xfrm>
          <a:prstGeom prst="rect">
            <a:avLst/>
          </a:prstGeom>
          <a:noFill/>
          <a:ln/>
        </p:spPr>
        <p:txBody>
          <a:bodyPr wrap="square" lIns="0" tIns="0" rIns="0" bIns="0" rtlCol="0" anchor="ctr"/>
          <a:lstStyle/>
          <a:p>
            <a:pPr>
              <a:lnSpc>
                <a:spcPct val="130000"/>
              </a:lnSpc>
            </a:pPr>
            <a:r>
              <a:rPr lang="en-US" sz="1125" b="1" dirty="0">
                <a:solidFill>
                  <a:srgbClr val="EDF2F4"/>
                </a:solidFill>
                <a:latin typeface="Liter" pitchFamily="34" charset="0"/>
                <a:ea typeface="Liter" pitchFamily="34" charset="-122"/>
                <a:cs typeface="Liter" pitchFamily="34" charset="-120"/>
              </a:rPr>
              <a:t>Ridge Regression</a:t>
            </a:r>
            <a:endParaRPr lang="en-US" sz="1600" dirty="0"/>
          </a:p>
        </p:txBody>
      </p:sp>
      <p:sp>
        <p:nvSpPr>
          <p:cNvPr id="20" name="Shape 18"/>
          <p:cNvSpPr/>
          <p:nvPr/>
        </p:nvSpPr>
        <p:spPr>
          <a:xfrm>
            <a:off x="484187" y="5405438"/>
            <a:ext cx="3413125" cy="762000"/>
          </a:xfrm>
          <a:custGeom>
            <a:avLst/>
            <a:gdLst/>
            <a:ahLst/>
            <a:cxnLst/>
            <a:rect l="l" t="t" r="r" b="b"/>
            <a:pathLst>
              <a:path w="3413125" h="762000">
                <a:moveTo>
                  <a:pt x="63497" y="0"/>
                </a:moveTo>
                <a:lnTo>
                  <a:pt x="3349628" y="0"/>
                </a:lnTo>
                <a:cubicBezTo>
                  <a:pt x="3384696" y="0"/>
                  <a:pt x="3413125" y="28429"/>
                  <a:pt x="3413125" y="63497"/>
                </a:cubicBezTo>
                <a:lnTo>
                  <a:pt x="3413125" y="698503"/>
                </a:lnTo>
                <a:cubicBezTo>
                  <a:pt x="3413125" y="733571"/>
                  <a:pt x="3384696" y="762000"/>
                  <a:pt x="3349628" y="762000"/>
                </a:cubicBezTo>
                <a:lnTo>
                  <a:pt x="63497" y="762000"/>
                </a:lnTo>
                <a:cubicBezTo>
                  <a:pt x="28429" y="762000"/>
                  <a:pt x="0" y="733571"/>
                  <a:pt x="0" y="698503"/>
                </a:cubicBezTo>
                <a:lnTo>
                  <a:pt x="0" y="63497"/>
                </a:lnTo>
                <a:cubicBezTo>
                  <a:pt x="0" y="28452"/>
                  <a:pt x="28452" y="0"/>
                  <a:pt x="63497" y="0"/>
                </a:cubicBezTo>
                <a:close/>
              </a:path>
            </a:pathLst>
          </a:custGeom>
          <a:solidFill>
            <a:srgbClr val="4A6C8C">
              <a:alpha val="20000"/>
            </a:srgbClr>
          </a:solidFill>
          <a:ln/>
        </p:spPr>
      </p:sp>
      <p:sp>
        <p:nvSpPr>
          <p:cNvPr id="21" name="Text 19"/>
          <p:cNvSpPr/>
          <p:nvPr/>
        </p:nvSpPr>
        <p:spPr>
          <a:xfrm>
            <a:off x="579438" y="5500688"/>
            <a:ext cx="32781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Liter" pitchFamily="34" charset="0"/>
                <a:ea typeface="Liter" pitchFamily="34" charset="-122"/>
                <a:cs typeface="Liter" pitchFamily="34" charset="-120"/>
              </a:rPr>
              <a:t>Characteristics</a:t>
            </a:r>
            <a:endParaRPr lang="en-US" sz="1600" dirty="0"/>
          </a:p>
        </p:txBody>
      </p:sp>
      <p:sp>
        <p:nvSpPr>
          <p:cNvPr id="22" name="Text 20"/>
          <p:cNvSpPr/>
          <p:nvPr/>
        </p:nvSpPr>
        <p:spPr>
          <a:xfrm>
            <a:off x="579438" y="5691188"/>
            <a:ext cx="3286125" cy="190500"/>
          </a:xfrm>
          <a:prstGeom prst="rect">
            <a:avLst/>
          </a:prstGeom>
          <a:noFill/>
          <a:ln/>
        </p:spPr>
        <p:txBody>
          <a:bodyPr wrap="square" lIns="0" tIns="0" rIns="0" bIns="0" rtlCol="0" anchor="ctr"/>
          <a:lstStyle/>
          <a:p>
            <a:pPr>
              <a:lnSpc>
                <a:spcPct val="130000"/>
              </a:lnSpc>
            </a:pPr>
            <a:r>
              <a:rPr lang="en-US" sz="1000" dirty="0">
                <a:solidFill>
                  <a:srgbClr val="EDF2F4"/>
                </a:solidFill>
                <a:latin typeface="Liter" pitchFamily="34" charset="0"/>
                <a:ea typeface="Liter" pitchFamily="34" charset="-122"/>
                <a:cs typeface="Liter" pitchFamily="34" charset="-120"/>
              </a:rPr>
              <a:t>Low complexity, high interpretability, stable</a:t>
            </a:r>
            <a:endParaRPr lang="en-US" sz="1600" dirty="0"/>
          </a:p>
        </p:txBody>
      </p:sp>
      <p:sp>
        <p:nvSpPr>
          <p:cNvPr id="23" name="Text 21"/>
          <p:cNvSpPr/>
          <p:nvPr/>
        </p:nvSpPr>
        <p:spPr>
          <a:xfrm>
            <a:off x="579438" y="5913438"/>
            <a:ext cx="32781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Liter" pitchFamily="34" charset="0"/>
                <a:ea typeface="Liter" pitchFamily="34" charset="-122"/>
                <a:cs typeface="Liter" pitchFamily="34" charset="-120"/>
              </a:rPr>
              <a:t>Düşük karmaşıklık, yüksek yorumlanabilirlik, stabil</a:t>
            </a:r>
            <a:endParaRPr lang="en-US" sz="1600" dirty="0"/>
          </a:p>
        </p:txBody>
      </p:sp>
      <p:sp>
        <p:nvSpPr>
          <p:cNvPr id="24" name="Shape 22"/>
          <p:cNvSpPr/>
          <p:nvPr/>
        </p:nvSpPr>
        <p:spPr>
          <a:xfrm>
            <a:off x="4226719" y="2639219"/>
            <a:ext cx="3738563" cy="3690937"/>
          </a:xfrm>
          <a:custGeom>
            <a:avLst/>
            <a:gdLst/>
            <a:ahLst/>
            <a:cxnLst/>
            <a:rect l="l" t="t" r="r" b="b"/>
            <a:pathLst>
              <a:path w="3738563" h="3690937">
                <a:moveTo>
                  <a:pt x="95263" y="0"/>
                </a:moveTo>
                <a:lnTo>
                  <a:pt x="3643299" y="0"/>
                </a:lnTo>
                <a:cubicBezTo>
                  <a:pt x="3695912" y="0"/>
                  <a:pt x="3738563" y="42651"/>
                  <a:pt x="3738563" y="95263"/>
                </a:cubicBezTo>
                <a:lnTo>
                  <a:pt x="3738563" y="3595674"/>
                </a:lnTo>
                <a:cubicBezTo>
                  <a:pt x="3738563" y="3648287"/>
                  <a:pt x="3695912" y="3690937"/>
                  <a:pt x="3643299" y="3690937"/>
                </a:cubicBezTo>
                <a:lnTo>
                  <a:pt x="95263" y="3690937"/>
                </a:lnTo>
                <a:cubicBezTo>
                  <a:pt x="42651" y="3690937"/>
                  <a:pt x="0" y="3648287"/>
                  <a:pt x="0" y="3595674"/>
                </a:cubicBezTo>
                <a:lnTo>
                  <a:pt x="0" y="95263"/>
                </a:lnTo>
                <a:cubicBezTo>
                  <a:pt x="0" y="42651"/>
                  <a:pt x="42651" y="0"/>
                  <a:pt x="95263" y="0"/>
                </a:cubicBezTo>
                <a:close/>
              </a:path>
            </a:pathLst>
          </a:custGeom>
          <a:gradFill rotWithShape="1" flip="none">
            <a:gsLst>
              <a:gs pos="0">
                <a:srgbClr val="8D99AE">
                  <a:alpha val="20000"/>
                </a:srgbClr>
              </a:gs>
              <a:gs pos="100000">
                <a:srgbClr val="1A1D21">
                  <a:alpha val="40000"/>
                </a:srgbClr>
              </a:gs>
            </a:gsLst>
            <a:lin ang="2700000" scaled="1"/>
          </a:gradFill>
          <a:ln w="12700">
            <a:solidFill>
              <a:srgbClr val="8D99AE">
                <a:alpha val="50196"/>
              </a:srgbClr>
            </a:solidFill>
            <a:prstDash val="solid"/>
          </a:ln>
        </p:spPr>
      </p:sp>
      <p:sp>
        <p:nvSpPr>
          <p:cNvPr id="25" name="Shape 23"/>
          <p:cNvSpPr/>
          <p:nvPr/>
        </p:nvSpPr>
        <p:spPr>
          <a:xfrm>
            <a:off x="5842000" y="2801938"/>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8D99AE">
              <a:alpha val="30196"/>
            </a:srgbClr>
          </a:solidFill>
          <a:ln/>
        </p:spPr>
      </p:sp>
      <p:sp>
        <p:nvSpPr>
          <p:cNvPr id="26" name="Shape 24"/>
          <p:cNvSpPr/>
          <p:nvPr/>
        </p:nvSpPr>
        <p:spPr>
          <a:xfrm>
            <a:off x="5993805" y="2936875"/>
            <a:ext cx="208359" cy="238125"/>
          </a:xfrm>
          <a:custGeom>
            <a:avLst/>
            <a:gdLst/>
            <a:ahLst/>
            <a:cxnLst/>
            <a:rect l="l" t="t" r="r" b="b"/>
            <a:pathLst>
              <a:path w="208359" h="238125">
                <a:moveTo>
                  <a:pt x="104180" y="-14883"/>
                </a:moveTo>
                <a:cubicBezTo>
                  <a:pt x="107435" y="-14883"/>
                  <a:pt x="110551" y="-13441"/>
                  <a:pt x="112691" y="-10930"/>
                </a:cubicBezTo>
                <a:lnTo>
                  <a:pt x="175943" y="63484"/>
                </a:lnTo>
                <a:cubicBezTo>
                  <a:pt x="178780" y="66787"/>
                  <a:pt x="179384" y="71438"/>
                  <a:pt x="177571" y="75391"/>
                </a:cubicBezTo>
                <a:cubicBezTo>
                  <a:pt x="175757" y="79344"/>
                  <a:pt x="171803" y="81855"/>
                  <a:pt x="167432" y="81855"/>
                </a:cubicBezTo>
                <a:lnTo>
                  <a:pt x="155851" y="81855"/>
                </a:lnTo>
                <a:lnTo>
                  <a:pt x="190826" y="123016"/>
                </a:lnTo>
                <a:cubicBezTo>
                  <a:pt x="193663" y="126318"/>
                  <a:pt x="194267" y="130969"/>
                  <a:pt x="192453" y="134922"/>
                </a:cubicBezTo>
                <a:cubicBezTo>
                  <a:pt x="190640" y="138875"/>
                  <a:pt x="186686" y="141387"/>
                  <a:pt x="182314" y="141387"/>
                </a:cubicBezTo>
                <a:lnTo>
                  <a:pt x="164409" y="141387"/>
                </a:lnTo>
                <a:lnTo>
                  <a:pt x="205708" y="189988"/>
                </a:lnTo>
                <a:cubicBezTo>
                  <a:pt x="208545" y="193291"/>
                  <a:pt x="209150" y="197941"/>
                  <a:pt x="207336" y="201895"/>
                </a:cubicBezTo>
                <a:cubicBezTo>
                  <a:pt x="205522" y="205848"/>
                  <a:pt x="201569" y="208359"/>
                  <a:pt x="197197" y="208359"/>
                </a:cubicBezTo>
                <a:lnTo>
                  <a:pt x="119062" y="208359"/>
                </a:lnTo>
                <a:lnTo>
                  <a:pt x="119062" y="238125"/>
                </a:lnTo>
                <a:cubicBezTo>
                  <a:pt x="119062" y="246357"/>
                  <a:pt x="112412" y="253008"/>
                  <a:pt x="104180" y="253008"/>
                </a:cubicBezTo>
                <a:cubicBezTo>
                  <a:pt x="95948" y="253008"/>
                  <a:pt x="89297" y="246357"/>
                  <a:pt x="89297" y="238125"/>
                </a:cubicBezTo>
                <a:lnTo>
                  <a:pt x="89297" y="208359"/>
                </a:lnTo>
                <a:lnTo>
                  <a:pt x="11162" y="208359"/>
                </a:lnTo>
                <a:cubicBezTo>
                  <a:pt x="6790" y="208359"/>
                  <a:pt x="2837" y="205848"/>
                  <a:pt x="1023" y="201895"/>
                </a:cubicBezTo>
                <a:cubicBezTo>
                  <a:pt x="-791" y="197941"/>
                  <a:pt x="-186" y="193291"/>
                  <a:pt x="2651" y="189988"/>
                </a:cubicBezTo>
                <a:lnTo>
                  <a:pt x="43951" y="141387"/>
                </a:lnTo>
                <a:lnTo>
                  <a:pt x="26045" y="141387"/>
                </a:lnTo>
                <a:cubicBezTo>
                  <a:pt x="21673" y="141387"/>
                  <a:pt x="17720" y="138875"/>
                  <a:pt x="15906" y="134922"/>
                </a:cubicBezTo>
                <a:cubicBezTo>
                  <a:pt x="14092" y="130969"/>
                  <a:pt x="14697" y="126318"/>
                  <a:pt x="17534" y="123016"/>
                </a:cubicBezTo>
                <a:lnTo>
                  <a:pt x="52508" y="81855"/>
                </a:lnTo>
                <a:lnTo>
                  <a:pt x="40928" y="81855"/>
                </a:lnTo>
                <a:cubicBezTo>
                  <a:pt x="36556" y="81855"/>
                  <a:pt x="32603" y="79344"/>
                  <a:pt x="30789" y="75391"/>
                </a:cubicBezTo>
                <a:cubicBezTo>
                  <a:pt x="28975" y="71438"/>
                  <a:pt x="29580" y="66787"/>
                  <a:pt x="32417" y="63484"/>
                </a:cubicBezTo>
                <a:lnTo>
                  <a:pt x="95669" y="-10930"/>
                </a:lnTo>
                <a:cubicBezTo>
                  <a:pt x="97808" y="-13441"/>
                  <a:pt x="100924" y="-14883"/>
                  <a:pt x="104180" y="-14883"/>
                </a:cubicBezTo>
                <a:close/>
              </a:path>
            </a:pathLst>
          </a:custGeom>
          <a:solidFill>
            <a:srgbClr val="8D99AE"/>
          </a:solidFill>
          <a:ln/>
        </p:spPr>
      </p:sp>
      <p:sp>
        <p:nvSpPr>
          <p:cNvPr id="27" name="Text 25"/>
          <p:cNvSpPr/>
          <p:nvPr/>
        </p:nvSpPr>
        <p:spPr>
          <a:xfrm>
            <a:off x="4349750" y="3405188"/>
            <a:ext cx="3492500" cy="222250"/>
          </a:xfrm>
          <a:prstGeom prst="rect">
            <a:avLst/>
          </a:prstGeom>
          <a:noFill/>
          <a:ln/>
        </p:spPr>
        <p:txBody>
          <a:bodyPr wrap="square" lIns="0" tIns="0" rIns="0" bIns="0" rtlCol="0" anchor="ctr"/>
          <a:lstStyle/>
          <a:p>
            <a:pPr algn="ctr">
              <a:lnSpc>
                <a:spcPct val="120000"/>
              </a:lnSpc>
            </a:pPr>
            <a:r>
              <a:rPr lang="en-US" sz="1250" b="1" dirty="0">
                <a:solidFill>
                  <a:srgbClr val="EDF2F4"/>
                </a:solidFill>
                <a:latin typeface="Liter" pitchFamily="34" charset="0"/>
                <a:ea typeface="Liter" pitchFamily="34" charset="-122"/>
                <a:cs typeface="Liter" pitchFamily="34" charset="-120"/>
              </a:rPr>
              <a:t>Medium Model</a:t>
            </a:r>
            <a:endParaRPr lang="en-US" sz="1600" dirty="0"/>
          </a:p>
        </p:txBody>
      </p:sp>
      <p:sp>
        <p:nvSpPr>
          <p:cNvPr id="28" name="Text 26"/>
          <p:cNvSpPr/>
          <p:nvPr/>
        </p:nvSpPr>
        <p:spPr>
          <a:xfrm>
            <a:off x="4357688" y="3627438"/>
            <a:ext cx="3476625"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Liter" pitchFamily="34" charset="0"/>
                <a:ea typeface="Liter" pitchFamily="34" charset="-122"/>
                <a:cs typeface="Liter" pitchFamily="34" charset="-120"/>
              </a:rPr>
              <a:t>Orta Model</a:t>
            </a:r>
            <a:endParaRPr lang="en-US" sz="1600" dirty="0"/>
          </a:p>
        </p:txBody>
      </p:sp>
      <p:sp>
        <p:nvSpPr>
          <p:cNvPr id="29" name="Shape 27"/>
          <p:cNvSpPr/>
          <p:nvPr/>
        </p:nvSpPr>
        <p:spPr>
          <a:xfrm>
            <a:off x="4389438" y="3944937"/>
            <a:ext cx="3413125" cy="635000"/>
          </a:xfrm>
          <a:custGeom>
            <a:avLst/>
            <a:gdLst/>
            <a:ahLst/>
            <a:cxnLst/>
            <a:rect l="l" t="t" r="r" b="b"/>
            <a:pathLst>
              <a:path w="3413125" h="635000">
                <a:moveTo>
                  <a:pt x="63500" y="0"/>
                </a:moveTo>
                <a:lnTo>
                  <a:pt x="3349625" y="0"/>
                </a:lnTo>
                <a:cubicBezTo>
                  <a:pt x="3384672" y="0"/>
                  <a:pt x="3413125" y="28453"/>
                  <a:pt x="3413125" y="63500"/>
                </a:cubicBezTo>
                <a:lnTo>
                  <a:pt x="3413125" y="571500"/>
                </a:lnTo>
                <a:cubicBezTo>
                  <a:pt x="3413125" y="606547"/>
                  <a:pt x="3384672" y="635000"/>
                  <a:pt x="3349625" y="635000"/>
                </a:cubicBezTo>
                <a:lnTo>
                  <a:pt x="63500" y="635000"/>
                </a:lnTo>
                <a:cubicBezTo>
                  <a:pt x="28453" y="635000"/>
                  <a:pt x="0" y="606547"/>
                  <a:pt x="0" y="571500"/>
                </a:cubicBezTo>
                <a:lnTo>
                  <a:pt x="0" y="63500"/>
                </a:lnTo>
                <a:cubicBezTo>
                  <a:pt x="0" y="28453"/>
                  <a:pt x="28453" y="0"/>
                  <a:pt x="63500" y="0"/>
                </a:cubicBezTo>
                <a:close/>
              </a:path>
            </a:pathLst>
          </a:custGeom>
          <a:solidFill>
            <a:srgbClr val="1A1D21">
              <a:alpha val="60000"/>
            </a:srgbClr>
          </a:solidFill>
          <a:ln/>
        </p:spPr>
      </p:sp>
      <p:sp>
        <p:nvSpPr>
          <p:cNvPr id="30" name="Text 28"/>
          <p:cNvSpPr/>
          <p:nvPr/>
        </p:nvSpPr>
        <p:spPr>
          <a:xfrm>
            <a:off x="4484688" y="4040188"/>
            <a:ext cx="3286125"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Classification</a:t>
            </a:r>
            <a:endParaRPr lang="en-US" sz="1600" dirty="0"/>
          </a:p>
        </p:txBody>
      </p:sp>
      <p:sp>
        <p:nvSpPr>
          <p:cNvPr id="31" name="Text 29"/>
          <p:cNvSpPr/>
          <p:nvPr/>
        </p:nvSpPr>
        <p:spPr>
          <a:xfrm>
            <a:off x="4484688" y="4262438"/>
            <a:ext cx="3294063" cy="222250"/>
          </a:xfrm>
          <a:prstGeom prst="rect">
            <a:avLst/>
          </a:prstGeom>
          <a:noFill/>
          <a:ln/>
        </p:spPr>
        <p:txBody>
          <a:bodyPr wrap="square" lIns="0" tIns="0" rIns="0" bIns="0" rtlCol="0" anchor="ctr"/>
          <a:lstStyle/>
          <a:p>
            <a:pPr>
              <a:lnSpc>
                <a:spcPct val="130000"/>
              </a:lnSpc>
            </a:pPr>
            <a:r>
              <a:rPr lang="en-US" sz="1125" b="1" dirty="0">
                <a:solidFill>
                  <a:srgbClr val="EDF2F4"/>
                </a:solidFill>
                <a:latin typeface="Liter" pitchFamily="34" charset="0"/>
                <a:ea typeface="Liter" pitchFamily="34" charset="-122"/>
                <a:cs typeface="Liter" pitchFamily="34" charset="-120"/>
              </a:rPr>
              <a:t>Random Forest</a:t>
            </a:r>
            <a:endParaRPr lang="en-US" sz="1600" dirty="0"/>
          </a:p>
        </p:txBody>
      </p:sp>
      <p:sp>
        <p:nvSpPr>
          <p:cNvPr id="32" name="Shape 30"/>
          <p:cNvSpPr/>
          <p:nvPr/>
        </p:nvSpPr>
        <p:spPr>
          <a:xfrm>
            <a:off x="4389438" y="4675188"/>
            <a:ext cx="3413125" cy="635000"/>
          </a:xfrm>
          <a:custGeom>
            <a:avLst/>
            <a:gdLst/>
            <a:ahLst/>
            <a:cxnLst/>
            <a:rect l="l" t="t" r="r" b="b"/>
            <a:pathLst>
              <a:path w="3413125" h="635000">
                <a:moveTo>
                  <a:pt x="63500" y="0"/>
                </a:moveTo>
                <a:lnTo>
                  <a:pt x="3349625" y="0"/>
                </a:lnTo>
                <a:cubicBezTo>
                  <a:pt x="3384672" y="0"/>
                  <a:pt x="3413125" y="28453"/>
                  <a:pt x="3413125" y="63500"/>
                </a:cubicBezTo>
                <a:lnTo>
                  <a:pt x="3413125" y="571500"/>
                </a:lnTo>
                <a:cubicBezTo>
                  <a:pt x="3413125" y="606547"/>
                  <a:pt x="3384672" y="635000"/>
                  <a:pt x="3349625" y="635000"/>
                </a:cubicBezTo>
                <a:lnTo>
                  <a:pt x="63500" y="635000"/>
                </a:lnTo>
                <a:cubicBezTo>
                  <a:pt x="28453" y="635000"/>
                  <a:pt x="0" y="606547"/>
                  <a:pt x="0" y="571500"/>
                </a:cubicBezTo>
                <a:lnTo>
                  <a:pt x="0" y="63500"/>
                </a:lnTo>
                <a:cubicBezTo>
                  <a:pt x="0" y="28453"/>
                  <a:pt x="28453" y="0"/>
                  <a:pt x="63500" y="0"/>
                </a:cubicBezTo>
                <a:close/>
              </a:path>
            </a:pathLst>
          </a:custGeom>
          <a:solidFill>
            <a:srgbClr val="1A1D21">
              <a:alpha val="60000"/>
            </a:srgbClr>
          </a:solidFill>
          <a:ln/>
        </p:spPr>
      </p:sp>
      <p:sp>
        <p:nvSpPr>
          <p:cNvPr id="33" name="Text 31"/>
          <p:cNvSpPr/>
          <p:nvPr/>
        </p:nvSpPr>
        <p:spPr>
          <a:xfrm>
            <a:off x="4484688" y="4770438"/>
            <a:ext cx="3286125"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Regression</a:t>
            </a:r>
            <a:endParaRPr lang="en-US" sz="1600" dirty="0"/>
          </a:p>
        </p:txBody>
      </p:sp>
      <p:sp>
        <p:nvSpPr>
          <p:cNvPr id="34" name="Text 32"/>
          <p:cNvSpPr/>
          <p:nvPr/>
        </p:nvSpPr>
        <p:spPr>
          <a:xfrm>
            <a:off x="4484688" y="4992688"/>
            <a:ext cx="3294063" cy="222250"/>
          </a:xfrm>
          <a:prstGeom prst="rect">
            <a:avLst/>
          </a:prstGeom>
          <a:noFill/>
          <a:ln/>
        </p:spPr>
        <p:txBody>
          <a:bodyPr wrap="square" lIns="0" tIns="0" rIns="0" bIns="0" rtlCol="0" anchor="ctr"/>
          <a:lstStyle/>
          <a:p>
            <a:pPr>
              <a:lnSpc>
                <a:spcPct val="130000"/>
              </a:lnSpc>
            </a:pPr>
            <a:r>
              <a:rPr lang="en-US" sz="1125" b="1" dirty="0">
                <a:solidFill>
                  <a:srgbClr val="EDF2F4"/>
                </a:solidFill>
                <a:latin typeface="Liter" pitchFamily="34" charset="0"/>
                <a:ea typeface="Liter" pitchFamily="34" charset="-122"/>
                <a:cs typeface="Liter" pitchFamily="34" charset="-120"/>
              </a:rPr>
              <a:t>Random Forest</a:t>
            </a:r>
            <a:endParaRPr lang="en-US" sz="1600" dirty="0"/>
          </a:p>
        </p:txBody>
      </p:sp>
      <p:sp>
        <p:nvSpPr>
          <p:cNvPr id="35" name="Shape 33"/>
          <p:cNvSpPr/>
          <p:nvPr/>
        </p:nvSpPr>
        <p:spPr>
          <a:xfrm>
            <a:off x="4389438" y="5405438"/>
            <a:ext cx="3413125" cy="762000"/>
          </a:xfrm>
          <a:custGeom>
            <a:avLst/>
            <a:gdLst/>
            <a:ahLst/>
            <a:cxnLst/>
            <a:rect l="l" t="t" r="r" b="b"/>
            <a:pathLst>
              <a:path w="3413125" h="762000">
                <a:moveTo>
                  <a:pt x="63497" y="0"/>
                </a:moveTo>
                <a:lnTo>
                  <a:pt x="3349628" y="0"/>
                </a:lnTo>
                <a:cubicBezTo>
                  <a:pt x="3384696" y="0"/>
                  <a:pt x="3413125" y="28429"/>
                  <a:pt x="3413125" y="63497"/>
                </a:cubicBezTo>
                <a:lnTo>
                  <a:pt x="3413125" y="698503"/>
                </a:lnTo>
                <a:cubicBezTo>
                  <a:pt x="3413125" y="733571"/>
                  <a:pt x="3384696" y="762000"/>
                  <a:pt x="3349628" y="762000"/>
                </a:cubicBezTo>
                <a:lnTo>
                  <a:pt x="63497" y="762000"/>
                </a:lnTo>
                <a:cubicBezTo>
                  <a:pt x="28429" y="762000"/>
                  <a:pt x="0" y="733571"/>
                  <a:pt x="0" y="698503"/>
                </a:cubicBezTo>
                <a:lnTo>
                  <a:pt x="0" y="63497"/>
                </a:lnTo>
                <a:cubicBezTo>
                  <a:pt x="0" y="28452"/>
                  <a:pt x="28452" y="0"/>
                  <a:pt x="63497" y="0"/>
                </a:cubicBezTo>
                <a:close/>
              </a:path>
            </a:pathLst>
          </a:custGeom>
          <a:solidFill>
            <a:srgbClr val="8D99AE">
              <a:alpha val="20000"/>
            </a:srgbClr>
          </a:solidFill>
          <a:ln/>
        </p:spPr>
      </p:sp>
      <p:sp>
        <p:nvSpPr>
          <p:cNvPr id="36" name="Text 34"/>
          <p:cNvSpPr/>
          <p:nvPr/>
        </p:nvSpPr>
        <p:spPr>
          <a:xfrm>
            <a:off x="4484688" y="5500688"/>
            <a:ext cx="32781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Liter" pitchFamily="34" charset="0"/>
                <a:ea typeface="Liter" pitchFamily="34" charset="-122"/>
                <a:cs typeface="Liter" pitchFamily="34" charset="-120"/>
              </a:rPr>
              <a:t>Characteristics</a:t>
            </a:r>
            <a:endParaRPr lang="en-US" sz="1600" dirty="0"/>
          </a:p>
        </p:txBody>
      </p:sp>
      <p:sp>
        <p:nvSpPr>
          <p:cNvPr id="37" name="Text 35"/>
          <p:cNvSpPr/>
          <p:nvPr/>
        </p:nvSpPr>
        <p:spPr>
          <a:xfrm>
            <a:off x="4484688" y="5691188"/>
            <a:ext cx="3286125" cy="190500"/>
          </a:xfrm>
          <a:prstGeom prst="rect">
            <a:avLst/>
          </a:prstGeom>
          <a:noFill/>
          <a:ln/>
        </p:spPr>
        <p:txBody>
          <a:bodyPr wrap="square" lIns="0" tIns="0" rIns="0" bIns="0" rtlCol="0" anchor="ctr"/>
          <a:lstStyle/>
          <a:p>
            <a:pPr>
              <a:lnSpc>
                <a:spcPct val="130000"/>
              </a:lnSpc>
            </a:pPr>
            <a:r>
              <a:rPr lang="en-US" sz="1000" dirty="0">
                <a:solidFill>
                  <a:srgbClr val="EDF2F4"/>
                </a:solidFill>
                <a:latin typeface="Liter" pitchFamily="34" charset="0"/>
                <a:ea typeface="Liter" pitchFamily="34" charset="-122"/>
                <a:cs typeface="Liter" pitchFamily="34" charset="-120"/>
              </a:rPr>
              <a:t>Medium complexity, ensemble method, can overfit</a:t>
            </a:r>
            <a:endParaRPr lang="en-US" sz="1600" dirty="0"/>
          </a:p>
        </p:txBody>
      </p:sp>
      <p:sp>
        <p:nvSpPr>
          <p:cNvPr id="38" name="Text 36"/>
          <p:cNvSpPr/>
          <p:nvPr/>
        </p:nvSpPr>
        <p:spPr>
          <a:xfrm>
            <a:off x="4484688" y="5913438"/>
            <a:ext cx="32781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Liter" pitchFamily="34" charset="0"/>
                <a:ea typeface="Liter" pitchFamily="34" charset="-122"/>
                <a:cs typeface="Liter" pitchFamily="34" charset="-120"/>
              </a:rPr>
              <a:t>Orta karmaşıklık, topluluk yöntemi, aşırı öğrenebilir</a:t>
            </a:r>
            <a:endParaRPr lang="en-US" sz="1600" dirty="0"/>
          </a:p>
        </p:txBody>
      </p:sp>
      <p:sp>
        <p:nvSpPr>
          <p:cNvPr id="39" name="Shape 37"/>
          <p:cNvSpPr/>
          <p:nvPr/>
        </p:nvSpPr>
        <p:spPr>
          <a:xfrm>
            <a:off x="8131969" y="2639219"/>
            <a:ext cx="3738563" cy="3690937"/>
          </a:xfrm>
          <a:custGeom>
            <a:avLst/>
            <a:gdLst/>
            <a:ahLst/>
            <a:cxnLst/>
            <a:rect l="l" t="t" r="r" b="b"/>
            <a:pathLst>
              <a:path w="3738563" h="3690937">
                <a:moveTo>
                  <a:pt x="95263" y="0"/>
                </a:moveTo>
                <a:lnTo>
                  <a:pt x="3643299" y="0"/>
                </a:lnTo>
                <a:cubicBezTo>
                  <a:pt x="3695912" y="0"/>
                  <a:pt x="3738563" y="42651"/>
                  <a:pt x="3738563" y="95263"/>
                </a:cubicBezTo>
                <a:lnTo>
                  <a:pt x="3738563" y="3595674"/>
                </a:lnTo>
                <a:cubicBezTo>
                  <a:pt x="3738563" y="3648287"/>
                  <a:pt x="3695912" y="3690937"/>
                  <a:pt x="3643299" y="3690937"/>
                </a:cubicBezTo>
                <a:lnTo>
                  <a:pt x="95263" y="3690937"/>
                </a:lnTo>
                <a:cubicBezTo>
                  <a:pt x="42651" y="3690937"/>
                  <a:pt x="0" y="3648287"/>
                  <a:pt x="0" y="3595674"/>
                </a:cubicBezTo>
                <a:lnTo>
                  <a:pt x="0" y="95263"/>
                </a:lnTo>
                <a:cubicBezTo>
                  <a:pt x="0" y="42651"/>
                  <a:pt x="42651" y="0"/>
                  <a:pt x="95263" y="0"/>
                </a:cubicBezTo>
                <a:close/>
              </a:path>
            </a:pathLst>
          </a:custGeom>
          <a:gradFill rotWithShape="1" flip="none">
            <a:gsLst>
              <a:gs pos="0">
                <a:srgbClr val="D4A373">
                  <a:alpha val="20000"/>
                </a:srgbClr>
              </a:gs>
              <a:gs pos="100000">
                <a:srgbClr val="1A1D21">
                  <a:alpha val="40000"/>
                </a:srgbClr>
              </a:gs>
            </a:gsLst>
            <a:lin ang="2700000" scaled="1"/>
          </a:gradFill>
          <a:ln w="12700">
            <a:solidFill>
              <a:srgbClr val="D4A373">
                <a:alpha val="50196"/>
              </a:srgbClr>
            </a:solidFill>
            <a:prstDash val="solid"/>
          </a:ln>
        </p:spPr>
      </p:sp>
      <p:sp>
        <p:nvSpPr>
          <p:cNvPr id="40" name="Shape 38"/>
          <p:cNvSpPr/>
          <p:nvPr/>
        </p:nvSpPr>
        <p:spPr>
          <a:xfrm>
            <a:off x="9747250" y="2801938"/>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D4A373">
              <a:alpha val="30196"/>
            </a:srgbClr>
          </a:solidFill>
          <a:ln/>
        </p:spPr>
      </p:sp>
      <p:sp>
        <p:nvSpPr>
          <p:cNvPr id="41" name="Shape 39"/>
          <p:cNvSpPr/>
          <p:nvPr/>
        </p:nvSpPr>
        <p:spPr>
          <a:xfrm>
            <a:off x="9884172" y="2936875"/>
            <a:ext cx="238125" cy="238125"/>
          </a:xfrm>
          <a:custGeom>
            <a:avLst/>
            <a:gdLst/>
            <a:ahLst/>
            <a:cxnLst/>
            <a:rect l="l" t="t" r="r" b="b"/>
            <a:pathLst>
              <a:path w="238125" h="238125">
                <a:moveTo>
                  <a:pt x="59531" y="148828"/>
                </a:moveTo>
                <a:lnTo>
                  <a:pt x="11395" y="148828"/>
                </a:lnTo>
                <a:cubicBezTo>
                  <a:pt x="-186" y="148828"/>
                  <a:pt x="-7302" y="136224"/>
                  <a:pt x="-1349" y="126271"/>
                </a:cubicBezTo>
                <a:lnTo>
                  <a:pt x="23254" y="85251"/>
                </a:lnTo>
                <a:cubicBezTo>
                  <a:pt x="27301" y="78507"/>
                  <a:pt x="34556" y="74414"/>
                  <a:pt x="42416" y="74414"/>
                </a:cubicBezTo>
                <a:lnTo>
                  <a:pt x="86599" y="74414"/>
                </a:lnTo>
                <a:cubicBezTo>
                  <a:pt x="121993" y="14464"/>
                  <a:pt x="174780" y="11441"/>
                  <a:pt x="210080" y="16604"/>
                </a:cubicBezTo>
                <a:cubicBezTo>
                  <a:pt x="216033" y="17487"/>
                  <a:pt x="220684" y="22138"/>
                  <a:pt x="221521" y="28045"/>
                </a:cubicBezTo>
                <a:cubicBezTo>
                  <a:pt x="226684" y="63345"/>
                  <a:pt x="223661" y="116132"/>
                  <a:pt x="163711" y="151526"/>
                </a:cubicBezTo>
                <a:lnTo>
                  <a:pt x="163711" y="195709"/>
                </a:lnTo>
                <a:cubicBezTo>
                  <a:pt x="163711" y="203569"/>
                  <a:pt x="159618" y="210824"/>
                  <a:pt x="152874" y="214871"/>
                </a:cubicBezTo>
                <a:lnTo>
                  <a:pt x="111854" y="239474"/>
                </a:lnTo>
                <a:cubicBezTo>
                  <a:pt x="101947" y="245427"/>
                  <a:pt x="89297" y="238265"/>
                  <a:pt x="89297" y="226730"/>
                </a:cubicBezTo>
                <a:lnTo>
                  <a:pt x="89297" y="178594"/>
                </a:lnTo>
                <a:cubicBezTo>
                  <a:pt x="89297" y="162176"/>
                  <a:pt x="75949" y="148828"/>
                  <a:pt x="59531" y="148828"/>
                </a:cubicBezTo>
                <a:lnTo>
                  <a:pt x="59485" y="148828"/>
                </a:lnTo>
                <a:close/>
                <a:moveTo>
                  <a:pt x="186035" y="74414"/>
                </a:moveTo>
                <a:cubicBezTo>
                  <a:pt x="186035" y="62093"/>
                  <a:pt x="176032" y="52090"/>
                  <a:pt x="163711" y="52090"/>
                </a:cubicBezTo>
                <a:cubicBezTo>
                  <a:pt x="151390" y="52090"/>
                  <a:pt x="141387" y="62093"/>
                  <a:pt x="141387" y="74414"/>
                </a:cubicBezTo>
                <a:cubicBezTo>
                  <a:pt x="141387" y="86735"/>
                  <a:pt x="151390" y="96738"/>
                  <a:pt x="163711" y="96738"/>
                </a:cubicBezTo>
                <a:cubicBezTo>
                  <a:pt x="176032" y="96738"/>
                  <a:pt x="186035" y="86735"/>
                  <a:pt x="186035" y="74414"/>
                </a:cubicBezTo>
                <a:close/>
              </a:path>
            </a:pathLst>
          </a:custGeom>
          <a:solidFill>
            <a:srgbClr val="D4A373"/>
          </a:solidFill>
          <a:ln/>
        </p:spPr>
      </p:sp>
      <p:sp>
        <p:nvSpPr>
          <p:cNvPr id="42" name="Text 40"/>
          <p:cNvSpPr/>
          <p:nvPr/>
        </p:nvSpPr>
        <p:spPr>
          <a:xfrm>
            <a:off x="8255000" y="3405188"/>
            <a:ext cx="3492500" cy="222250"/>
          </a:xfrm>
          <a:prstGeom prst="rect">
            <a:avLst/>
          </a:prstGeom>
          <a:noFill/>
          <a:ln/>
        </p:spPr>
        <p:txBody>
          <a:bodyPr wrap="square" lIns="0" tIns="0" rIns="0" bIns="0" rtlCol="0" anchor="ctr"/>
          <a:lstStyle/>
          <a:p>
            <a:pPr algn="ctr">
              <a:lnSpc>
                <a:spcPct val="120000"/>
              </a:lnSpc>
            </a:pPr>
            <a:r>
              <a:rPr lang="en-US" sz="1250" b="1" dirty="0">
                <a:solidFill>
                  <a:srgbClr val="EDF2F4"/>
                </a:solidFill>
                <a:latin typeface="Liter" pitchFamily="34" charset="0"/>
                <a:ea typeface="Liter" pitchFamily="34" charset="-122"/>
                <a:cs typeface="Liter" pitchFamily="34" charset="-120"/>
              </a:rPr>
              <a:t>Advanced Model</a:t>
            </a:r>
            <a:endParaRPr lang="en-US" sz="1600" dirty="0"/>
          </a:p>
        </p:txBody>
      </p:sp>
      <p:sp>
        <p:nvSpPr>
          <p:cNvPr id="43" name="Text 41"/>
          <p:cNvSpPr/>
          <p:nvPr/>
        </p:nvSpPr>
        <p:spPr>
          <a:xfrm>
            <a:off x="8262938" y="3627438"/>
            <a:ext cx="3476625"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Liter" pitchFamily="34" charset="0"/>
                <a:ea typeface="Liter" pitchFamily="34" charset="-122"/>
                <a:cs typeface="Liter" pitchFamily="34" charset="-120"/>
              </a:rPr>
              <a:t>Gelişmiş Model</a:t>
            </a:r>
            <a:endParaRPr lang="en-US" sz="1600" dirty="0"/>
          </a:p>
        </p:txBody>
      </p:sp>
      <p:sp>
        <p:nvSpPr>
          <p:cNvPr id="44" name="Shape 42"/>
          <p:cNvSpPr/>
          <p:nvPr/>
        </p:nvSpPr>
        <p:spPr>
          <a:xfrm>
            <a:off x="8294688" y="3944937"/>
            <a:ext cx="3413125" cy="635000"/>
          </a:xfrm>
          <a:custGeom>
            <a:avLst/>
            <a:gdLst/>
            <a:ahLst/>
            <a:cxnLst/>
            <a:rect l="l" t="t" r="r" b="b"/>
            <a:pathLst>
              <a:path w="3413125" h="635000">
                <a:moveTo>
                  <a:pt x="63500" y="0"/>
                </a:moveTo>
                <a:lnTo>
                  <a:pt x="3349625" y="0"/>
                </a:lnTo>
                <a:cubicBezTo>
                  <a:pt x="3384672" y="0"/>
                  <a:pt x="3413125" y="28453"/>
                  <a:pt x="3413125" y="63500"/>
                </a:cubicBezTo>
                <a:lnTo>
                  <a:pt x="3413125" y="571500"/>
                </a:lnTo>
                <a:cubicBezTo>
                  <a:pt x="3413125" y="606547"/>
                  <a:pt x="3384672" y="635000"/>
                  <a:pt x="3349625" y="635000"/>
                </a:cubicBezTo>
                <a:lnTo>
                  <a:pt x="63500" y="635000"/>
                </a:lnTo>
                <a:cubicBezTo>
                  <a:pt x="28453" y="635000"/>
                  <a:pt x="0" y="606547"/>
                  <a:pt x="0" y="571500"/>
                </a:cubicBezTo>
                <a:lnTo>
                  <a:pt x="0" y="63500"/>
                </a:lnTo>
                <a:cubicBezTo>
                  <a:pt x="0" y="28453"/>
                  <a:pt x="28453" y="0"/>
                  <a:pt x="63500" y="0"/>
                </a:cubicBezTo>
                <a:close/>
              </a:path>
            </a:pathLst>
          </a:custGeom>
          <a:solidFill>
            <a:srgbClr val="1A1D21">
              <a:alpha val="60000"/>
            </a:srgbClr>
          </a:solidFill>
          <a:ln/>
        </p:spPr>
      </p:sp>
      <p:sp>
        <p:nvSpPr>
          <p:cNvPr id="45" name="Text 43"/>
          <p:cNvSpPr/>
          <p:nvPr/>
        </p:nvSpPr>
        <p:spPr>
          <a:xfrm>
            <a:off x="8389938" y="4040188"/>
            <a:ext cx="3286125"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Classification</a:t>
            </a:r>
            <a:endParaRPr lang="en-US" sz="1600" dirty="0"/>
          </a:p>
        </p:txBody>
      </p:sp>
      <p:sp>
        <p:nvSpPr>
          <p:cNvPr id="46" name="Text 44"/>
          <p:cNvSpPr/>
          <p:nvPr/>
        </p:nvSpPr>
        <p:spPr>
          <a:xfrm>
            <a:off x="8389938" y="4262438"/>
            <a:ext cx="3294063" cy="222250"/>
          </a:xfrm>
          <a:prstGeom prst="rect">
            <a:avLst/>
          </a:prstGeom>
          <a:noFill/>
          <a:ln/>
        </p:spPr>
        <p:txBody>
          <a:bodyPr wrap="square" lIns="0" tIns="0" rIns="0" bIns="0" rtlCol="0" anchor="ctr"/>
          <a:lstStyle/>
          <a:p>
            <a:pPr>
              <a:lnSpc>
                <a:spcPct val="130000"/>
              </a:lnSpc>
            </a:pPr>
            <a:r>
              <a:rPr lang="en-US" sz="1125" b="1" dirty="0">
                <a:solidFill>
                  <a:srgbClr val="EDF2F4"/>
                </a:solidFill>
                <a:latin typeface="Liter" pitchFamily="34" charset="0"/>
                <a:ea typeface="Liter" pitchFamily="34" charset="-122"/>
                <a:cs typeface="Liter" pitchFamily="34" charset="-120"/>
              </a:rPr>
              <a:t>HGB</a:t>
            </a:r>
            <a:endParaRPr lang="en-US" sz="1600" dirty="0"/>
          </a:p>
        </p:txBody>
      </p:sp>
      <p:sp>
        <p:nvSpPr>
          <p:cNvPr id="47" name="Shape 45"/>
          <p:cNvSpPr/>
          <p:nvPr/>
        </p:nvSpPr>
        <p:spPr>
          <a:xfrm>
            <a:off x="8294688" y="4675188"/>
            <a:ext cx="3413125" cy="635000"/>
          </a:xfrm>
          <a:custGeom>
            <a:avLst/>
            <a:gdLst/>
            <a:ahLst/>
            <a:cxnLst/>
            <a:rect l="l" t="t" r="r" b="b"/>
            <a:pathLst>
              <a:path w="3413125" h="635000">
                <a:moveTo>
                  <a:pt x="63500" y="0"/>
                </a:moveTo>
                <a:lnTo>
                  <a:pt x="3349625" y="0"/>
                </a:lnTo>
                <a:cubicBezTo>
                  <a:pt x="3384672" y="0"/>
                  <a:pt x="3413125" y="28453"/>
                  <a:pt x="3413125" y="63500"/>
                </a:cubicBezTo>
                <a:lnTo>
                  <a:pt x="3413125" y="571500"/>
                </a:lnTo>
                <a:cubicBezTo>
                  <a:pt x="3413125" y="606547"/>
                  <a:pt x="3384672" y="635000"/>
                  <a:pt x="3349625" y="635000"/>
                </a:cubicBezTo>
                <a:lnTo>
                  <a:pt x="63500" y="635000"/>
                </a:lnTo>
                <a:cubicBezTo>
                  <a:pt x="28453" y="635000"/>
                  <a:pt x="0" y="606547"/>
                  <a:pt x="0" y="571500"/>
                </a:cubicBezTo>
                <a:lnTo>
                  <a:pt x="0" y="63500"/>
                </a:lnTo>
                <a:cubicBezTo>
                  <a:pt x="0" y="28453"/>
                  <a:pt x="28453" y="0"/>
                  <a:pt x="63500" y="0"/>
                </a:cubicBezTo>
                <a:close/>
              </a:path>
            </a:pathLst>
          </a:custGeom>
          <a:solidFill>
            <a:srgbClr val="1A1D21">
              <a:alpha val="60000"/>
            </a:srgbClr>
          </a:solidFill>
          <a:ln/>
        </p:spPr>
      </p:sp>
      <p:sp>
        <p:nvSpPr>
          <p:cNvPr id="48" name="Text 46"/>
          <p:cNvSpPr/>
          <p:nvPr/>
        </p:nvSpPr>
        <p:spPr>
          <a:xfrm>
            <a:off x="8389938" y="4770438"/>
            <a:ext cx="3286125"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Regression</a:t>
            </a:r>
            <a:endParaRPr lang="en-US" sz="1600" dirty="0"/>
          </a:p>
        </p:txBody>
      </p:sp>
      <p:sp>
        <p:nvSpPr>
          <p:cNvPr id="49" name="Text 47"/>
          <p:cNvSpPr/>
          <p:nvPr/>
        </p:nvSpPr>
        <p:spPr>
          <a:xfrm>
            <a:off x="8389938" y="4992688"/>
            <a:ext cx="3294063" cy="222250"/>
          </a:xfrm>
          <a:prstGeom prst="rect">
            <a:avLst/>
          </a:prstGeom>
          <a:noFill/>
          <a:ln/>
        </p:spPr>
        <p:txBody>
          <a:bodyPr wrap="square" lIns="0" tIns="0" rIns="0" bIns="0" rtlCol="0" anchor="ctr"/>
          <a:lstStyle/>
          <a:p>
            <a:pPr>
              <a:lnSpc>
                <a:spcPct val="130000"/>
              </a:lnSpc>
            </a:pPr>
            <a:r>
              <a:rPr lang="en-US" sz="1125" b="1" dirty="0">
                <a:solidFill>
                  <a:srgbClr val="EDF2F4"/>
                </a:solidFill>
                <a:latin typeface="Liter" pitchFamily="34" charset="0"/>
                <a:ea typeface="Liter" pitchFamily="34" charset="-122"/>
                <a:cs typeface="Liter" pitchFamily="34" charset="-120"/>
              </a:rPr>
              <a:t>HGB</a:t>
            </a:r>
            <a:endParaRPr lang="en-US" sz="1600" dirty="0"/>
          </a:p>
        </p:txBody>
      </p:sp>
      <p:sp>
        <p:nvSpPr>
          <p:cNvPr id="50" name="Shape 48"/>
          <p:cNvSpPr/>
          <p:nvPr/>
        </p:nvSpPr>
        <p:spPr>
          <a:xfrm>
            <a:off x="8294688" y="5405438"/>
            <a:ext cx="3413125" cy="762000"/>
          </a:xfrm>
          <a:custGeom>
            <a:avLst/>
            <a:gdLst/>
            <a:ahLst/>
            <a:cxnLst/>
            <a:rect l="l" t="t" r="r" b="b"/>
            <a:pathLst>
              <a:path w="3413125" h="762000">
                <a:moveTo>
                  <a:pt x="63497" y="0"/>
                </a:moveTo>
                <a:lnTo>
                  <a:pt x="3349628" y="0"/>
                </a:lnTo>
                <a:cubicBezTo>
                  <a:pt x="3384696" y="0"/>
                  <a:pt x="3413125" y="28429"/>
                  <a:pt x="3413125" y="63497"/>
                </a:cubicBezTo>
                <a:lnTo>
                  <a:pt x="3413125" y="698503"/>
                </a:lnTo>
                <a:cubicBezTo>
                  <a:pt x="3413125" y="733571"/>
                  <a:pt x="3384696" y="762000"/>
                  <a:pt x="3349628" y="762000"/>
                </a:cubicBezTo>
                <a:lnTo>
                  <a:pt x="63497" y="762000"/>
                </a:lnTo>
                <a:cubicBezTo>
                  <a:pt x="28429" y="762000"/>
                  <a:pt x="0" y="733571"/>
                  <a:pt x="0" y="698503"/>
                </a:cubicBezTo>
                <a:lnTo>
                  <a:pt x="0" y="63497"/>
                </a:lnTo>
                <a:cubicBezTo>
                  <a:pt x="0" y="28452"/>
                  <a:pt x="28452" y="0"/>
                  <a:pt x="63497" y="0"/>
                </a:cubicBezTo>
                <a:close/>
              </a:path>
            </a:pathLst>
          </a:custGeom>
          <a:solidFill>
            <a:srgbClr val="D4A373">
              <a:alpha val="20000"/>
            </a:srgbClr>
          </a:solidFill>
          <a:ln/>
        </p:spPr>
      </p:sp>
      <p:sp>
        <p:nvSpPr>
          <p:cNvPr id="51" name="Text 49"/>
          <p:cNvSpPr/>
          <p:nvPr/>
        </p:nvSpPr>
        <p:spPr>
          <a:xfrm>
            <a:off x="8389938" y="5500688"/>
            <a:ext cx="32781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Liter" pitchFamily="34" charset="0"/>
                <a:ea typeface="Liter" pitchFamily="34" charset="-122"/>
                <a:cs typeface="Liter" pitchFamily="34" charset="-120"/>
              </a:rPr>
              <a:t>Characteristics</a:t>
            </a:r>
            <a:endParaRPr lang="en-US" sz="1600" dirty="0"/>
          </a:p>
        </p:txBody>
      </p:sp>
      <p:sp>
        <p:nvSpPr>
          <p:cNvPr id="52" name="Text 50"/>
          <p:cNvSpPr/>
          <p:nvPr/>
        </p:nvSpPr>
        <p:spPr>
          <a:xfrm>
            <a:off x="8389938" y="5691188"/>
            <a:ext cx="3286125" cy="190500"/>
          </a:xfrm>
          <a:prstGeom prst="rect">
            <a:avLst/>
          </a:prstGeom>
          <a:noFill/>
          <a:ln/>
        </p:spPr>
        <p:txBody>
          <a:bodyPr wrap="square" lIns="0" tIns="0" rIns="0" bIns="0" rtlCol="0" anchor="ctr"/>
          <a:lstStyle/>
          <a:p>
            <a:pPr>
              <a:lnSpc>
                <a:spcPct val="130000"/>
              </a:lnSpc>
            </a:pPr>
            <a:r>
              <a:rPr lang="en-US" sz="1000" dirty="0">
                <a:solidFill>
                  <a:srgbClr val="EDF2F4"/>
                </a:solidFill>
                <a:latin typeface="Liter" pitchFamily="34" charset="0"/>
                <a:ea typeface="Liter" pitchFamily="34" charset="-122"/>
                <a:cs typeface="Liter" pitchFamily="34" charset="-120"/>
              </a:rPr>
              <a:t>High complexity, gradient boosting, high performance</a:t>
            </a:r>
            <a:endParaRPr lang="en-US" sz="1600" dirty="0"/>
          </a:p>
        </p:txBody>
      </p:sp>
      <p:sp>
        <p:nvSpPr>
          <p:cNvPr id="53" name="Text 51"/>
          <p:cNvSpPr/>
          <p:nvPr/>
        </p:nvSpPr>
        <p:spPr>
          <a:xfrm>
            <a:off x="8389938" y="5913438"/>
            <a:ext cx="32781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Liter" pitchFamily="34" charset="0"/>
                <a:ea typeface="Liter" pitchFamily="34" charset="-122"/>
                <a:cs typeface="Liter" pitchFamily="34" charset="-120"/>
              </a:rPr>
              <a:t>Yüksek karmaşıklık, gradyan artırma, yüksek performans</a:t>
            </a:r>
            <a:endParaRPr lang="en-US" sz="1600" dirty="0"/>
          </a:p>
        </p:txBody>
      </p:sp>
      <p:sp>
        <p:nvSpPr>
          <p:cNvPr id="54" name="Shape 52"/>
          <p:cNvSpPr/>
          <p:nvPr/>
        </p:nvSpPr>
        <p:spPr>
          <a:xfrm>
            <a:off x="321469" y="6465094"/>
            <a:ext cx="11549063" cy="484187"/>
          </a:xfrm>
          <a:custGeom>
            <a:avLst/>
            <a:gdLst/>
            <a:ahLst/>
            <a:cxnLst/>
            <a:rect l="l" t="t" r="r" b="b"/>
            <a:pathLst>
              <a:path w="11549063" h="484187">
                <a:moveTo>
                  <a:pt x="95249" y="0"/>
                </a:moveTo>
                <a:lnTo>
                  <a:pt x="11453813" y="0"/>
                </a:lnTo>
                <a:cubicBezTo>
                  <a:pt x="11506418" y="0"/>
                  <a:pt x="11549063" y="42645"/>
                  <a:pt x="11549063" y="95249"/>
                </a:cubicBezTo>
                <a:lnTo>
                  <a:pt x="11549063" y="388938"/>
                </a:lnTo>
                <a:cubicBezTo>
                  <a:pt x="11549063" y="441543"/>
                  <a:pt x="11506418" y="484188"/>
                  <a:pt x="11453813" y="484187"/>
                </a:cubicBezTo>
                <a:lnTo>
                  <a:pt x="95249" y="484187"/>
                </a:lnTo>
                <a:cubicBezTo>
                  <a:pt x="42645" y="484187"/>
                  <a:pt x="0" y="441543"/>
                  <a:pt x="0" y="388938"/>
                </a:cubicBezTo>
                <a:lnTo>
                  <a:pt x="0" y="95249"/>
                </a:lnTo>
                <a:cubicBezTo>
                  <a:pt x="0" y="42645"/>
                  <a:pt x="42645" y="0"/>
                  <a:pt x="95249" y="0"/>
                </a:cubicBezTo>
                <a:close/>
              </a:path>
            </a:pathLst>
          </a:custGeom>
          <a:solidFill>
            <a:srgbClr val="4A6C8C">
              <a:alpha val="10196"/>
            </a:srgbClr>
          </a:solidFill>
          <a:ln w="12700">
            <a:solidFill>
              <a:srgbClr val="4A6C8C">
                <a:alpha val="30196"/>
              </a:srgbClr>
            </a:solidFill>
            <a:prstDash val="solid"/>
          </a:ln>
        </p:spPr>
      </p:sp>
      <p:sp>
        <p:nvSpPr>
          <p:cNvPr id="55" name="Shape 53"/>
          <p:cNvSpPr/>
          <p:nvPr/>
        </p:nvSpPr>
        <p:spPr>
          <a:xfrm>
            <a:off x="1306215" y="6635750"/>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94990" y="59355"/>
                </a:moveTo>
                <a:lnTo>
                  <a:pt x="72665" y="95073"/>
                </a:lnTo>
                <a:cubicBezTo>
                  <a:pt x="71493" y="96943"/>
                  <a:pt x="69484" y="98115"/>
                  <a:pt x="67280" y="98227"/>
                </a:cubicBezTo>
                <a:cubicBezTo>
                  <a:pt x="65075" y="98338"/>
                  <a:pt x="62954" y="97334"/>
                  <a:pt x="61643" y="95548"/>
                </a:cubicBezTo>
                <a:lnTo>
                  <a:pt x="48248" y="77688"/>
                </a:lnTo>
                <a:cubicBezTo>
                  <a:pt x="46016" y="74730"/>
                  <a:pt x="46630" y="70545"/>
                  <a:pt x="49588" y="68312"/>
                </a:cubicBezTo>
                <a:cubicBezTo>
                  <a:pt x="52546" y="66080"/>
                  <a:pt x="56731" y="66694"/>
                  <a:pt x="58964" y="69652"/>
                </a:cubicBezTo>
                <a:lnTo>
                  <a:pt x="66498" y="79697"/>
                </a:lnTo>
                <a:lnTo>
                  <a:pt x="83632" y="52267"/>
                </a:lnTo>
                <a:cubicBezTo>
                  <a:pt x="85585" y="49141"/>
                  <a:pt x="89715" y="48165"/>
                  <a:pt x="92869" y="50146"/>
                </a:cubicBezTo>
                <a:cubicBezTo>
                  <a:pt x="96022" y="52127"/>
                  <a:pt x="96971" y="56229"/>
                  <a:pt x="94990" y="59382"/>
                </a:cubicBezTo>
                <a:close/>
              </a:path>
            </a:pathLst>
          </a:custGeom>
          <a:solidFill>
            <a:srgbClr val="D4A373"/>
          </a:solidFill>
          <a:ln/>
        </p:spPr>
      </p:sp>
      <p:sp>
        <p:nvSpPr>
          <p:cNvPr id="56" name="Text 54"/>
          <p:cNvSpPr/>
          <p:nvPr/>
        </p:nvSpPr>
        <p:spPr>
          <a:xfrm>
            <a:off x="638969" y="6596063"/>
            <a:ext cx="11136313" cy="222250"/>
          </a:xfrm>
          <a:prstGeom prst="rect">
            <a:avLst/>
          </a:prstGeom>
          <a:noFill/>
          <a:ln/>
        </p:spPr>
        <p:txBody>
          <a:bodyPr wrap="square" lIns="0" tIns="0" rIns="0" bIns="0" rtlCol="0" anchor="ctr"/>
          <a:lstStyle/>
          <a:p>
            <a:pPr algn="ctr">
              <a:lnSpc>
                <a:spcPct val="130000"/>
              </a:lnSpc>
            </a:pPr>
            <a:r>
              <a:rPr lang="en-US" sz="1125" b="1" dirty="0">
                <a:solidFill>
                  <a:srgbClr val="EDF2F4"/>
                </a:solidFill>
                <a:latin typeface="Liter" pitchFamily="34" charset="0"/>
                <a:ea typeface="Liter" pitchFamily="34" charset="-122"/>
                <a:cs typeface="Liter" pitchFamily="34" charset="-120"/>
              </a:rPr>
              <a:t>Goal:</a:t>
            </a:r>
            <a:pPr algn="ctr">
              <a:lnSpc>
                <a:spcPct val="130000"/>
              </a:lnSpc>
            </a:pPr>
            <a:r>
              <a:rPr lang="en-US" sz="1125" dirty="0">
                <a:solidFill>
                  <a:srgbClr val="EDF2F4"/>
                </a:solidFill>
                <a:latin typeface="Liter" pitchFamily="34" charset="0"/>
                <a:ea typeface="Liter" pitchFamily="34" charset="-122"/>
                <a:cs typeface="Liter" pitchFamily="34" charset="-120"/>
              </a:rPr>
              <a:t> Identify which model architecture works best for this specific dataset </a:t>
            </a:r>
            <a:pPr algn="ctr">
              <a:lnSpc>
                <a:spcPct val="130000"/>
              </a:lnSpc>
            </a:pPr>
            <a:r>
              <a:rPr lang="en-US" sz="1125" dirty="0">
                <a:solidFill>
                  <a:srgbClr val="8D99AE"/>
                </a:solidFill>
                <a:latin typeface="Liter" pitchFamily="34" charset="0"/>
                <a:ea typeface="Liter" pitchFamily="34" charset="-122"/>
                <a:cs typeface="Liter" pitchFamily="34" charset="-120"/>
              </a:rPr>
              <a:t>| Amaç: Hangi model mimarisinin bu veri seti için en iyi çalıştığını belirlemek</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8D99AE"/>
          </a:solidFill>
          <a:ln/>
        </p:spPr>
      </p:sp>
      <p:sp>
        <p:nvSpPr>
          <p:cNvPr id="3" name="Text 1"/>
          <p:cNvSpPr/>
          <p:nvPr/>
        </p:nvSpPr>
        <p:spPr>
          <a:xfrm>
            <a:off x="571500" y="419100"/>
            <a:ext cx="3629025"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Preprocessing Pipeline</a:t>
            </a:r>
            <a:endParaRPr lang="en-US" sz="1600" dirty="0"/>
          </a:p>
        </p:txBody>
      </p:sp>
      <p:sp>
        <p:nvSpPr>
          <p:cNvPr id="4" name="Text 2"/>
          <p:cNvSpPr/>
          <p:nvPr/>
        </p:nvSpPr>
        <p:spPr>
          <a:xfrm>
            <a:off x="571500" y="914400"/>
            <a:ext cx="11353800" cy="304800"/>
          </a:xfrm>
          <a:prstGeom prst="rect">
            <a:avLst/>
          </a:prstGeom>
          <a:noFill/>
          <a:ln/>
        </p:spPr>
        <p:txBody>
          <a:bodyPr wrap="square" lIns="0" tIns="0" rIns="0" bIns="0" rtlCol="0" anchor="ctr"/>
          <a:lstStyle/>
          <a:p>
            <a:pPr>
              <a:lnSpc>
                <a:spcPct val="110000"/>
              </a:lnSpc>
            </a:pPr>
            <a:r>
              <a:rPr lang="en-US" sz="1800" dirty="0">
                <a:solidFill>
                  <a:srgbClr val="8D99AE"/>
                </a:solidFill>
                <a:latin typeface="Liter" pitchFamily="34" charset="0"/>
                <a:ea typeface="Liter" pitchFamily="34" charset="-122"/>
                <a:cs typeface="Liter" pitchFamily="34" charset="-120"/>
              </a:rPr>
              <a:t>Ön İşleme Pipeline'ı</a:t>
            </a:r>
            <a:endParaRPr lang="en-US" sz="1600" dirty="0"/>
          </a:p>
        </p:txBody>
      </p:sp>
      <p:sp>
        <p:nvSpPr>
          <p:cNvPr id="5" name="Shape 3"/>
          <p:cNvSpPr/>
          <p:nvPr/>
        </p:nvSpPr>
        <p:spPr>
          <a:xfrm>
            <a:off x="385763" y="1433513"/>
            <a:ext cx="2733675" cy="3209925"/>
          </a:xfrm>
          <a:custGeom>
            <a:avLst/>
            <a:gdLst/>
            <a:ahLst/>
            <a:cxnLst/>
            <a:rect l="l" t="t" r="r" b="b"/>
            <a:pathLst>
              <a:path w="2733675" h="3209925">
                <a:moveTo>
                  <a:pt x="114295" y="0"/>
                </a:moveTo>
                <a:lnTo>
                  <a:pt x="2619380" y="0"/>
                </a:lnTo>
                <a:cubicBezTo>
                  <a:pt x="2682503" y="0"/>
                  <a:pt x="2733675" y="51172"/>
                  <a:pt x="2733675" y="114295"/>
                </a:cubicBezTo>
                <a:lnTo>
                  <a:pt x="2733675" y="3095630"/>
                </a:lnTo>
                <a:cubicBezTo>
                  <a:pt x="2733675" y="3158753"/>
                  <a:pt x="2682503" y="3209925"/>
                  <a:pt x="2619380" y="3209925"/>
                </a:cubicBezTo>
                <a:lnTo>
                  <a:pt x="114295" y="3209925"/>
                </a:lnTo>
                <a:cubicBezTo>
                  <a:pt x="51172" y="3209925"/>
                  <a:pt x="0" y="3158753"/>
                  <a:pt x="0" y="3095630"/>
                </a:cubicBezTo>
                <a:lnTo>
                  <a:pt x="0" y="114295"/>
                </a:lnTo>
                <a:cubicBezTo>
                  <a:pt x="0" y="51214"/>
                  <a:pt x="51214" y="0"/>
                  <a:pt x="114295" y="0"/>
                </a:cubicBezTo>
                <a:close/>
              </a:path>
            </a:pathLst>
          </a:custGeom>
          <a:gradFill rotWithShape="1" flip="none">
            <a:gsLst>
              <a:gs pos="0">
                <a:srgbClr val="4A6C8C">
                  <a:alpha val="30000"/>
                </a:srgbClr>
              </a:gs>
              <a:gs pos="100000">
                <a:srgbClr val="1A1D21">
                  <a:alpha val="60000"/>
                </a:srgbClr>
              </a:gs>
            </a:gsLst>
            <a:lin ang="2700000" scaled="1"/>
          </a:gradFill>
          <a:ln w="12700">
            <a:solidFill>
              <a:srgbClr val="4A6C8C">
                <a:alpha val="50196"/>
              </a:srgbClr>
            </a:solidFill>
            <a:prstDash val="solid"/>
          </a:ln>
        </p:spPr>
      </p:sp>
      <p:sp>
        <p:nvSpPr>
          <p:cNvPr id="6" name="Shape 4"/>
          <p:cNvSpPr/>
          <p:nvPr/>
        </p:nvSpPr>
        <p:spPr>
          <a:xfrm>
            <a:off x="1524000" y="15906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6C8C"/>
          </a:solidFill>
          <a:ln/>
        </p:spPr>
      </p:sp>
      <p:sp>
        <p:nvSpPr>
          <p:cNvPr id="7" name="Text 5"/>
          <p:cNvSpPr/>
          <p:nvPr/>
        </p:nvSpPr>
        <p:spPr>
          <a:xfrm>
            <a:off x="1476375" y="15906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500063" y="2162175"/>
            <a:ext cx="2505075" cy="266700"/>
          </a:xfrm>
          <a:prstGeom prst="rect">
            <a:avLst/>
          </a:prstGeom>
          <a:noFill/>
          <a:ln/>
        </p:spPr>
        <p:txBody>
          <a:bodyPr wrap="square" lIns="0" tIns="0" rIns="0" bIns="0" rtlCol="0" anchor="ctr"/>
          <a:lstStyle/>
          <a:p>
            <a:pPr algn="ctr">
              <a:lnSpc>
                <a:spcPct val="130000"/>
              </a:lnSpc>
            </a:pPr>
            <a:r>
              <a:rPr lang="en-US" sz="1350" b="1" dirty="0">
                <a:solidFill>
                  <a:srgbClr val="EDF2F4"/>
                </a:solidFill>
                <a:latin typeface="Liter" pitchFamily="34" charset="0"/>
                <a:ea typeface="Liter" pitchFamily="34" charset="-122"/>
                <a:cs typeface="Liter" pitchFamily="34" charset="-120"/>
              </a:rPr>
              <a:t>Train / Test Split</a:t>
            </a:r>
            <a:endParaRPr lang="en-US" sz="1600" dirty="0"/>
          </a:p>
        </p:txBody>
      </p:sp>
      <p:sp>
        <p:nvSpPr>
          <p:cNvPr id="9" name="Shape 7"/>
          <p:cNvSpPr/>
          <p:nvPr/>
        </p:nvSpPr>
        <p:spPr>
          <a:xfrm>
            <a:off x="542925" y="2543175"/>
            <a:ext cx="2419350" cy="609600"/>
          </a:xfrm>
          <a:custGeom>
            <a:avLst/>
            <a:gdLst/>
            <a:ahLst/>
            <a:cxnLst/>
            <a:rect l="l" t="t" r="r" b="b"/>
            <a:pathLst>
              <a:path w="2419350" h="609600">
                <a:moveTo>
                  <a:pt x="76200" y="0"/>
                </a:moveTo>
                <a:lnTo>
                  <a:pt x="2343150" y="0"/>
                </a:lnTo>
                <a:cubicBezTo>
                  <a:pt x="2385206" y="0"/>
                  <a:pt x="2419350" y="34144"/>
                  <a:pt x="2419350" y="76200"/>
                </a:cubicBezTo>
                <a:lnTo>
                  <a:pt x="2419350" y="533400"/>
                </a:lnTo>
                <a:cubicBezTo>
                  <a:pt x="2419350" y="575456"/>
                  <a:pt x="2385206" y="609600"/>
                  <a:pt x="2343150" y="609600"/>
                </a:cubicBezTo>
                <a:lnTo>
                  <a:pt x="76200" y="609600"/>
                </a:lnTo>
                <a:cubicBezTo>
                  <a:pt x="34144" y="609600"/>
                  <a:pt x="0" y="575456"/>
                  <a:pt x="0" y="533400"/>
                </a:cubicBezTo>
                <a:lnTo>
                  <a:pt x="0" y="76200"/>
                </a:lnTo>
                <a:cubicBezTo>
                  <a:pt x="0" y="34144"/>
                  <a:pt x="34144" y="0"/>
                  <a:pt x="76200" y="0"/>
                </a:cubicBezTo>
                <a:close/>
              </a:path>
            </a:pathLst>
          </a:custGeom>
          <a:solidFill>
            <a:srgbClr val="1A1D21">
              <a:alpha val="60000"/>
            </a:srgbClr>
          </a:solidFill>
          <a:ln/>
        </p:spPr>
      </p:sp>
      <p:sp>
        <p:nvSpPr>
          <p:cNvPr id="10" name="Text 8"/>
          <p:cNvSpPr/>
          <p:nvPr/>
        </p:nvSpPr>
        <p:spPr>
          <a:xfrm>
            <a:off x="619125" y="261937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Split Ratio | Bölme Oranı</a:t>
            </a:r>
            <a:endParaRPr lang="en-US" sz="1600" dirty="0"/>
          </a:p>
        </p:txBody>
      </p:sp>
      <p:sp>
        <p:nvSpPr>
          <p:cNvPr id="11" name="Text 9"/>
          <p:cNvSpPr/>
          <p:nvPr/>
        </p:nvSpPr>
        <p:spPr>
          <a:xfrm>
            <a:off x="619125" y="2809875"/>
            <a:ext cx="2352675" cy="266700"/>
          </a:xfrm>
          <a:prstGeom prst="rect">
            <a:avLst/>
          </a:prstGeom>
          <a:noFill/>
          <a:ln/>
        </p:spPr>
        <p:txBody>
          <a:bodyPr wrap="square" lIns="0" tIns="0" rIns="0" bIns="0" rtlCol="0" anchor="ctr"/>
          <a:lstStyle/>
          <a:p>
            <a:pPr>
              <a:lnSpc>
                <a:spcPct val="130000"/>
              </a:lnSpc>
            </a:pPr>
            <a:r>
              <a:rPr lang="en-US" sz="1350" b="1" dirty="0">
                <a:solidFill>
                  <a:srgbClr val="D4A373"/>
                </a:solidFill>
                <a:latin typeface="Liter" pitchFamily="34" charset="0"/>
                <a:ea typeface="Liter" pitchFamily="34" charset="-122"/>
                <a:cs typeface="Liter" pitchFamily="34" charset="-120"/>
              </a:rPr>
              <a:t>80% - 20%</a:t>
            </a:r>
            <a:endParaRPr lang="en-US" sz="1600" dirty="0"/>
          </a:p>
        </p:txBody>
      </p:sp>
      <p:sp>
        <p:nvSpPr>
          <p:cNvPr id="12" name="Shape 10"/>
          <p:cNvSpPr/>
          <p:nvPr/>
        </p:nvSpPr>
        <p:spPr>
          <a:xfrm>
            <a:off x="542925" y="3228975"/>
            <a:ext cx="2419350" cy="571500"/>
          </a:xfrm>
          <a:custGeom>
            <a:avLst/>
            <a:gdLst/>
            <a:ahLst/>
            <a:cxnLst/>
            <a:rect l="l" t="t" r="r" b="b"/>
            <a:pathLst>
              <a:path w="2419350" h="571500">
                <a:moveTo>
                  <a:pt x="76198" y="0"/>
                </a:moveTo>
                <a:lnTo>
                  <a:pt x="2343152" y="0"/>
                </a:lnTo>
                <a:cubicBezTo>
                  <a:pt x="2385235" y="0"/>
                  <a:pt x="2419350" y="34115"/>
                  <a:pt x="2419350" y="76198"/>
                </a:cubicBezTo>
                <a:lnTo>
                  <a:pt x="2419350" y="495302"/>
                </a:lnTo>
                <a:cubicBezTo>
                  <a:pt x="2419350" y="537385"/>
                  <a:pt x="2385235" y="571500"/>
                  <a:pt x="23431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60000"/>
            </a:srgbClr>
          </a:solidFill>
          <a:ln/>
        </p:spPr>
      </p:sp>
      <p:sp>
        <p:nvSpPr>
          <p:cNvPr id="13" name="Text 11"/>
          <p:cNvSpPr/>
          <p:nvPr/>
        </p:nvSpPr>
        <p:spPr>
          <a:xfrm>
            <a:off x="619125" y="330517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Stratified | Stratejik</a:t>
            </a:r>
            <a:endParaRPr lang="en-US" sz="1600" dirty="0"/>
          </a:p>
        </p:txBody>
      </p:sp>
      <p:sp>
        <p:nvSpPr>
          <p:cNvPr id="14" name="Text 12"/>
          <p:cNvSpPr/>
          <p:nvPr/>
        </p:nvSpPr>
        <p:spPr>
          <a:xfrm>
            <a:off x="619125" y="3495675"/>
            <a:ext cx="2343150"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For classification</a:t>
            </a:r>
            <a:endParaRPr lang="en-US" sz="1600" dirty="0"/>
          </a:p>
        </p:txBody>
      </p:sp>
      <p:sp>
        <p:nvSpPr>
          <p:cNvPr id="15" name="Shape 13"/>
          <p:cNvSpPr/>
          <p:nvPr/>
        </p:nvSpPr>
        <p:spPr>
          <a:xfrm>
            <a:off x="542925" y="3876675"/>
            <a:ext cx="2419350" cy="609600"/>
          </a:xfrm>
          <a:custGeom>
            <a:avLst/>
            <a:gdLst/>
            <a:ahLst/>
            <a:cxnLst/>
            <a:rect l="l" t="t" r="r" b="b"/>
            <a:pathLst>
              <a:path w="2419350" h="609600">
                <a:moveTo>
                  <a:pt x="76200" y="0"/>
                </a:moveTo>
                <a:lnTo>
                  <a:pt x="2343150" y="0"/>
                </a:lnTo>
                <a:cubicBezTo>
                  <a:pt x="2385206" y="0"/>
                  <a:pt x="2419350" y="34144"/>
                  <a:pt x="2419350" y="76200"/>
                </a:cubicBezTo>
                <a:lnTo>
                  <a:pt x="2419350" y="533400"/>
                </a:lnTo>
                <a:cubicBezTo>
                  <a:pt x="2419350" y="575456"/>
                  <a:pt x="2385206" y="609600"/>
                  <a:pt x="2343150" y="609600"/>
                </a:cubicBezTo>
                <a:lnTo>
                  <a:pt x="76200" y="609600"/>
                </a:lnTo>
                <a:cubicBezTo>
                  <a:pt x="34144" y="609600"/>
                  <a:pt x="0" y="575456"/>
                  <a:pt x="0" y="533400"/>
                </a:cubicBezTo>
                <a:lnTo>
                  <a:pt x="0" y="76200"/>
                </a:lnTo>
                <a:cubicBezTo>
                  <a:pt x="0" y="34144"/>
                  <a:pt x="34144" y="0"/>
                  <a:pt x="76200" y="0"/>
                </a:cubicBezTo>
                <a:close/>
              </a:path>
            </a:pathLst>
          </a:custGeom>
          <a:solidFill>
            <a:srgbClr val="1A1D21">
              <a:alpha val="60000"/>
            </a:srgbClr>
          </a:solidFill>
          <a:ln/>
        </p:spPr>
      </p:sp>
      <p:sp>
        <p:nvSpPr>
          <p:cNvPr id="16" name="Text 14"/>
          <p:cNvSpPr/>
          <p:nvPr/>
        </p:nvSpPr>
        <p:spPr>
          <a:xfrm>
            <a:off x="619125" y="395287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Random State</a:t>
            </a:r>
            <a:endParaRPr lang="en-US" sz="1600" dirty="0"/>
          </a:p>
        </p:txBody>
      </p:sp>
      <p:sp>
        <p:nvSpPr>
          <p:cNvPr id="17" name="Text 15"/>
          <p:cNvSpPr/>
          <p:nvPr/>
        </p:nvSpPr>
        <p:spPr>
          <a:xfrm>
            <a:off x="619125" y="4143375"/>
            <a:ext cx="2352675" cy="266700"/>
          </a:xfrm>
          <a:prstGeom prst="rect">
            <a:avLst/>
          </a:prstGeom>
          <a:noFill/>
          <a:ln/>
        </p:spPr>
        <p:txBody>
          <a:bodyPr wrap="square" lIns="0" tIns="0" rIns="0" bIns="0" rtlCol="0" anchor="ctr"/>
          <a:lstStyle/>
          <a:p>
            <a:pPr>
              <a:lnSpc>
                <a:spcPct val="130000"/>
              </a:lnSpc>
            </a:pPr>
            <a:r>
              <a:rPr lang="en-US" sz="1350" b="1" dirty="0">
                <a:solidFill>
                  <a:srgbClr val="4A6C8C"/>
                </a:solidFill>
                <a:latin typeface="Liter" pitchFamily="34" charset="0"/>
                <a:ea typeface="Liter" pitchFamily="34" charset="-122"/>
                <a:cs typeface="Liter" pitchFamily="34" charset="-120"/>
              </a:rPr>
              <a:t>42</a:t>
            </a:r>
            <a:endParaRPr lang="en-US" sz="1600" dirty="0"/>
          </a:p>
        </p:txBody>
      </p:sp>
      <p:sp>
        <p:nvSpPr>
          <p:cNvPr id="18" name="Shape 16"/>
          <p:cNvSpPr/>
          <p:nvPr/>
        </p:nvSpPr>
        <p:spPr>
          <a:xfrm>
            <a:off x="3281363" y="1433513"/>
            <a:ext cx="2733675" cy="3209925"/>
          </a:xfrm>
          <a:custGeom>
            <a:avLst/>
            <a:gdLst/>
            <a:ahLst/>
            <a:cxnLst/>
            <a:rect l="l" t="t" r="r" b="b"/>
            <a:pathLst>
              <a:path w="2733675" h="3209925">
                <a:moveTo>
                  <a:pt x="114295" y="0"/>
                </a:moveTo>
                <a:lnTo>
                  <a:pt x="2619380" y="0"/>
                </a:lnTo>
                <a:cubicBezTo>
                  <a:pt x="2682503" y="0"/>
                  <a:pt x="2733675" y="51172"/>
                  <a:pt x="2733675" y="114295"/>
                </a:cubicBezTo>
                <a:lnTo>
                  <a:pt x="2733675" y="3095630"/>
                </a:lnTo>
                <a:cubicBezTo>
                  <a:pt x="2733675" y="3158753"/>
                  <a:pt x="2682503" y="3209925"/>
                  <a:pt x="2619380" y="3209925"/>
                </a:cubicBezTo>
                <a:lnTo>
                  <a:pt x="114295" y="3209925"/>
                </a:lnTo>
                <a:cubicBezTo>
                  <a:pt x="51172" y="3209925"/>
                  <a:pt x="0" y="3158753"/>
                  <a:pt x="0" y="3095630"/>
                </a:cubicBezTo>
                <a:lnTo>
                  <a:pt x="0" y="114295"/>
                </a:lnTo>
                <a:cubicBezTo>
                  <a:pt x="0" y="51214"/>
                  <a:pt x="51214" y="0"/>
                  <a:pt x="114295" y="0"/>
                </a:cubicBezTo>
                <a:close/>
              </a:path>
            </a:pathLst>
          </a:custGeom>
          <a:gradFill rotWithShape="1" flip="none">
            <a:gsLst>
              <a:gs pos="0">
                <a:srgbClr val="D4A373">
                  <a:alpha val="30000"/>
                </a:srgbClr>
              </a:gs>
              <a:gs pos="100000">
                <a:srgbClr val="1A1D21">
                  <a:alpha val="60000"/>
                </a:srgbClr>
              </a:gs>
            </a:gsLst>
            <a:lin ang="2700000" scaled="1"/>
          </a:gradFill>
          <a:ln w="12700">
            <a:solidFill>
              <a:srgbClr val="D4A373">
                <a:alpha val="50196"/>
              </a:srgbClr>
            </a:solidFill>
            <a:prstDash val="solid"/>
          </a:ln>
        </p:spPr>
      </p:sp>
      <p:sp>
        <p:nvSpPr>
          <p:cNvPr id="19" name="Shape 17"/>
          <p:cNvSpPr/>
          <p:nvPr/>
        </p:nvSpPr>
        <p:spPr>
          <a:xfrm>
            <a:off x="4419600" y="15906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D4A373"/>
          </a:solidFill>
          <a:ln/>
        </p:spPr>
      </p:sp>
      <p:sp>
        <p:nvSpPr>
          <p:cNvPr id="20" name="Text 18"/>
          <p:cNvSpPr/>
          <p:nvPr/>
        </p:nvSpPr>
        <p:spPr>
          <a:xfrm>
            <a:off x="4371975" y="15906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2</a:t>
            </a:r>
            <a:endParaRPr lang="en-US" sz="1600" dirty="0"/>
          </a:p>
        </p:txBody>
      </p:sp>
      <p:sp>
        <p:nvSpPr>
          <p:cNvPr id="21" name="Text 19"/>
          <p:cNvSpPr/>
          <p:nvPr/>
        </p:nvSpPr>
        <p:spPr>
          <a:xfrm>
            <a:off x="3395663" y="2162175"/>
            <a:ext cx="2505075" cy="266700"/>
          </a:xfrm>
          <a:prstGeom prst="rect">
            <a:avLst/>
          </a:prstGeom>
          <a:noFill/>
          <a:ln/>
        </p:spPr>
        <p:txBody>
          <a:bodyPr wrap="square" lIns="0" tIns="0" rIns="0" bIns="0" rtlCol="0" anchor="ctr"/>
          <a:lstStyle/>
          <a:p>
            <a:pPr algn="ctr">
              <a:lnSpc>
                <a:spcPct val="130000"/>
              </a:lnSpc>
            </a:pPr>
            <a:r>
              <a:rPr lang="en-US" sz="1350" b="1" dirty="0">
                <a:solidFill>
                  <a:srgbClr val="EDF2F4"/>
                </a:solidFill>
                <a:latin typeface="Liter" pitchFamily="34" charset="0"/>
                <a:ea typeface="Liter" pitchFamily="34" charset="-122"/>
                <a:cs typeface="Liter" pitchFamily="34" charset="-120"/>
              </a:rPr>
              <a:t>Numerical Features</a:t>
            </a:r>
            <a:endParaRPr lang="en-US" sz="1600" dirty="0"/>
          </a:p>
        </p:txBody>
      </p:sp>
      <p:sp>
        <p:nvSpPr>
          <p:cNvPr id="22" name="Shape 20"/>
          <p:cNvSpPr/>
          <p:nvPr/>
        </p:nvSpPr>
        <p:spPr>
          <a:xfrm>
            <a:off x="3438525" y="2905125"/>
            <a:ext cx="2419350" cy="571500"/>
          </a:xfrm>
          <a:custGeom>
            <a:avLst/>
            <a:gdLst/>
            <a:ahLst/>
            <a:cxnLst/>
            <a:rect l="l" t="t" r="r" b="b"/>
            <a:pathLst>
              <a:path w="2419350" h="571500">
                <a:moveTo>
                  <a:pt x="76198" y="0"/>
                </a:moveTo>
                <a:lnTo>
                  <a:pt x="2343152" y="0"/>
                </a:lnTo>
                <a:cubicBezTo>
                  <a:pt x="2385235" y="0"/>
                  <a:pt x="2419350" y="34115"/>
                  <a:pt x="2419350" y="76198"/>
                </a:cubicBezTo>
                <a:lnTo>
                  <a:pt x="2419350" y="495302"/>
                </a:lnTo>
                <a:cubicBezTo>
                  <a:pt x="2419350" y="537385"/>
                  <a:pt x="2385235" y="571500"/>
                  <a:pt x="23431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60000"/>
            </a:srgbClr>
          </a:solidFill>
          <a:ln/>
        </p:spPr>
      </p:sp>
      <p:sp>
        <p:nvSpPr>
          <p:cNvPr id="23" name="Text 21"/>
          <p:cNvSpPr/>
          <p:nvPr/>
        </p:nvSpPr>
        <p:spPr>
          <a:xfrm>
            <a:off x="3514725" y="298132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Imputation | İmputasyon</a:t>
            </a:r>
            <a:endParaRPr lang="en-US" sz="1600" dirty="0"/>
          </a:p>
        </p:txBody>
      </p:sp>
      <p:sp>
        <p:nvSpPr>
          <p:cNvPr id="24" name="Text 22"/>
          <p:cNvSpPr/>
          <p:nvPr/>
        </p:nvSpPr>
        <p:spPr>
          <a:xfrm>
            <a:off x="3514725" y="3171825"/>
            <a:ext cx="2343150"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Median</a:t>
            </a:r>
            <a:endParaRPr lang="en-US" sz="1600" dirty="0"/>
          </a:p>
        </p:txBody>
      </p:sp>
      <p:sp>
        <p:nvSpPr>
          <p:cNvPr id="25" name="Shape 23"/>
          <p:cNvSpPr/>
          <p:nvPr/>
        </p:nvSpPr>
        <p:spPr>
          <a:xfrm>
            <a:off x="3438525" y="3552825"/>
            <a:ext cx="2419350" cy="571500"/>
          </a:xfrm>
          <a:custGeom>
            <a:avLst/>
            <a:gdLst/>
            <a:ahLst/>
            <a:cxnLst/>
            <a:rect l="l" t="t" r="r" b="b"/>
            <a:pathLst>
              <a:path w="2419350" h="571500">
                <a:moveTo>
                  <a:pt x="76198" y="0"/>
                </a:moveTo>
                <a:lnTo>
                  <a:pt x="2343152" y="0"/>
                </a:lnTo>
                <a:cubicBezTo>
                  <a:pt x="2385235" y="0"/>
                  <a:pt x="2419350" y="34115"/>
                  <a:pt x="2419350" y="76198"/>
                </a:cubicBezTo>
                <a:lnTo>
                  <a:pt x="2419350" y="495302"/>
                </a:lnTo>
                <a:cubicBezTo>
                  <a:pt x="2419350" y="537385"/>
                  <a:pt x="2385235" y="571500"/>
                  <a:pt x="23431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60000"/>
            </a:srgbClr>
          </a:solidFill>
          <a:ln/>
        </p:spPr>
      </p:sp>
      <p:sp>
        <p:nvSpPr>
          <p:cNvPr id="26" name="Text 24"/>
          <p:cNvSpPr/>
          <p:nvPr/>
        </p:nvSpPr>
        <p:spPr>
          <a:xfrm>
            <a:off x="3514725" y="362902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Scaling | Ölçekleme</a:t>
            </a:r>
            <a:endParaRPr lang="en-US" sz="1600" dirty="0"/>
          </a:p>
        </p:txBody>
      </p:sp>
      <p:sp>
        <p:nvSpPr>
          <p:cNvPr id="27" name="Text 25"/>
          <p:cNvSpPr/>
          <p:nvPr/>
        </p:nvSpPr>
        <p:spPr>
          <a:xfrm>
            <a:off x="3514725" y="3819525"/>
            <a:ext cx="2343150"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StandardScaler</a:t>
            </a:r>
            <a:endParaRPr lang="en-US" sz="1600" dirty="0"/>
          </a:p>
        </p:txBody>
      </p:sp>
      <p:sp>
        <p:nvSpPr>
          <p:cNvPr id="28" name="Shape 26"/>
          <p:cNvSpPr/>
          <p:nvPr/>
        </p:nvSpPr>
        <p:spPr>
          <a:xfrm>
            <a:off x="6176963" y="1433513"/>
            <a:ext cx="2733675" cy="3209925"/>
          </a:xfrm>
          <a:custGeom>
            <a:avLst/>
            <a:gdLst/>
            <a:ahLst/>
            <a:cxnLst/>
            <a:rect l="l" t="t" r="r" b="b"/>
            <a:pathLst>
              <a:path w="2733675" h="3209925">
                <a:moveTo>
                  <a:pt x="114295" y="0"/>
                </a:moveTo>
                <a:lnTo>
                  <a:pt x="2619380" y="0"/>
                </a:lnTo>
                <a:cubicBezTo>
                  <a:pt x="2682503" y="0"/>
                  <a:pt x="2733675" y="51172"/>
                  <a:pt x="2733675" y="114295"/>
                </a:cubicBezTo>
                <a:lnTo>
                  <a:pt x="2733675" y="3095630"/>
                </a:lnTo>
                <a:cubicBezTo>
                  <a:pt x="2733675" y="3158753"/>
                  <a:pt x="2682503" y="3209925"/>
                  <a:pt x="2619380" y="3209925"/>
                </a:cubicBezTo>
                <a:lnTo>
                  <a:pt x="114295" y="3209925"/>
                </a:lnTo>
                <a:cubicBezTo>
                  <a:pt x="51172" y="3209925"/>
                  <a:pt x="0" y="3158753"/>
                  <a:pt x="0" y="3095630"/>
                </a:cubicBezTo>
                <a:lnTo>
                  <a:pt x="0" y="114295"/>
                </a:lnTo>
                <a:cubicBezTo>
                  <a:pt x="0" y="51214"/>
                  <a:pt x="51214" y="0"/>
                  <a:pt x="114295" y="0"/>
                </a:cubicBezTo>
                <a:close/>
              </a:path>
            </a:pathLst>
          </a:custGeom>
          <a:gradFill rotWithShape="1" flip="none">
            <a:gsLst>
              <a:gs pos="0">
                <a:srgbClr val="8D99AE">
                  <a:alpha val="30000"/>
                </a:srgbClr>
              </a:gs>
              <a:gs pos="100000">
                <a:srgbClr val="1A1D21">
                  <a:alpha val="60000"/>
                </a:srgbClr>
              </a:gs>
            </a:gsLst>
            <a:lin ang="2700000" scaled="1"/>
          </a:gradFill>
          <a:ln w="12700">
            <a:solidFill>
              <a:srgbClr val="8D99AE">
                <a:alpha val="50196"/>
              </a:srgbClr>
            </a:solidFill>
            <a:prstDash val="solid"/>
          </a:ln>
        </p:spPr>
      </p:sp>
      <p:sp>
        <p:nvSpPr>
          <p:cNvPr id="29" name="Shape 27"/>
          <p:cNvSpPr/>
          <p:nvPr/>
        </p:nvSpPr>
        <p:spPr>
          <a:xfrm>
            <a:off x="7315200" y="15906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D99AE"/>
          </a:solidFill>
          <a:ln/>
        </p:spPr>
      </p:sp>
      <p:sp>
        <p:nvSpPr>
          <p:cNvPr id="30" name="Text 28"/>
          <p:cNvSpPr/>
          <p:nvPr/>
        </p:nvSpPr>
        <p:spPr>
          <a:xfrm>
            <a:off x="7267575" y="15906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3</a:t>
            </a:r>
            <a:endParaRPr lang="en-US" sz="1600" dirty="0"/>
          </a:p>
        </p:txBody>
      </p:sp>
      <p:sp>
        <p:nvSpPr>
          <p:cNvPr id="31" name="Text 29"/>
          <p:cNvSpPr/>
          <p:nvPr/>
        </p:nvSpPr>
        <p:spPr>
          <a:xfrm>
            <a:off x="6291263" y="2162175"/>
            <a:ext cx="2505075" cy="266700"/>
          </a:xfrm>
          <a:prstGeom prst="rect">
            <a:avLst/>
          </a:prstGeom>
          <a:noFill/>
          <a:ln/>
        </p:spPr>
        <p:txBody>
          <a:bodyPr wrap="square" lIns="0" tIns="0" rIns="0" bIns="0" rtlCol="0" anchor="ctr"/>
          <a:lstStyle/>
          <a:p>
            <a:pPr algn="ctr">
              <a:lnSpc>
                <a:spcPct val="130000"/>
              </a:lnSpc>
            </a:pPr>
            <a:r>
              <a:rPr lang="en-US" sz="1350" b="1" dirty="0">
                <a:solidFill>
                  <a:srgbClr val="EDF2F4"/>
                </a:solidFill>
                <a:latin typeface="Liter" pitchFamily="34" charset="0"/>
                <a:ea typeface="Liter" pitchFamily="34" charset="-122"/>
                <a:cs typeface="Liter" pitchFamily="34" charset="-120"/>
              </a:rPr>
              <a:t>Categorical Features</a:t>
            </a:r>
            <a:endParaRPr lang="en-US" sz="1600" dirty="0"/>
          </a:p>
        </p:txBody>
      </p:sp>
      <p:sp>
        <p:nvSpPr>
          <p:cNvPr id="32" name="Shape 30"/>
          <p:cNvSpPr/>
          <p:nvPr/>
        </p:nvSpPr>
        <p:spPr>
          <a:xfrm>
            <a:off x="6334125" y="2905125"/>
            <a:ext cx="2419350" cy="571500"/>
          </a:xfrm>
          <a:custGeom>
            <a:avLst/>
            <a:gdLst/>
            <a:ahLst/>
            <a:cxnLst/>
            <a:rect l="l" t="t" r="r" b="b"/>
            <a:pathLst>
              <a:path w="2419350" h="571500">
                <a:moveTo>
                  <a:pt x="76198" y="0"/>
                </a:moveTo>
                <a:lnTo>
                  <a:pt x="2343152" y="0"/>
                </a:lnTo>
                <a:cubicBezTo>
                  <a:pt x="2385235" y="0"/>
                  <a:pt x="2419350" y="34115"/>
                  <a:pt x="2419350" y="76198"/>
                </a:cubicBezTo>
                <a:lnTo>
                  <a:pt x="2419350" y="495302"/>
                </a:lnTo>
                <a:cubicBezTo>
                  <a:pt x="2419350" y="537385"/>
                  <a:pt x="2385235" y="571500"/>
                  <a:pt x="23431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60000"/>
            </a:srgbClr>
          </a:solidFill>
          <a:ln/>
        </p:spPr>
      </p:sp>
      <p:sp>
        <p:nvSpPr>
          <p:cNvPr id="33" name="Text 31"/>
          <p:cNvSpPr/>
          <p:nvPr/>
        </p:nvSpPr>
        <p:spPr>
          <a:xfrm>
            <a:off x="6410325" y="298132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Imputation | İmputasyon</a:t>
            </a:r>
            <a:endParaRPr lang="en-US" sz="1600" dirty="0"/>
          </a:p>
        </p:txBody>
      </p:sp>
      <p:sp>
        <p:nvSpPr>
          <p:cNvPr id="34" name="Text 32"/>
          <p:cNvSpPr/>
          <p:nvPr/>
        </p:nvSpPr>
        <p:spPr>
          <a:xfrm>
            <a:off x="6410325" y="3171825"/>
            <a:ext cx="2343150"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Mode (Most Frequent)</a:t>
            </a:r>
            <a:endParaRPr lang="en-US" sz="1600" dirty="0"/>
          </a:p>
        </p:txBody>
      </p:sp>
      <p:sp>
        <p:nvSpPr>
          <p:cNvPr id="35" name="Shape 33"/>
          <p:cNvSpPr/>
          <p:nvPr/>
        </p:nvSpPr>
        <p:spPr>
          <a:xfrm>
            <a:off x="6334125" y="3552825"/>
            <a:ext cx="2419350" cy="571500"/>
          </a:xfrm>
          <a:custGeom>
            <a:avLst/>
            <a:gdLst/>
            <a:ahLst/>
            <a:cxnLst/>
            <a:rect l="l" t="t" r="r" b="b"/>
            <a:pathLst>
              <a:path w="2419350" h="571500">
                <a:moveTo>
                  <a:pt x="76198" y="0"/>
                </a:moveTo>
                <a:lnTo>
                  <a:pt x="2343152" y="0"/>
                </a:lnTo>
                <a:cubicBezTo>
                  <a:pt x="2385235" y="0"/>
                  <a:pt x="2419350" y="34115"/>
                  <a:pt x="2419350" y="76198"/>
                </a:cubicBezTo>
                <a:lnTo>
                  <a:pt x="2419350" y="495302"/>
                </a:lnTo>
                <a:cubicBezTo>
                  <a:pt x="2419350" y="537385"/>
                  <a:pt x="2385235" y="571500"/>
                  <a:pt x="23431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60000"/>
            </a:srgbClr>
          </a:solidFill>
          <a:ln/>
        </p:spPr>
      </p:sp>
      <p:sp>
        <p:nvSpPr>
          <p:cNvPr id="36" name="Text 34"/>
          <p:cNvSpPr/>
          <p:nvPr/>
        </p:nvSpPr>
        <p:spPr>
          <a:xfrm>
            <a:off x="6410325" y="362902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Encoding | Kodlama</a:t>
            </a:r>
            <a:endParaRPr lang="en-US" sz="1600" dirty="0"/>
          </a:p>
        </p:txBody>
      </p:sp>
      <p:sp>
        <p:nvSpPr>
          <p:cNvPr id="37" name="Text 35"/>
          <p:cNvSpPr/>
          <p:nvPr/>
        </p:nvSpPr>
        <p:spPr>
          <a:xfrm>
            <a:off x="6410325" y="3819525"/>
            <a:ext cx="2343150"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OneHotEncoder</a:t>
            </a:r>
            <a:endParaRPr lang="en-US" sz="1600" dirty="0"/>
          </a:p>
        </p:txBody>
      </p:sp>
      <p:sp>
        <p:nvSpPr>
          <p:cNvPr id="38" name="Shape 36"/>
          <p:cNvSpPr/>
          <p:nvPr/>
        </p:nvSpPr>
        <p:spPr>
          <a:xfrm>
            <a:off x="9072563" y="1433513"/>
            <a:ext cx="2733675" cy="3209925"/>
          </a:xfrm>
          <a:custGeom>
            <a:avLst/>
            <a:gdLst/>
            <a:ahLst/>
            <a:cxnLst/>
            <a:rect l="l" t="t" r="r" b="b"/>
            <a:pathLst>
              <a:path w="2733675" h="3209925">
                <a:moveTo>
                  <a:pt x="114295" y="0"/>
                </a:moveTo>
                <a:lnTo>
                  <a:pt x="2619380" y="0"/>
                </a:lnTo>
                <a:cubicBezTo>
                  <a:pt x="2682503" y="0"/>
                  <a:pt x="2733675" y="51172"/>
                  <a:pt x="2733675" y="114295"/>
                </a:cubicBezTo>
                <a:lnTo>
                  <a:pt x="2733675" y="3095630"/>
                </a:lnTo>
                <a:cubicBezTo>
                  <a:pt x="2733675" y="3158753"/>
                  <a:pt x="2682503" y="3209925"/>
                  <a:pt x="2619380" y="3209925"/>
                </a:cubicBezTo>
                <a:lnTo>
                  <a:pt x="114295" y="3209925"/>
                </a:lnTo>
                <a:cubicBezTo>
                  <a:pt x="51172" y="3209925"/>
                  <a:pt x="0" y="3158753"/>
                  <a:pt x="0" y="3095630"/>
                </a:cubicBezTo>
                <a:lnTo>
                  <a:pt x="0" y="114295"/>
                </a:lnTo>
                <a:cubicBezTo>
                  <a:pt x="0" y="51214"/>
                  <a:pt x="51214" y="0"/>
                  <a:pt x="114295" y="0"/>
                </a:cubicBezTo>
                <a:close/>
              </a:path>
            </a:pathLst>
          </a:custGeom>
          <a:gradFill rotWithShape="1" flip="none">
            <a:gsLst>
              <a:gs pos="0">
                <a:srgbClr val="4A6C8C">
                  <a:alpha val="30000"/>
                </a:srgbClr>
              </a:gs>
              <a:gs pos="100000">
                <a:srgbClr val="1A1D21">
                  <a:alpha val="60000"/>
                </a:srgbClr>
              </a:gs>
            </a:gsLst>
            <a:lin ang="2700000" scaled="1"/>
          </a:gradFill>
          <a:ln w="12700">
            <a:solidFill>
              <a:srgbClr val="4A6C8C">
                <a:alpha val="50196"/>
              </a:srgbClr>
            </a:solidFill>
            <a:prstDash val="solid"/>
          </a:ln>
        </p:spPr>
      </p:sp>
      <p:sp>
        <p:nvSpPr>
          <p:cNvPr id="39" name="Shape 37"/>
          <p:cNvSpPr/>
          <p:nvPr/>
        </p:nvSpPr>
        <p:spPr>
          <a:xfrm>
            <a:off x="10210800" y="15906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6C8C"/>
          </a:solidFill>
          <a:ln/>
        </p:spPr>
      </p:sp>
      <p:sp>
        <p:nvSpPr>
          <p:cNvPr id="40" name="Text 38"/>
          <p:cNvSpPr/>
          <p:nvPr/>
        </p:nvSpPr>
        <p:spPr>
          <a:xfrm>
            <a:off x="10163175" y="15906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4</a:t>
            </a:r>
            <a:endParaRPr lang="en-US" sz="1600" dirty="0"/>
          </a:p>
        </p:txBody>
      </p:sp>
      <p:sp>
        <p:nvSpPr>
          <p:cNvPr id="41" name="Text 39"/>
          <p:cNvSpPr/>
          <p:nvPr/>
        </p:nvSpPr>
        <p:spPr>
          <a:xfrm>
            <a:off x="9186863" y="2162175"/>
            <a:ext cx="2505075" cy="266700"/>
          </a:xfrm>
          <a:prstGeom prst="rect">
            <a:avLst/>
          </a:prstGeom>
          <a:noFill/>
          <a:ln/>
        </p:spPr>
        <p:txBody>
          <a:bodyPr wrap="square" lIns="0" tIns="0" rIns="0" bIns="0" rtlCol="0" anchor="ctr"/>
          <a:lstStyle/>
          <a:p>
            <a:pPr algn="ctr">
              <a:lnSpc>
                <a:spcPct val="130000"/>
              </a:lnSpc>
            </a:pPr>
            <a:r>
              <a:rPr lang="en-US" sz="1350" b="1" dirty="0">
                <a:solidFill>
                  <a:srgbClr val="EDF2F4"/>
                </a:solidFill>
                <a:latin typeface="Liter" pitchFamily="34" charset="0"/>
                <a:ea typeface="Liter" pitchFamily="34" charset="-122"/>
                <a:cs typeface="Liter" pitchFamily="34" charset="-120"/>
              </a:rPr>
              <a:t>scikit-learn Pipeline</a:t>
            </a:r>
            <a:endParaRPr lang="en-US" sz="1600" dirty="0"/>
          </a:p>
        </p:txBody>
      </p:sp>
      <p:sp>
        <p:nvSpPr>
          <p:cNvPr id="42" name="Shape 40"/>
          <p:cNvSpPr/>
          <p:nvPr/>
        </p:nvSpPr>
        <p:spPr>
          <a:xfrm>
            <a:off x="9229725" y="2905125"/>
            <a:ext cx="2419350" cy="571500"/>
          </a:xfrm>
          <a:custGeom>
            <a:avLst/>
            <a:gdLst/>
            <a:ahLst/>
            <a:cxnLst/>
            <a:rect l="l" t="t" r="r" b="b"/>
            <a:pathLst>
              <a:path w="2419350" h="571500">
                <a:moveTo>
                  <a:pt x="76198" y="0"/>
                </a:moveTo>
                <a:lnTo>
                  <a:pt x="2343152" y="0"/>
                </a:lnTo>
                <a:cubicBezTo>
                  <a:pt x="2385235" y="0"/>
                  <a:pt x="2419350" y="34115"/>
                  <a:pt x="2419350" y="76198"/>
                </a:cubicBezTo>
                <a:lnTo>
                  <a:pt x="2419350" y="495302"/>
                </a:lnTo>
                <a:cubicBezTo>
                  <a:pt x="2419350" y="537385"/>
                  <a:pt x="2385235" y="571500"/>
                  <a:pt x="23431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60000"/>
            </a:srgbClr>
          </a:solidFill>
          <a:ln/>
        </p:spPr>
      </p:sp>
      <p:sp>
        <p:nvSpPr>
          <p:cNvPr id="43" name="Text 41"/>
          <p:cNvSpPr/>
          <p:nvPr/>
        </p:nvSpPr>
        <p:spPr>
          <a:xfrm>
            <a:off x="9305925" y="298132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All steps combined</a:t>
            </a:r>
            <a:endParaRPr lang="en-US" sz="1600" dirty="0"/>
          </a:p>
        </p:txBody>
      </p:sp>
      <p:sp>
        <p:nvSpPr>
          <p:cNvPr id="44" name="Text 42"/>
          <p:cNvSpPr/>
          <p:nvPr/>
        </p:nvSpPr>
        <p:spPr>
          <a:xfrm>
            <a:off x="9305925" y="3171825"/>
            <a:ext cx="2343150"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Tüm adımlar birleştirildi</a:t>
            </a:r>
            <a:endParaRPr lang="en-US" sz="1600" dirty="0"/>
          </a:p>
        </p:txBody>
      </p:sp>
      <p:sp>
        <p:nvSpPr>
          <p:cNvPr id="45" name="Shape 43"/>
          <p:cNvSpPr/>
          <p:nvPr/>
        </p:nvSpPr>
        <p:spPr>
          <a:xfrm>
            <a:off x="9229725" y="3552825"/>
            <a:ext cx="2419350" cy="571500"/>
          </a:xfrm>
          <a:custGeom>
            <a:avLst/>
            <a:gdLst/>
            <a:ahLst/>
            <a:cxnLst/>
            <a:rect l="l" t="t" r="r" b="b"/>
            <a:pathLst>
              <a:path w="2419350" h="571500">
                <a:moveTo>
                  <a:pt x="76198" y="0"/>
                </a:moveTo>
                <a:lnTo>
                  <a:pt x="2343152" y="0"/>
                </a:lnTo>
                <a:cubicBezTo>
                  <a:pt x="2385235" y="0"/>
                  <a:pt x="2419350" y="34115"/>
                  <a:pt x="2419350" y="76198"/>
                </a:cubicBezTo>
                <a:lnTo>
                  <a:pt x="2419350" y="495302"/>
                </a:lnTo>
                <a:cubicBezTo>
                  <a:pt x="2419350" y="537385"/>
                  <a:pt x="2385235" y="571500"/>
                  <a:pt x="23431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60000"/>
            </a:srgbClr>
          </a:solidFill>
          <a:ln/>
        </p:spPr>
      </p:sp>
      <p:sp>
        <p:nvSpPr>
          <p:cNvPr id="46" name="Text 44"/>
          <p:cNvSpPr/>
          <p:nvPr/>
        </p:nvSpPr>
        <p:spPr>
          <a:xfrm>
            <a:off x="9305925" y="3629025"/>
            <a:ext cx="23336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Prevents data leakage</a:t>
            </a:r>
            <a:endParaRPr lang="en-US" sz="1600" dirty="0"/>
          </a:p>
        </p:txBody>
      </p:sp>
      <p:sp>
        <p:nvSpPr>
          <p:cNvPr id="47" name="Text 45"/>
          <p:cNvSpPr/>
          <p:nvPr/>
        </p:nvSpPr>
        <p:spPr>
          <a:xfrm>
            <a:off x="9305925" y="3819525"/>
            <a:ext cx="2343150"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Veri sızıntısını önler</a:t>
            </a:r>
            <a:endParaRPr lang="en-US" sz="1600" dirty="0"/>
          </a:p>
        </p:txBody>
      </p:sp>
      <p:sp>
        <p:nvSpPr>
          <p:cNvPr id="48" name="Shape 46"/>
          <p:cNvSpPr/>
          <p:nvPr/>
        </p:nvSpPr>
        <p:spPr>
          <a:xfrm>
            <a:off x="385763" y="4843463"/>
            <a:ext cx="11420475" cy="1571625"/>
          </a:xfrm>
          <a:custGeom>
            <a:avLst/>
            <a:gdLst/>
            <a:ahLst/>
            <a:cxnLst/>
            <a:rect l="l" t="t" r="r" b="b"/>
            <a:pathLst>
              <a:path w="11420475" h="1571625">
                <a:moveTo>
                  <a:pt x="114304" y="0"/>
                </a:moveTo>
                <a:lnTo>
                  <a:pt x="11306171" y="0"/>
                </a:lnTo>
                <a:cubicBezTo>
                  <a:pt x="11369299" y="0"/>
                  <a:pt x="11420475" y="51176"/>
                  <a:pt x="11420475" y="114304"/>
                </a:cubicBezTo>
                <a:lnTo>
                  <a:pt x="11420475" y="1457321"/>
                </a:lnTo>
                <a:cubicBezTo>
                  <a:pt x="11420475" y="1520449"/>
                  <a:pt x="11369299" y="1571625"/>
                  <a:pt x="11306171" y="1571625"/>
                </a:cubicBezTo>
                <a:lnTo>
                  <a:pt x="114304" y="1571625"/>
                </a:lnTo>
                <a:cubicBezTo>
                  <a:pt x="51176" y="1571625"/>
                  <a:pt x="0" y="1520449"/>
                  <a:pt x="0" y="1457321"/>
                </a:cubicBezTo>
                <a:lnTo>
                  <a:pt x="0" y="114304"/>
                </a:lnTo>
                <a:cubicBezTo>
                  <a:pt x="0" y="51176"/>
                  <a:pt x="51176" y="0"/>
                  <a:pt x="114304" y="0"/>
                </a:cubicBezTo>
                <a:close/>
              </a:path>
            </a:pathLst>
          </a:custGeom>
          <a:gradFill rotWithShape="1" flip="none">
            <a:gsLst>
              <a:gs pos="0">
                <a:srgbClr val="4A6C8C">
                  <a:alpha val="20000"/>
                </a:srgbClr>
              </a:gs>
              <a:gs pos="100000">
                <a:srgbClr val="D4A373">
                  <a:alpha val="20000"/>
                </a:srgbClr>
              </a:gs>
            </a:gsLst>
            <a:lin ang="0" scaled="1"/>
          </a:gradFill>
          <a:ln w="12700">
            <a:solidFill>
              <a:srgbClr val="4A6C8C">
                <a:alpha val="40000"/>
              </a:srgbClr>
            </a:solidFill>
            <a:prstDash val="solid"/>
          </a:ln>
        </p:spPr>
      </p:sp>
      <p:sp>
        <p:nvSpPr>
          <p:cNvPr id="49" name="Shape 47"/>
          <p:cNvSpPr/>
          <p:nvPr/>
        </p:nvSpPr>
        <p:spPr>
          <a:xfrm>
            <a:off x="604838" y="5076825"/>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D4A373"/>
          </a:solidFill>
          <a:ln/>
        </p:spPr>
      </p:sp>
      <p:sp>
        <p:nvSpPr>
          <p:cNvPr id="50" name="Text 48"/>
          <p:cNvSpPr/>
          <p:nvPr/>
        </p:nvSpPr>
        <p:spPr>
          <a:xfrm>
            <a:off x="819150" y="5038725"/>
            <a:ext cx="10887075"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Why scikit-learn Pipeline? | Neden scikit-learn Pipeline?</a:t>
            </a:r>
            <a:endParaRPr lang="en-US" sz="1600" dirty="0"/>
          </a:p>
        </p:txBody>
      </p:sp>
      <p:sp>
        <p:nvSpPr>
          <p:cNvPr id="51" name="Shape 49"/>
          <p:cNvSpPr/>
          <p:nvPr/>
        </p:nvSpPr>
        <p:spPr>
          <a:xfrm>
            <a:off x="609600" y="5495925"/>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D4A373"/>
          </a:solidFill>
          <a:ln/>
        </p:spPr>
      </p:sp>
      <p:sp>
        <p:nvSpPr>
          <p:cNvPr id="52" name="Text 50"/>
          <p:cNvSpPr/>
          <p:nvPr/>
        </p:nvSpPr>
        <p:spPr>
          <a:xfrm>
            <a:off x="981075" y="5457825"/>
            <a:ext cx="4972050"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Liter" pitchFamily="34" charset="0"/>
                <a:ea typeface="Liter" pitchFamily="34" charset="-122"/>
                <a:cs typeface="Liter" pitchFamily="34" charset="-120"/>
              </a:rPr>
              <a:t>No Data Leakage</a:t>
            </a:r>
            <a:endParaRPr lang="en-US" sz="1600" dirty="0"/>
          </a:p>
        </p:txBody>
      </p:sp>
      <p:sp>
        <p:nvSpPr>
          <p:cNvPr id="53" name="Text 51"/>
          <p:cNvSpPr/>
          <p:nvPr/>
        </p:nvSpPr>
        <p:spPr>
          <a:xfrm>
            <a:off x="981075" y="5762625"/>
            <a:ext cx="4962525"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Scaler &amp; imputer are fit only on training data, never on test data</a:t>
            </a:r>
            <a:endParaRPr lang="en-US" sz="1600" dirty="0"/>
          </a:p>
        </p:txBody>
      </p:sp>
      <p:sp>
        <p:nvSpPr>
          <p:cNvPr id="54" name="Text 52"/>
          <p:cNvSpPr/>
          <p:nvPr/>
        </p:nvSpPr>
        <p:spPr>
          <a:xfrm>
            <a:off x="981075" y="5991225"/>
            <a:ext cx="496252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Ölçekleyici ve imputer sadece eğitim verisinde fit edilir, test verisinde asla</a:t>
            </a:r>
            <a:endParaRPr lang="en-US" sz="1600" dirty="0"/>
          </a:p>
        </p:txBody>
      </p:sp>
      <p:sp>
        <p:nvSpPr>
          <p:cNvPr id="55" name="Shape 53"/>
          <p:cNvSpPr/>
          <p:nvPr/>
        </p:nvSpPr>
        <p:spPr>
          <a:xfrm>
            <a:off x="6219825" y="5495925"/>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4A6C8C"/>
          </a:solidFill>
          <a:ln/>
        </p:spPr>
      </p:sp>
      <p:sp>
        <p:nvSpPr>
          <p:cNvPr id="56" name="Text 54"/>
          <p:cNvSpPr/>
          <p:nvPr/>
        </p:nvSpPr>
        <p:spPr>
          <a:xfrm>
            <a:off x="6591300" y="5457825"/>
            <a:ext cx="3514725"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Liter" pitchFamily="34" charset="0"/>
                <a:ea typeface="Liter" pitchFamily="34" charset="-122"/>
                <a:cs typeface="Liter" pitchFamily="34" charset="-120"/>
              </a:rPr>
              <a:t>Consistent Preprocessing</a:t>
            </a:r>
            <a:endParaRPr lang="en-US" sz="1600" dirty="0"/>
          </a:p>
        </p:txBody>
      </p:sp>
      <p:sp>
        <p:nvSpPr>
          <p:cNvPr id="57" name="Text 55"/>
          <p:cNvSpPr/>
          <p:nvPr/>
        </p:nvSpPr>
        <p:spPr>
          <a:xfrm>
            <a:off x="6591300" y="5762625"/>
            <a:ext cx="3505200" cy="228600"/>
          </a:xfrm>
          <a:prstGeom prst="rect">
            <a:avLst/>
          </a:prstGeom>
          <a:noFill/>
          <a:ln/>
        </p:spPr>
        <p:txBody>
          <a:bodyPr wrap="square" lIns="0" tIns="0" rIns="0" bIns="0" rtlCol="0" anchor="ctr"/>
          <a:lstStyle/>
          <a:p>
            <a:pPr>
              <a:lnSpc>
                <a:spcPct val="130000"/>
              </a:lnSpc>
            </a:pPr>
            <a:r>
              <a:rPr lang="en-US" sz="1200" dirty="0">
                <a:solidFill>
                  <a:srgbClr val="EDF2F4"/>
                </a:solidFill>
                <a:latin typeface="Liter" pitchFamily="34" charset="0"/>
                <a:ea typeface="Liter" pitchFamily="34" charset="-122"/>
                <a:cs typeface="Liter" pitchFamily="34" charset="-120"/>
              </a:rPr>
              <a:t>Ensures consistent preprocessing at inference time</a:t>
            </a:r>
            <a:endParaRPr lang="en-US" sz="1600" dirty="0"/>
          </a:p>
        </p:txBody>
      </p:sp>
      <p:sp>
        <p:nvSpPr>
          <p:cNvPr id="58" name="Text 56"/>
          <p:cNvSpPr/>
          <p:nvPr/>
        </p:nvSpPr>
        <p:spPr>
          <a:xfrm>
            <a:off x="6591300" y="5991225"/>
            <a:ext cx="3505200"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Tahmin zamanında tutarlı ön işleme sağlar</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79813" y="379813"/>
            <a:ext cx="75963" cy="455776"/>
          </a:xfrm>
          <a:custGeom>
            <a:avLst/>
            <a:gdLst/>
            <a:ahLst/>
            <a:cxnLst/>
            <a:rect l="l" t="t" r="r" b="b"/>
            <a:pathLst>
              <a:path w="75963" h="455776">
                <a:moveTo>
                  <a:pt x="0" y="0"/>
                </a:moveTo>
                <a:lnTo>
                  <a:pt x="75963" y="0"/>
                </a:lnTo>
                <a:lnTo>
                  <a:pt x="75963" y="455776"/>
                </a:lnTo>
                <a:lnTo>
                  <a:pt x="0" y="455776"/>
                </a:lnTo>
                <a:lnTo>
                  <a:pt x="0" y="0"/>
                </a:lnTo>
                <a:close/>
              </a:path>
            </a:pathLst>
          </a:custGeom>
          <a:solidFill>
            <a:srgbClr val="D4A373"/>
          </a:solidFill>
          <a:ln/>
        </p:spPr>
      </p:sp>
      <p:sp>
        <p:nvSpPr>
          <p:cNvPr id="3" name="Text 1"/>
          <p:cNvSpPr/>
          <p:nvPr/>
        </p:nvSpPr>
        <p:spPr>
          <a:xfrm>
            <a:off x="569720" y="417794"/>
            <a:ext cx="3399327" cy="379813"/>
          </a:xfrm>
          <a:prstGeom prst="rect">
            <a:avLst/>
          </a:prstGeom>
          <a:noFill/>
          <a:ln/>
        </p:spPr>
        <p:txBody>
          <a:bodyPr wrap="square" lIns="0" tIns="0" rIns="0" bIns="0" rtlCol="0" anchor="ctr"/>
          <a:lstStyle/>
          <a:p>
            <a:pPr>
              <a:lnSpc>
                <a:spcPct val="90000"/>
              </a:lnSpc>
            </a:pPr>
            <a:r>
              <a:rPr lang="en-US" sz="2692" b="1" dirty="0">
                <a:solidFill>
                  <a:srgbClr val="EDF2F4"/>
                </a:solidFill>
                <a:latin typeface="Liter" pitchFamily="34" charset="0"/>
                <a:ea typeface="Liter" pitchFamily="34" charset="-122"/>
                <a:cs typeface="Liter" pitchFamily="34" charset="-120"/>
              </a:rPr>
              <a:t>Classification Results</a:t>
            </a:r>
            <a:endParaRPr lang="en-US" sz="1600" dirty="0"/>
          </a:p>
        </p:txBody>
      </p:sp>
      <p:sp>
        <p:nvSpPr>
          <p:cNvPr id="4" name="Text 2"/>
          <p:cNvSpPr/>
          <p:nvPr/>
        </p:nvSpPr>
        <p:spPr>
          <a:xfrm>
            <a:off x="569720" y="911551"/>
            <a:ext cx="11356411" cy="303850"/>
          </a:xfrm>
          <a:prstGeom prst="rect">
            <a:avLst/>
          </a:prstGeom>
          <a:noFill/>
          <a:ln/>
        </p:spPr>
        <p:txBody>
          <a:bodyPr wrap="square" lIns="0" tIns="0" rIns="0" bIns="0" rtlCol="0" anchor="ctr"/>
          <a:lstStyle/>
          <a:p>
            <a:pPr>
              <a:lnSpc>
                <a:spcPct val="110000"/>
              </a:lnSpc>
            </a:pPr>
            <a:r>
              <a:rPr lang="en-US" sz="1794" dirty="0">
                <a:solidFill>
                  <a:srgbClr val="8D99AE"/>
                </a:solidFill>
                <a:latin typeface="Liter" pitchFamily="34" charset="0"/>
                <a:ea typeface="Liter" pitchFamily="34" charset="-122"/>
                <a:cs typeface="Liter" pitchFamily="34" charset="-120"/>
              </a:rPr>
              <a:t>Sınıflandırma Sonuçları</a:t>
            </a:r>
            <a:endParaRPr lang="en-US" sz="1600" dirty="0"/>
          </a:p>
        </p:txBody>
      </p:sp>
      <p:sp>
        <p:nvSpPr>
          <p:cNvPr id="5" name="Shape 3"/>
          <p:cNvSpPr/>
          <p:nvPr/>
        </p:nvSpPr>
        <p:spPr>
          <a:xfrm>
            <a:off x="384561" y="1372075"/>
            <a:ext cx="5611738" cy="2592224"/>
          </a:xfrm>
          <a:custGeom>
            <a:avLst/>
            <a:gdLst/>
            <a:ahLst/>
            <a:cxnLst/>
            <a:rect l="l" t="t" r="r" b="b"/>
            <a:pathLst>
              <a:path w="5611738" h="2592224">
                <a:moveTo>
                  <a:pt x="113954" y="0"/>
                </a:moveTo>
                <a:lnTo>
                  <a:pt x="5497784" y="0"/>
                </a:lnTo>
                <a:cubicBezTo>
                  <a:pt x="5560719" y="0"/>
                  <a:pt x="5611738" y="51019"/>
                  <a:pt x="5611738" y="113954"/>
                </a:cubicBezTo>
                <a:lnTo>
                  <a:pt x="5611738" y="2478270"/>
                </a:lnTo>
                <a:cubicBezTo>
                  <a:pt x="5611738" y="2541205"/>
                  <a:pt x="5560719" y="2592224"/>
                  <a:pt x="5497784" y="2592224"/>
                </a:cubicBezTo>
                <a:lnTo>
                  <a:pt x="113954" y="2592224"/>
                </a:lnTo>
                <a:cubicBezTo>
                  <a:pt x="51019" y="2592224"/>
                  <a:pt x="0" y="2541205"/>
                  <a:pt x="0" y="2478270"/>
                </a:cubicBezTo>
                <a:lnTo>
                  <a:pt x="0" y="113954"/>
                </a:lnTo>
                <a:cubicBezTo>
                  <a:pt x="0" y="51061"/>
                  <a:pt x="51061" y="0"/>
                  <a:pt x="113954" y="0"/>
                </a:cubicBezTo>
                <a:close/>
              </a:path>
            </a:pathLst>
          </a:custGeom>
          <a:solidFill>
            <a:srgbClr val="1A1D21">
              <a:alpha val="60000"/>
            </a:srgbClr>
          </a:solidFill>
          <a:ln w="12700">
            <a:solidFill>
              <a:srgbClr val="4A6C8C">
                <a:alpha val="30196"/>
              </a:srgbClr>
            </a:solidFill>
            <a:prstDash val="solid"/>
          </a:ln>
        </p:spPr>
      </p:sp>
      <p:sp>
        <p:nvSpPr>
          <p:cNvPr id="6" name="Text 4"/>
          <p:cNvSpPr/>
          <p:nvPr/>
        </p:nvSpPr>
        <p:spPr>
          <a:xfrm>
            <a:off x="498505" y="1528748"/>
            <a:ext cx="5383850" cy="265869"/>
          </a:xfrm>
          <a:prstGeom prst="rect">
            <a:avLst/>
          </a:prstGeom>
          <a:noFill/>
          <a:ln/>
        </p:spPr>
        <p:txBody>
          <a:bodyPr wrap="square" lIns="0" tIns="0" rIns="0" bIns="0" rtlCol="0" anchor="ctr"/>
          <a:lstStyle/>
          <a:p>
            <a:pPr algn="ctr">
              <a:lnSpc>
                <a:spcPct val="130000"/>
              </a:lnSpc>
            </a:pPr>
            <a:r>
              <a:rPr lang="en-US" sz="1346" b="1" dirty="0">
                <a:solidFill>
                  <a:srgbClr val="EDF2F4"/>
                </a:solidFill>
                <a:latin typeface="Liter" pitchFamily="34" charset="0"/>
                <a:ea typeface="Liter" pitchFamily="34" charset="-122"/>
                <a:cs typeface="Liter" pitchFamily="34" charset="-120"/>
              </a:rPr>
              <a:t>Cross-Validation ROC-AUC | Çapraz Doğrulama ROC-AUC</a:t>
            </a:r>
            <a:endParaRPr lang="en-US" sz="1600" dirty="0"/>
          </a:p>
        </p:txBody>
      </p:sp>
      <p:pic>
        <p:nvPicPr>
          <p:cNvPr id="7" name="Image 0" descr="https://kimi-img.moonshot.cn/pub/slides/26-02-12-04:11:53-d66e52cbcdrh064ni040.png">    </p:cNvPr>
          <p:cNvPicPr>
            <a:picLocks noChangeAspect="1"/>
          </p:cNvPicPr>
          <p:nvPr/>
        </p:nvPicPr>
        <p:blipFill>
          <a:blip r:embed="rId1"/>
          <a:srcRect l="0" r="0" t="0" b="0"/>
          <a:stretch/>
        </p:blipFill>
        <p:spPr>
          <a:xfrm>
            <a:off x="541234" y="1908561"/>
            <a:ext cx="5279402" cy="1899065"/>
          </a:xfrm>
          <a:prstGeom prst="roundRect">
            <a:avLst>
              <a:gd name="adj" fmla="val 0"/>
            </a:avLst>
          </a:prstGeom>
        </p:spPr>
      </p:pic>
      <p:sp>
        <p:nvSpPr>
          <p:cNvPr id="8" name="Shape 5"/>
          <p:cNvSpPr/>
          <p:nvPr/>
        </p:nvSpPr>
        <p:spPr>
          <a:xfrm>
            <a:off x="6193475" y="1372075"/>
            <a:ext cx="5611738" cy="2592224"/>
          </a:xfrm>
          <a:custGeom>
            <a:avLst/>
            <a:gdLst/>
            <a:ahLst/>
            <a:cxnLst/>
            <a:rect l="l" t="t" r="r" b="b"/>
            <a:pathLst>
              <a:path w="5611738" h="2592224">
                <a:moveTo>
                  <a:pt x="113954" y="0"/>
                </a:moveTo>
                <a:lnTo>
                  <a:pt x="5497784" y="0"/>
                </a:lnTo>
                <a:cubicBezTo>
                  <a:pt x="5560719" y="0"/>
                  <a:pt x="5611738" y="51019"/>
                  <a:pt x="5611738" y="113954"/>
                </a:cubicBezTo>
                <a:lnTo>
                  <a:pt x="5611738" y="2478270"/>
                </a:lnTo>
                <a:cubicBezTo>
                  <a:pt x="5611738" y="2541205"/>
                  <a:pt x="5560719" y="2592224"/>
                  <a:pt x="5497784" y="2592224"/>
                </a:cubicBezTo>
                <a:lnTo>
                  <a:pt x="113954" y="2592224"/>
                </a:lnTo>
                <a:cubicBezTo>
                  <a:pt x="51019" y="2592224"/>
                  <a:pt x="0" y="2541205"/>
                  <a:pt x="0" y="2478270"/>
                </a:cubicBezTo>
                <a:lnTo>
                  <a:pt x="0" y="113954"/>
                </a:lnTo>
                <a:cubicBezTo>
                  <a:pt x="0" y="51061"/>
                  <a:pt x="51061" y="0"/>
                  <a:pt x="113954" y="0"/>
                </a:cubicBezTo>
                <a:close/>
              </a:path>
            </a:pathLst>
          </a:custGeom>
          <a:solidFill>
            <a:srgbClr val="1A1D21">
              <a:alpha val="60000"/>
            </a:srgbClr>
          </a:solidFill>
          <a:ln w="12700">
            <a:solidFill>
              <a:srgbClr val="4A6C8C">
                <a:alpha val="30196"/>
              </a:srgbClr>
            </a:solidFill>
            <a:prstDash val="solid"/>
          </a:ln>
        </p:spPr>
      </p:sp>
      <p:sp>
        <p:nvSpPr>
          <p:cNvPr id="9" name="Text 6"/>
          <p:cNvSpPr/>
          <p:nvPr/>
        </p:nvSpPr>
        <p:spPr>
          <a:xfrm>
            <a:off x="6350148" y="1528748"/>
            <a:ext cx="5383850" cy="265869"/>
          </a:xfrm>
          <a:prstGeom prst="rect">
            <a:avLst/>
          </a:prstGeom>
          <a:noFill/>
          <a:ln/>
        </p:spPr>
        <p:txBody>
          <a:bodyPr wrap="square" lIns="0" tIns="0" rIns="0" bIns="0" rtlCol="0" anchor="ctr"/>
          <a:lstStyle/>
          <a:p>
            <a:pPr>
              <a:lnSpc>
                <a:spcPct val="130000"/>
              </a:lnSpc>
            </a:pPr>
            <a:r>
              <a:rPr lang="en-US" sz="1346" b="1" dirty="0">
                <a:solidFill>
                  <a:srgbClr val="EDF2F4"/>
                </a:solidFill>
                <a:latin typeface="Liter" pitchFamily="34" charset="0"/>
                <a:ea typeface="Liter" pitchFamily="34" charset="-122"/>
                <a:cs typeface="Liter" pitchFamily="34" charset="-120"/>
              </a:rPr>
              <a:t>Model Comparison | Model Karşılaştırması</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50148" y="1908561"/>
          <a:ext cx="5298393" cy="1395813"/>
        </p:xfrm>
        <a:graphic>
          <a:graphicData uri="http://schemas.openxmlformats.org/drawingml/2006/table">
            <a:tbl>
              <a:tblPr/>
              <a:tblGrid>
                <a:gridCol w="1614206"/>
                <a:gridCol w="873570"/>
                <a:gridCol w="645682"/>
                <a:gridCol w="598206"/>
                <a:gridCol w="759626"/>
                <a:gridCol w="807103"/>
              </a:tblGrid>
              <a:tr h="348953">
                <a:tc>
                  <a:txBody>
                    <a:bodyPr/>
                    <a:lstStyle/>
                    <a:p>
                      <a:pPr algn="l"/>
                      <a:r>
                        <a:rPr lang="en-US" sz="1000" b="1" u="none" dirty="0">
                          <a:solidFill>
                            <a:srgbClr val="8D99AE"/>
                          </a:solidFill>
                          <a:latin typeface="微软雅黑" pitchFamily="34" charset="0"/>
                          <a:ea typeface="微软雅黑" pitchFamily="34" charset="-122"/>
                          <a:cs typeface="微软雅黑" pitchFamily="34" charset="-120"/>
                        </a:rPr>
                        <a:t>Model</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b="1" u="none" dirty="0">
                          <a:solidFill>
                            <a:srgbClr val="8D99AE"/>
                          </a:solidFill>
                          <a:latin typeface="微软雅黑" pitchFamily="34" charset="0"/>
                          <a:ea typeface="微软雅黑" pitchFamily="34" charset="-122"/>
                          <a:cs typeface="微软雅黑" pitchFamily="34" charset="-120"/>
                        </a:rPr>
                        <a:t>CV AUC</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b="1" u="none" dirty="0">
                          <a:solidFill>
                            <a:srgbClr val="8D99AE"/>
                          </a:solidFill>
                          <a:latin typeface="微软雅黑" pitchFamily="34" charset="0"/>
                          <a:ea typeface="微软雅黑" pitchFamily="34" charset="-122"/>
                          <a:cs typeface="微软雅黑" pitchFamily="34" charset="-120"/>
                        </a:rPr>
                        <a:t>Train</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b="1" u="none" dirty="0">
                          <a:solidFill>
                            <a:srgbClr val="8D99AE"/>
                          </a:solidFill>
                          <a:latin typeface="微软雅黑" pitchFamily="34" charset="0"/>
                          <a:ea typeface="微软雅黑" pitchFamily="34" charset="-122"/>
                          <a:cs typeface="微软雅黑" pitchFamily="34" charset="-120"/>
                        </a:rPr>
                        <a:t>Test</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b="1" u="none" dirty="0">
                          <a:solidFill>
                            <a:srgbClr val="8D99AE"/>
                          </a:solidFill>
                          <a:latin typeface="微软雅黑" pitchFamily="34" charset="0"/>
                          <a:ea typeface="微软雅黑" pitchFamily="34" charset="-122"/>
                          <a:cs typeface="微软雅黑" pitchFamily="34" charset="-120"/>
                        </a:rPr>
                        <a:t>Gap</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b="1" u="none" dirty="0">
                          <a:solidFill>
                            <a:srgbClr val="8D99AE"/>
                          </a:solidFill>
                          <a:latin typeface="微软雅黑" pitchFamily="34" charset="0"/>
                          <a:ea typeface="微软雅黑" pitchFamily="34" charset="-122"/>
                          <a:cs typeface="微软雅黑" pitchFamily="34" charset="-120"/>
                        </a:rPr>
                        <a:t>Status</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48953">
                <a:tc>
                  <a:txBody>
                    <a:bodyPr/>
                    <a:lstStyle/>
                    <a:p>
                      <a:r>
                        <a:rPr lang="en-US" sz="1000" u="none" dirty="0">
                          <a:solidFill>
                            <a:srgbClr val="EDF2F4"/>
                          </a:solidFill>
                          <a:latin typeface="微软雅黑" pitchFamily="34" charset="0"/>
                          <a:ea typeface="微软雅黑" pitchFamily="34" charset="-122"/>
                          <a:cs typeface="微软雅黑" pitchFamily="34" charset="-120"/>
                        </a:rPr>
                        <a:t>Logistic Reg.</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EDF2F4"/>
                          </a:solidFill>
                          <a:latin typeface="微软雅黑" pitchFamily="34" charset="0"/>
                          <a:ea typeface="微软雅黑" pitchFamily="34" charset="-122"/>
                          <a:cs typeface="微软雅黑" pitchFamily="34" charset="-120"/>
                        </a:rPr>
                        <a:t>0.770</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EDF2F4"/>
                          </a:solidFill>
                          <a:latin typeface="微软雅黑" pitchFamily="34" charset="0"/>
                          <a:ea typeface="微软雅黑" pitchFamily="34" charset="-122"/>
                          <a:cs typeface="微软雅黑" pitchFamily="34" charset="-120"/>
                        </a:rPr>
                        <a:t>0.771</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EDF2F4"/>
                          </a:solidFill>
                          <a:latin typeface="微软雅黑" pitchFamily="34" charset="0"/>
                          <a:ea typeface="微软雅黑" pitchFamily="34" charset="-122"/>
                          <a:cs typeface="微软雅黑" pitchFamily="34" charset="-120"/>
                        </a:rPr>
                        <a:t>0.773</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4A6C8C"/>
                          </a:solidFill>
                          <a:latin typeface="微软雅黑" pitchFamily="34" charset="0"/>
                          <a:ea typeface="微软雅黑" pitchFamily="34" charset="-122"/>
                          <a:cs typeface="微软雅黑" pitchFamily="34" charset="-120"/>
                        </a:rPr>
                        <a:t>-0.002</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4A6C8C"/>
                          </a:solidFill>
                          <a:latin typeface="微软雅黑" pitchFamily="34" charset="0"/>
                          <a:ea typeface="微软雅黑" pitchFamily="34" charset="-122"/>
                          <a:cs typeface="微软雅黑" pitchFamily="34" charset="-120"/>
                        </a:rPr>
                        <a:t>✓ Good</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48953">
                <a:tc>
                  <a:txBody>
                    <a:bodyPr/>
                    <a:lstStyle/>
                    <a:p>
                      <a:r>
                        <a:rPr lang="en-US" sz="1000" u="none" dirty="0">
                          <a:solidFill>
                            <a:srgbClr val="EDF2F4"/>
                          </a:solidFill>
                          <a:latin typeface="微软雅黑" pitchFamily="34" charset="0"/>
                          <a:ea typeface="微软雅黑" pitchFamily="34" charset="-122"/>
                          <a:cs typeface="微软雅黑" pitchFamily="34" charset="-120"/>
                        </a:rPr>
                        <a:t>Random Forest</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EDF2F4"/>
                          </a:solidFill>
                          <a:latin typeface="微软雅黑" pitchFamily="34" charset="0"/>
                          <a:ea typeface="微软雅黑" pitchFamily="34" charset="-122"/>
                          <a:cs typeface="微软雅黑" pitchFamily="34" charset="-120"/>
                        </a:rPr>
                        <a:t>0.906</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EDF2F4"/>
                          </a:solidFill>
                          <a:latin typeface="微软雅黑" pitchFamily="34" charset="0"/>
                          <a:ea typeface="微软雅黑" pitchFamily="34" charset="-122"/>
                          <a:cs typeface="微软雅黑" pitchFamily="34" charset="-120"/>
                        </a:rPr>
                        <a:t>0.936</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EDF2F4"/>
                          </a:solidFill>
                          <a:latin typeface="微软雅黑" pitchFamily="34" charset="0"/>
                          <a:ea typeface="微软雅黑" pitchFamily="34" charset="-122"/>
                          <a:cs typeface="微软雅黑" pitchFamily="34" charset="-120"/>
                        </a:rPr>
                        <a:t>0.911</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D4A373"/>
                          </a:solidFill>
                          <a:latin typeface="微软雅黑" pitchFamily="34" charset="0"/>
                          <a:ea typeface="微软雅黑" pitchFamily="34" charset="-122"/>
                          <a:cs typeface="微软雅黑" pitchFamily="34" charset="-120"/>
                        </a:rPr>
                        <a:t>0.025</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4A6C8C"/>
                          </a:solidFill>
                          <a:latin typeface="微软雅黑" pitchFamily="34" charset="0"/>
                          <a:ea typeface="微软雅黑" pitchFamily="34" charset="-122"/>
                          <a:cs typeface="微软雅黑" pitchFamily="34" charset="-120"/>
                        </a:rPr>
                        <a:t>✓ Good</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48953">
                <a:tc>
                  <a:txBody>
                    <a:bodyPr/>
                    <a:lstStyle/>
                    <a:p>
                      <a:r>
                        <a:rPr lang="en-US" sz="1000" b="1" u="none" dirty="0">
                          <a:solidFill>
                            <a:srgbClr val="EDF2F4"/>
                          </a:solidFill>
                          <a:latin typeface="微软雅黑" pitchFamily="34" charset="0"/>
                          <a:ea typeface="微软雅黑" pitchFamily="34" charset="-122"/>
                          <a:cs typeface="微软雅黑" pitchFamily="34" charset="-120"/>
                        </a:rPr>
                        <a:t>HGB ⭐</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1000" b="1" u="none" dirty="0">
                          <a:solidFill>
                            <a:srgbClr val="D4A373"/>
                          </a:solidFill>
                          <a:latin typeface="微软雅黑" pitchFamily="34" charset="0"/>
                          <a:ea typeface="微软雅黑" pitchFamily="34" charset="-122"/>
                          <a:cs typeface="微软雅黑" pitchFamily="34" charset="-120"/>
                        </a:rPr>
                        <a:t>0.916</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1000" u="none" dirty="0">
                          <a:solidFill>
                            <a:srgbClr val="EDF2F4"/>
                          </a:solidFill>
                          <a:latin typeface="微软雅黑" pitchFamily="34" charset="0"/>
                          <a:ea typeface="微软雅黑" pitchFamily="34" charset="-122"/>
                          <a:cs typeface="微软雅黑" pitchFamily="34" charset="-120"/>
                        </a:rPr>
                        <a:t>0.944</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1000" u="none" dirty="0">
                          <a:solidFill>
                            <a:srgbClr val="EDF2F4"/>
                          </a:solidFill>
                          <a:latin typeface="微软雅黑" pitchFamily="34" charset="0"/>
                          <a:ea typeface="微软雅黑" pitchFamily="34" charset="-122"/>
                          <a:cs typeface="微软雅黑" pitchFamily="34" charset="-120"/>
                        </a:rPr>
                        <a:t>0.917</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1000" u="none" dirty="0">
                          <a:solidFill>
                            <a:srgbClr val="D4A373"/>
                          </a:solidFill>
                          <a:latin typeface="微软雅黑" pitchFamily="34" charset="0"/>
                          <a:ea typeface="微软雅黑" pitchFamily="34" charset="-122"/>
                          <a:cs typeface="微软雅黑" pitchFamily="34" charset="-120"/>
                        </a:rPr>
                        <a:t>0.027</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1000" u="none" dirty="0">
                          <a:solidFill>
                            <a:srgbClr val="4A6C8C"/>
                          </a:solidFill>
                          <a:latin typeface="微软雅黑" pitchFamily="34" charset="0"/>
                          <a:ea typeface="微软雅黑" pitchFamily="34" charset="-122"/>
                          <a:cs typeface="微软雅黑" pitchFamily="34" charset="-120"/>
                        </a:rPr>
                        <a:t>✓ Good</a:t>
                      </a:r>
                      <a:endParaRPr lang="en-US" sz="1000" dirty="0">
                        <a:latin typeface="微软雅黑" charset="0"/>
                        <a:ea typeface="微软雅黑" charset="0"/>
                        <a:cs typeface="微软雅黑" charset="0"/>
                      </a:endParaRPr>
                    </a:p>
                  </a:txBody>
                  <a:tcPr marL="0" marR="0" marT="75963" marB="75963" anchor="ctr">
                    <a:lnL w="0" cap="flat" cmpd="sng" algn="ctr">
                      <a:noFill/>
                    </a:lnL>
                    <a:lnR w="0" cap="flat" cmpd="sng" algn="ctr">
                      <a:noFill/>
                    </a:lnR>
                    <a:lnT w="0" cap="flat" cmpd="sng" algn="ctr">
                      <a:noFill/>
                    </a:lnT>
                    <a:lnB w="0" cap="flat" cmpd="sng" algn="ctr">
                      <a:noFill/>
                    </a:lnB>
                    <a:solidFill>
                      <a:srgbClr val="D4A373">
                        <a:alpha val="20000"/>
                      </a:srgbClr>
                    </a:solidFill>
                  </a:tcPr>
                </a:tc>
              </a:tr>
            </a:tbl>
          </a:graphicData>
        </a:graphic>
      </p:graphicFrame>
      <p:sp>
        <p:nvSpPr>
          <p:cNvPr id="11" name="Shape 7"/>
          <p:cNvSpPr/>
          <p:nvPr/>
        </p:nvSpPr>
        <p:spPr>
          <a:xfrm>
            <a:off x="384561" y="4125720"/>
            <a:ext cx="11422879" cy="1566729"/>
          </a:xfrm>
          <a:custGeom>
            <a:avLst/>
            <a:gdLst/>
            <a:ahLst/>
            <a:cxnLst/>
            <a:rect l="l" t="t" r="r" b="b"/>
            <a:pathLst>
              <a:path w="11422879" h="1566729">
                <a:moveTo>
                  <a:pt x="113948" y="0"/>
                </a:moveTo>
                <a:lnTo>
                  <a:pt x="11308930" y="0"/>
                </a:lnTo>
                <a:cubicBezTo>
                  <a:pt x="11371862" y="0"/>
                  <a:pt x="11422879" y="51016"/>
                  <a:pt x="11422879" y="113948"/>
                </a:cubicBezTo>
                <a:lnTo>
                  <a:pt x="11422879" y="1452781"/>
                </a:lnTo>
                <a:cubicBezTo>
                  <a:pt x="11422879" y="1515713"/>
                  <a:pt x="11371862" y="1566729"/>
                  <a:pt x="11308930" y="1566729"/>
                </a:cubicBezTo>
                <a:lnTo>
                  <a:pt x="113948" y="1566729"/>
                </a:lnTo>
                <a:cubicBezTo>
                  <a:pt x="51058" y="1566729"/>
                  <a:pt x="0" y="1515670"/>
                  <a:pt x="0" y="1452781"/>
                </a:cubicBezTo>
                <a:lnTo>
                  <a:pt x="0" y="113948"/>
                </a:lnTo>
                <a:cubicBezTo>
                  <a:pt x="0" y="51016"/>
                  <a:pt x="51016" y="0"/>
                  <a:pt x="113948" y="0"/>
                </a:cubicBezTo>
                <a:close/>
              </a:path>
            </a:pathLst>
          </a:custGeom>
          <a:gradFill rotWithShape="1" flip="none">
            <a:gsLst>
              <a:gs pos="0">
                <a:srgbClr val="D4A373">
                  <a:alpha val="30000"/>
                </a:srgbClr>
              </a:gs>
              <a:gs pos="100000">
                <a:srgbClr val="4A6C8C">
                  <a:alpha val="30000"/>
                </a:srgbClr>
              </a:gs>
            </a:gsLst>
            <a:lin ang="0" scaled="1"/>
          </a:gradFill>
          <a:ln w="12700">
            <a:solidFill>
              <a:srgbClr val="D4A373">
                <a:alpha val="50196"/>
              </a:srgbClr>
            </a:solidFill>
            <a:prstDash val="solid"/>
          </a:ln>
        </p:spPr>
      </p:sp>
      <p:sp>
        <p:nvSpPr>
          <p:cNvPr id="12" name="Shape 8"/>
          <p:cNvSpPr/>
          <p:nvPr/>
        </p:nvSpPr>
        <p:spPr>
          <a:xfrm>
            <a:off x="579215" y="4291888"/>
            <a:ext cx="284860" cy="284860"/>
          </a:xfrm>
          <a:custGeom>
            <a:avLst/>
            <a:gdLst/>
            <a:ahLst/>
            <a:cxnLst/>
            <a:rect l="l" t="t" r="r" b="b"/>
            <a:pathLst>
              <a:path w="284860" h="284860">
                <a:moveTo>
                  <a:pt x="80284" y="0"/>
                </a:moveTo>
                <a:lnTo>
                  <a:pt x="204910" y="0"/>
                </a:lnTo>
                <a:cubicBezTo>
                  <a:pt x="219654" y="0"/>
                  <a:pt x="231671" y="12129"/>
                  <a:pt x="231115" y="26817"/>
                </a:cubicBezTo>
                <a:cubicBezTo>
                  <a:pt x="231004" y="29766"/>
                  <a:pt x="230892" y="32714"/>
                  <a:pt x="230725" y="35607"/>
                </a:cubicBezTo>
                <a:lnTo>
                  <a:pt x="258321" y="35607"/>
                </a:lnTo>
                <a:cubicBezTo>
                  <a:pt x="272842" y="35607"/>
                  <a:pt x="285639" y="47625"/>
                  <a:pt x="284526" y="63315"/>
                </a:cubicBezTo>
                <a:cubicBezTo>
                  <a:pt x="280353" y="121010"/>
                  <a:pt x="250866" y="152723"/>
                  <a:pt x="218875" y="169302"/>
                </a:cubicBezTo>
                <a:cubicBezTo>
                  <a:pt x="210084" y="173865"/>
                  <a:pt x="201127" y="177258"/>
                  <a:pt x="192614" y="179762"/>
                </a:cubicBezTo>
                <a:cubicBezTo>
                  <a:pt x="181376" y="195674"/>
                  <a:pt x="169692" y="204075"/>
                  <a:pt x="160401" y="208582"/>
                </a:cubicBezTo>
                <a:lnTo>
                  <a:pt x="160401" y="249252"/>
                </a:lnTo>
                <a:lnTo>
                  <a:pt x="196008" y="249252"/>
                </a:lnTo>
                <a:cubicBezTo>
                  <a:pt x="205856" y="249252"/>
                  <a:pt x="213812" y="257208"/>
                  <a:pt x="213812" y="267056"/>
                </a:cubicBezTo>
                <a:cubicBezTo>
                  <a:pt x="213812" y="276904"/>
                  <a:pt x="205856" y="284860"/>
                  <a:pt x="196008" y="284860"/>
                </a:cubicBezTo>
                <a:lnTo>
                  <a:pt x="89186" y="284860"/>
                </a:lnTo>
                <a:cubicBezTo>
                  <a:pt x="79338" y="284860"/>
                  <a:pt x="71382" y="276904"/>
                  <a:pt x="71382" y="267056"/>
                </a:cubicBezTo>
                <a:cubicBezTo>
                  <a:pt x="71382" y="257208"/>
                  <a:pt x="79338" y="249252"/>
                  <a:pt x="89186" y="249252"/>
                </a:cubicBezTo>
                <a:lnTo>
                  <a:pt x="124793" y="249252"/>
                </a:lnTo>
                <a:lnTo>
                  <a:pt x="124793" y="208582"/>
                </a:lnTo>
                <a:cubicBezTo>
                  <a:pt x="115891" y="204298"/>
                  <a:pt x="104820" y="196342"/>
                  <a:pt x="94026" y="181709"/>
                </a:cubicBezTo>
                <a:cubicBezTo>
                  <a:pt x="83789" y="179039"/>
                  <a:pt x="72662" y="174977"/>
                  <a:pt x="61812" y="168857"/>
                </a:cubicBezTo>
                <a:cubicBezTo>
                  <a:pt x="31713" y="151999"/>
                  <a:pt x="4562" y="120231"/>
                  <a:pt x="668" y="63203"/>
                </a:cubicBezTo>
                <a:cubicBezTo>
                  <a:pt x="-389" y="47569"/>
                  <a:pt x="12351" y="35552"/>
                  <a:pt x="26873" y="35552"/>
                </a:cubicBezTo>
                <a:lnTo>
                  <a:pt x="54468" y="35552"/>
                </a:lnTo>
                <a:cubicBezTo>
                  <a:pt x="54301" y="32659"/>
                  <a:pt x="54190" y="29766"/>
                  <a:pt x="54079" y="26761"/>
                </a:cubicBezTo>
                <a:cubicBezTo>
                  <a:pt x="53522" y="12018"/>
                  <a:pt x="65540" y="-56"/>
                  <a:pt x="80284" y="-56"/>
                </a:cubicBezTo>
                <a:close/>
                <a:moveTo>
                  <a:pt x="56471" y="62313"/>
                </a:moveTo>
                <a:lnTo>
                  <a:pt x="27318" y="62313"/>
                </a:lnTo>
                <a:cubicBezTo>
                  <a:pt x="30767" y="109437"/>
                  <a:pt x="52410" y="133027"/>
                  <a:pt x="74720" y="145546"/>
                </a:cubicBezTo>
                <a:cubicBezTo>
                  <a:pt x="66708" y="124793"/>
                  <a:pt x="60088" y="97698"/>
                  <a:pt x="56471" y="62313"/>
                </a:cubicBezTo>
                <a:close/>
                <a:moveTo>
                  <a:pt x="211419" y="142875"/>
                </a:moveTo>
                <a:cubicBezTo>
                  <a:pt x="233952" y="129633"/>
                  <a:pt x="254315" y="106099"/>
                  <a:pt x="257765" y="62313"/>
                </a:cubicBezTo>
                <a:lnTo>
                  <a:pt x="228667" y="62313"/>
                </a:lnTo>
                <a:cubicBezTo>
                  <a:pt x="225217" y="96196"/>
                  <a:pt x="218986" y="122512"/>
                  <a:pt x="211419" y="142875"/>
                </a:cubicBezTo>
                <a:close/>
              </a:path>
            </a:pathLst>
          </a:custGeom>
          <a:solidFill>
            <a:srgbClr val="D4A373"/>
          </a:solidFill>
          <a:ln/>
        </p:spPr>
      </p:sp>
      <p:sp>
        <p:nvSpPr>
          <p:cNvPr id="13" name="Text 9"/>
          <p:cNvSpPr/>
          <p:nvPr/>
        </p:nvSpPr>
        <p:spPr>
          <a:xfrm>
            <a:off x="1049234" y="4282393"/>
            <a:ext cx="3389832" cy="303850"/>
          </a:xfrm>
          <a:prstGeom prst="rect">
            <a:avLst/>
          </a:prstGeom>
          <a:noFill/>
          <a:ln/>
        </p:spPr>
        <p:txBody>
          <a:bodyPr wrap="square" lIns="0" tIns="0" rIns="0" bIns="0" rtlCol="0" anchor="ctr"/>
          <a:lstStyle/>
          <a:p>
            <a:pPr>
              <a:lnSpc>
                <a:spcPct val="110000"/>
              </a:lnSpc>
            </a:pPr>
            <a:r>
              <a:rPr lang="en-US" sz="1794" b="1" dirty="0">
                <a:solidFill>
                  <a:srgbClr val="EDF2F4"/>
                </a:solidFill>
                <a:latin typeface="Liter" pitchFamily="34" charset="0"/>
                <a:ea typeface="Liter" pitchFamily="34" charset="-122"/>
                <a:cs typeface="Liter" pitchFamily="34" charset="-120"/>
              </a:rPr>
              <a:t>Best Model: HGB — Final Metrics</a:t>
            </a:r>
            <a:endParaRPr lang="en-US" sz="1600" dirty="0"/>
          </a:p>
        </p:txBody>
      </p:sp>
      <p:sp>
        <p:nvSpPr>
          <p:cNvPr id="14" name="Shape 10"/>
          <p:cNvSpPr/>
          <p:nvPr/>
        </p:nvSpPr>
        <p:spPr>
          <a:xfrm>
            <a:off x="541234" y="4700187"/>
            <a:ext cx="2098467" cy="835589"/>
          </a:xfrm>
          <a:custGeom>
            <a:avLst/>
            <a:gdLst/>
            <a:ahLst/>
            <a:cxnLst/>
            <a:rect l="l" t="t" r="r" b="b"/>
            <a:pathLst>
              <a:path w="2098467" h="835589">
                <a:moveTo>
                  <a:pt x="75963" y="0"/>
                </a:moveTo>
                <a:lnTo>
                  <a:pt x="2022504" y="0"/>
                </a:lnTo>
                <a:cubicBezTo>
                  <a:pt x="2064457" y="0"/>
                  <a:pt x="2098467" y="34010"/>
                  <a:pt x="2098467" y="75963"/>
                </a:cubicBezTo>
                <a:lnTo>
                  <a:pt x="2098467" y="759625"/>
                </a:lnTo>
                <a:cubicBezTo>
                  <a:pt x="2098467" y="801579"/>
                  <a:pt x="2064457" y="835589"/>
                  <a:pt x="2022504" y="835589"/>
                </a:cubicBezTo>
                <a:lnTo>
                  <a:pt x="75963" y="835589"/>
                </a:lnTo>
                <a:cubicBezTo>
                  <a:pt x="34010" y="835589"/>
                  <a:pt x="0" y="801579"/>
                  <a:pt x="0" y="759625"/>
                </a:cubicBezTo>
                <a:lnTo>
                  <a:pt x="0" y="75963"/>
                </a:lnTo>
                <a:cubicBezTo>
                  <a:pt x="0" y="34038"/>
                  <a:pt x="34038" y="0"/>
                  <a:pt x="75963" y="0"/>
                </a:cubicBezTo>
                <a:close/>
              </a:path>
            </a:pathLst>
          </a:custGeom>
          <a:solidFill>
            <a:srgbClr val="1A1D21">
              <a:alpha val="60000"/>
            </a:srgbClr>
          </a:solidFill>
          <a:ln/>
        </p:spPr>
      </p:sp>
      <p:sp>
        <p:nvSpPr>
          <p:cNvPr id="15" name="Text 11"/>
          <p:cNvSpPr/>
          <p:nvPr/>
        </p:nvSpPr>
        <p:spPr>
          <a:xfrm>
            <a:off x="621944" y="4814131"/>
            <a:ext cx="1937047" cy="189907"/>
          </a:xfrm>
          <a:prstGeom prst="rect">
            <a:avLst/>
          </a:prstGeom>
          <a:noFill/>
          <a:ln/>
        </p:spPr>
        <p:txBody>
          <a:bodyPr wrap="square" lIns="0" tIns="0" rIns="0" bIns="0" rtlCol="0" anchor="ctr"/>
          <a:lstStyle/>
          <a:p>
            <a:pPr algn="ctr">
              <a:lnSpc>
                <a:spcPct val="120000"/>
              </a:lnSpc>
            </a:pPr>
            <a:r>
              <a:rPr lang="en-US" sz="1047" dirty="0">
                <a:solidFill>
                  <a:srgbClr val="8D99AE"/>
                </a:solidFill>
                <a:latin typeface="Liter" pitchFamily="34" charset="0"/>
                <a:ea typeface="Liter" pitchFamily="34" charset="-122"/>
                <a:cs typeface="Liter" pitchFamily="34" charset="-120"/>
              </a:rPr>
              <a:t>Accuracy | Doğruluk</a:t>
            </a:r>
            <a:endParaRPr lang="en-US" sz="1600" dirty="0"/>
          </a:p>
        </p:txBody>
      </p:sp>
      <p:sp>
        <p:nvSpPr>
          <p:cNvPr id="16" name="Text 12"/>
          <p:cNvSpPr/>
          <p:nvPr/>
        </p:nvSpPr>
        <p:spPr>
          <a:xfrm>
            <a:off x="598206" y="5042019"/>
            <a:ext cx="1984523" cy="303850"/>
          </a:xfrm>
          <a:prstGeom prst="rect">
            <a:avLst/>
          </a:prstGeom>
          <a:noFill/>
          <a:ln/>
        </p:spPr>
        <p:txBody>
          <a:bodyPr wrap="square" lIns="0" tIns="0" rIns="0" bIns="0" rtlCol="0" anchor="ctr"/>
          <a:lstStyle/>
          <a:p>
            <a:pPr algn="ctr">
              <a:lnSpc>
                <a:spcPct val="110000"/>
              </a:lnSpc>
            </a:pPr>
            <a:r>
              <a:rPr lang="en-US" sz="1794" b="1" dirty="0">
                <a:solidFill>
                  <a:srgbClr val="D4A373"/>
                </a:solidFill>
                <a:latin typeface="Liter" pitchFamily="34" charset="0"/>
                <a:ea typeface="Liter" pitchFamily="34" charset="-122"/>
                <a:cs typeface="Liter" pitchFamily="34" charset="-120"/>
              </a:rPr>
              <a:t>89.7%</a:t>
            </a:r>
            <a:endParaRPr lang="en-US" sz="1600" dirty="0"/>
          </a:p>
        </p:txBody>
      </p:sp>
      <p:sp>
        <p:nvSpPr>
          <p:cNvPr id="17" name="Shape 13"/>
          <p:cNvSpPr/>
          <p:nvPr/>
        </p:nvSpPr>
        <p:spPr>
          <a:xfrm>
            <a:off x="2792665" y="4700187"/>
            <a:ext cx="2098467" cy="835589"/>
          </a:xfrm>
          <a:custGeom>
            <a:avLst/>
            <a:gdLst/>
            <a:ahLst/>
            <a:cxnLst/>
            <a:rect l="l" t="t" r="r" b="b"/>
            <a:pathLst>
              <a:path w="2098467" h="835589">
                <a:moveTo>
                  <a:pt x="75963" y="0"/>
                </a:moveTo>
                <a:lnTo>
                  <a:pt x="2022504" y="0"/>
                </a:lnTo>
                <a:cubicBezTo>
                  <a:pt x="2064457" y="0"/>
                  <a:pt x="2098467" y="34010"/>
                  <a:pt x="2098467" y="75963"/>
                </a:cubicBezTo>
                <a:lnTo>
                  <a:pt x="2098467" y="759625"/>
                </a:lnTo>
                <a:cubicBezTo>
                  <a:pt x="2098467" y="801579"/>
                  <a:pt x="2064457" y="835589"/>
                  <a:pt x="2022504" y="835589"/>
                </a:cubicBezTo>
                <a:lnTo>
                  <a:pt x="75963" y="835589"/>
                </a:lnTo>
                <a:cubicBezTo>
                  <a:pt x="34010" y="835589"/>
                  <a:pt x="0" y="801579"/>
                  <a:pt x="0" y="759625"/>
                </a:cubicBezTo>
                <a:lnTo>
                  <a:pt x="0" y="75963"/>
                </a:lnTo>
                <a:cubicBezTo>
                  <a:pt x="0" y="34038"/>
                  <a:pt x="34038" y="0"/>
                  <a:pt x="75963" y="0"/>
                </a:cubicBezTo>
                <a:close/>
              </a:path>
            </a:pathLst>
          </a:custGeom>
          <a:solidFill>
            <a:srgbClr val="1A1D21">
              <a:alpha val="60000"/>
            </a:srgbClr>
          </a:solidFill>
          <a:ln/>
        </p:spPr>
      </p:sp>
      <p:sp>
        <p:nvSpPr>
          <p:cNvPr id="18" name="Text 14"/>
          <p:cNvSpPr/>
          <p:nvPr/>
        </p:nvSpPr>
        <p:spPr>
          <a:xfrm>
            <a:off x="2873375" y="4814131"/>
            <a:ext cx="1937047" cy="189907"/>
          </a:xfrm>
          <a:prstGeom prst="rect">
            <a:avLst/>
          </a:prstGeom>
          <a:noFill/>
          <a:ln/>
        </p:spPr>
        <p:txBody>
          <a:bodyPr wrap="square" lIns="0" tIns="0" rIns="0" bIns="0" rtlCol="0" anchor="ctr"/>
          <a:lstStyle/>
          <a:p>
            <a:pPr algn="ctr">
              <a:lnSpc>
                <a:spcPct val="120000"/>
              </a:lnSpc>
            </a:pPr>
            <a:r>
              <a:rPr lang="en-US" sz="1047" dirty="0">
                <a:solidFill>
                  <a:srgbClr val="8D99AE"/>
                </a:solidFill>
                <a:latin typeface="Liter" pitchFamily="34" charset="0"/>
                <a:ea typeface="Liter" pitchFamily="34" charset="-122"/>
                <a:cs typeface="Liter" pitchFamily="34" charset="-120"/>
              </a:rPr>
              <a:t>F1 Score</a:t>
            </a:r>
            <a:endParaRPr lang="en-US" sz="1600" dirty="0"/>
          </a:p>
        </p:txBody>
      </p:sp>
      <p:sp>
        <p:nvSpPr>
          <p:cNvPr id="19" name="Text 15"/>
          <p:cNvSpPr/>
          <p:nvPr/>
        </p:nvSpPr>
        <p:spPr>
          <a:xfrm>
            <a:off x="2849637" y="5042019"/>
            <a:ext cx="1984523" cy="303850"/>
          </a:xfrm>
          <a:prstGeom prst="rect">
            <a:avLst/>
          </a:prstGeom>
          <a:noFill/>
          <a:ln/>
        </p:spPr>
        <p:txBody>
          <a:bodyPr wrap="square" lIns="0" tIns="0" rIns="0" bIns="0" rtlCol="0" anchor="ctr"/>
          <a:lstStyle/>
          <a:p>
            <a:pPr algn="ctr">
              <a:lnSpc>
                <a:spcPct val="110000"/>
              </a:lnSpc>
            </a:pPr>
            <a:r>
              <a:rPr lang="en-US" sz="1794" b="1" dirty="0">
                <a:solidFill>
                  <a:srgbClr val="4A6C8C"/>
                </a:solidFill>
                <a:latin typeface="Liter" pitchFamily="34" charset="0"/>
                <a:ea typeface="Liter" pitchFamily="34" charset="-122"/>
                <a:cs typeface="Liter" pitchFamily="34" charset="-120"/>
              </a:rPr>
              <a:t>80.7%</a:t>
            </a:r>
            <a:endParaRPr lang="en-US" sz="1600" dirty="0"/>
          </a:p>
        </p:txBody>
      </p:sp>
      <p:sp>
        <p:nvSpPr>
          <p:cNvPr id="20" name="Shape 16"/>
          <p:cNvSpPr/>
          <p:nvPr/>
        </p:nvSpPr>
        <p:spPr>
          <a:xfrm>
            <a:off x="5044096" y="4700187"/>
            <a:ext cx="2098467" cy="835589"/>
          </a:xfrm>
          <a:custGeom>
            <a:avLst/>
            <a:gdLst/>
            <a:ahLst/>
            <a:cxnLst/>
            <a:rect l="l" t="t" r="r" b="b"/>
            <a:pathLst>
              <a:path w="2098467" h="835589">
                <a:moveTo>
                  <a:pt x="75963" y="0"/>
                </a:moveTo>
                <a:lnTo>
                  <a:pt x="2022504" y="0"/>
                </a:lnTo>
                <a:cubicBezTo>
                  <a:pt x="2064457" y="0"/>
                  <a:pt x="2098467" y="34010"/>
                  <a:pt x="2098467" y="75963"/>
                </a:cubicBezTo>
                <a:lnTo>
                  <a:pt x="2098467" y="759625"/>
                </a:lnTo>
                <a:cubicBezTo>
                  <a:pt x="2098467" y="801579"/>
                  <a:pt x="2064457" y="835589"/>
                  <a:pt x="2022504" y="835589"/>
                </a:cubicBezTo>
                <a:lnTo>
                  <a:pt x="75963" y="835589"/>
                </a:lnTo>
                <a:cubicBezTo>
                  <a:pt x="34010" y="835589"/>
                  <a:pt x="0" y="801579"/>
                  <a:pt x="0" y="759625"/>
                </a:cubicBezTo>
                <a:lnTo>
                  <a:pt x="0" y="75963"/>
                </a:lnTo>
                <a:cubicBezTo>
                  <a:pt x="0" y="34038"/>
                  <a:pt x="34038" y="0"/>
                  <a:pt x="75963" y="0"/>
                </a:cubicBezTo>
                <a:close/>
              </a:path>
            </a:pathLst>
          </a:custGeom>
          <a:solidFill>
            <a:srgbClr val="1A1D21">
              <a:alpha val="60000"/>
            </a:srgbClr>
          </a:solidFill>
          <a:ln/>
        </p:spPr>
      </p:sp>
      <p:sp>
        <p:nvSpPr>
          <p:cNvPr id="21" name="Text 17"/>
          <p:cNvSpPr/>
          <p:nvPr/>
        </p:nvSpPr>
        <p:spPr>
          <a:xfrm>
            <a:off x="5124806" y="4814131"/>
            <a:ext cx="1937047" cy="189907"/>
          </a:xfrm>
          <a:prstGeom prst="rect">
            <a:avLst/>
          </a:prstGeom>
          <a:noFill/>
          <a:ln/>
        </p:spPr>
        <p:txBody>
          <a:bodyPr wrap="square" lIns="0" tIns="0" rIns="0" bIns="0" rtlCol="0" anchor="ctr"/>
          <a:lstStyle/>
          <a:p>
            <a:pPr algn="ctr">
              <a:lnSpc>
                <a:spcPct val="120000"/>
              </a:lnSpc>
            </a:pPr>
            <a:r>
              <a:rPr lang="en-US" sz="1047" dirty="0">
                <a:solidFill>
                  <a:srgbClr val="8D99AE"/>
                </a:solidFill>
                <a:latin typeface="Liter" pitchFamily="34" charset="0"/>
                <a:ea typeface="Liter" pitchFamily="34" charset="-122"/>
                <a:cs typeface="Liter" pitchFamily="34" charset="-120"/>
              </a:rPr>
              <a:t>Precision | Kesinlik</a:t>
            </a:r>
            <a:endParaRPr lang="en-US" sz="1600" dirty="0"/>
          </a:p>
        </p:txBody>
      </p:sp>
      <p:sp>
        <p:nvSpPr>
          <p:cNvPr id="22" name="Text 18"/>
          <p:cNvSpPr/>
          <p:nvPr/>
        </p:nvSpPr>
        <p:spPr>
          <a:xfrm>
            <a:off x="5101068" y="5042019"/>
            <a:ext cx="1984523" cy="303850"/>
          </a:xfrm>
          <a:prstGeom prst="rect">
            <a:avLst/>
          </a:prstGeom>
          <a:noFill/>
          <a:ln/>
        </p:spPr>
        <p:txBody>
          <a:bodyPr wrap="square" lIns="0" tIns="0" rIns="0" bIns="0" rtlCol="0" anchor="ctr"/>
          <a:lstStyle/>
          <a:p>
            <a:pPr algn="ctr">
              <a:lnSpc>
                <a:spcPct val="110000"/>
              </a:lnSpc>
            </a:pPr>
            <a:r>
              <a:rPr lang="en-US" sz="1794" b="1" dirty="0">
                <a:solidFill>
                  <a:srgbClr val="D4A373"/>
                </a:solidFill>
                <a:latin typeface="Liter" pitchFamily="34" charset="0"/>
                <a:ea typeface="Liter" pitchFamily="34" charset="-122"/>
                <a:cs typeface="Liter" pitchFamily="34" charset="-120"/>
              </a:rPr>
              <a:t>87.8%</a:t>
            </a:r>
            <a:endParaRPr lang="en-US" sz="1600" dirty="0"/>
          </a:p>
        </p:txBody>
      </p:sp>
      <p:sp>
        <p:nvSpPr>
          <p:cNvPr id="23" name="Shape 19"/>
          <p:cNvSpPr/>
          <p:nvPr/>
        </p:nvSpPr>
        <p:spPr>
          <a:xfrm>
            <a:off x="7295527" y="4700187"/>
            <a:ext cx="2098467" cy="835589"/>
          </a:xfrm>
          <a:custGeom>
            <a:avLst/>
            <a:gdLst/>
            <a:ahLst/>
            <a:cxnLst/>
            <a:rect l="l" t="t" r="r" b="b"/>
            <a:pathLst>
              <a:path w="2098467" h="835589">
                <a:moveTo>
                  <a:pt x="75963" y="0"/>
                </a:moveTo>
                <a:lnTo>
                  <a:pt x="2022504" y="0"/>
                </a:lnTo>
                <a:cubicBezTo>
                  <a:pt x="2064457" y="0"/>
                  <a:pt x="2098467" y="34010"/>
                  <a:pt x="2098467" y="75963"/>
                </a:cubicBezTo>
                <a:lnTo>
                  <a:pt x="2098467" y="759625"/>
                </a:lnTo>
                <a:cubicBezTo>
                  <a:pt x="2098467" y="801579"/>
                  <a:pt x="2064457" y="835589"/>
                  <a:pt x="2022504" y="835589"/>
                </a:cubicBezTo>
                <a:lnTo>
                  <a:pt x="75963" y="835589"/>
                </a:lnTo>
                <a:cubicBezTo>
                  <a:pt x="34010" y="835589"/>
                  <a:pt x="0" y="801579"/>
                  <a:pt x="0" y="759625"/>
                </a:cubicBezTo>
                <a:lnTo>
                  <a:pt x="0" y="75963"/>
                </a:lnTo>
                <a:cubicBezTo>
                  <a:pt x="0" y="34038"/>
                  <a:pt x="34038" y="0"/>
                  <a:pt x="75963" y="0"/>
                </a:cubicBezTo>
                <a:close/>
              </a:path>
            </a:pathLst>
          </a:custGeom>
          <a:solidFill>
            <a:srgbClr val="1A1D21">
              <a:alpha val="60000"/>
            </a:srgbClr>
          </a:solidFill>
          <a:ln/>
        </p:spPr>
      </p:sp>
      <p:sp>
        <p:nvSpPr>
          <p:cNvPr id="24" name="Text 20"/>
          <p:cNvSpPr/>
          <p:nvPr/>
        </p:nvSpPr>
        <p:spPr>
          <a:xfrm>
            <a:off x="7376237" y="4814131"/>
            <a:ext cx="1937047" cy="189907"/>
          </a:xfrm>
          <a:prstGeom prst="rect">
            <a:avLst/>
          </a:prstGeom>
          <a:noFill/>
          <a:ln/>
        </p:spPr>
        <p:txBody>
          <a:bodyPr wrap="square" lIns="0" tIns="0" rIns="0" bIns="0" rtlCol="0" anchor="ctr"/>
          <a:lstStyle/>
          <a:p>
            <a:pPr algn="ctr">
              <a:lnSpc>
                <a:spcPct val="120000"/>
              </a:lnSpc>
            </a:pPr>
            <a:r>
              <a:rPr lang="en-US" sz="1047" dirty="0">
                <a:solidFill>
                  <a:srgbClr val="8D99AE"/>
                </a:solidFill>
                <a:latin typeface="Liter" pitchFamily="34" charset="0"/>
                <a:ea typeface="Liter" pitchFamily="34" charset="-122"/>
                <a:cs typeface="Liter" pitchFamily="34" charset="-120"/>
              </a:rPr>
              <a:t>Recall | Duyarlılık</a:t>
            </a:r>
            <a:endParaRPr lang="en-US" sz="1600" dirty="0"/>
          </a:p>
        </p:txBody>
      </p:sp>
      <p:sp>
        <p:nvSpPr>
          <p:cNvPr id="25" name="Text 21"/>
          <p:cNvSpPr/>
          <p:nvPr/>
        </p:nvSpPr>
        <p:spPr>
          <a:xfrm>
            <a:off x="7352499" y="5042019"/>
            <a:ext cx="1984523" cy="303850"/>
          </a:xfrm>
          <a:prstGeom prst="rect">
            <a:avLst/>
          </a:prstGeom>
          <a:noFill/>
          <a:ln/>
        </p:spPr>
        <p:txBody>
          <a:bodyPr wrap="square" lIns="0" tIns="0" rIns="0" bIns="0" rtlCol="0" anchor="ctr"/>
          <a:lstStyle/>
          <a:p>
            <a:pPr algn="ctr">
              <a:lnSpc>
                <a:spcPct val="110000"/>
              </a:lnSpc>
            </a:pPr>
            <a:r>
              <a:rPr lang="en-US" sz="1794" b="1" dirty="0">
                <a:solidFill>
                  <a:srgbClr val="4A6C8C"/>
                </a:solidFill>
                <a:latin typeface="Liter" pitchFamily="34" charset="0"/>
                <a:ea typeface="Liter" pitchFamily="34" charset="-122"/>
                <a:cs typeface="Liter" pitchFamily="34" charset="-120"/>
              </a:rPr>
              <a:t>74.7%</a:t>
            </a:r>
            <a:endParaRPr lang="en-US" sz="1600" dirty="0"/>
          </a:p>
        </p:txBody>
      </p:sp>
      <p:sp>
        <p:nvSpPr>
          <p:cNvPr id="26" name="Shape 22"/>
          <p:cNvSpPr/>
          <p:nvPr/>
        </p:nvSpPr>
        <p:spPr>
          <a:xfrm>
            <a:off x="9556453" y="4709682"/>
            <a:ext cx="2079477" cy="816598"/>
          </a:xfrm>
          <a:custGeom>
            <a:avLst/>
            <a:gdLst/>
            <a:ahLst/>
            <a:cxnLst/>
            <a:rect l="l" t="t" r="r" b="b"/>
            <a:pathLst>
              <a:path w="2079477" h="816598">
                <a:moveTo>
                  <a:pt x="75960" y="0"/>
                </a:moveTo>
                <a:lnTo>
                  <a:pt x="2003517" y="0"/>
                </a:lnTo>
                <a:cubicBezTo>
                  <a:pt x="2045468" y="0"/>
                  <a:pt x="2079477" y="34008"/>
                  <a:pt x="2079477" y="75960"/>
                </a:cubicBezTo>
                <a:lnTo>
                  <a:pt x="2079477" y="740638"/>
                </a:lnTo>
                <a:cubicBezTo>
                  <a:pt x="2079477" y="782590"/>
                  <a:pt x="2045468" y="816598"/>
                  <a:pt x="2003517" y="816598"/>
                </a:cubicBezTo>
                <a:lnTo>
                  <a:pt x="75960" y="816598"/>
                </a:lnTo>
                <a:cubicBezTo>
                  <a:pt x="34008" y="816598"/>
                  <a:pt x="0" y="782590"/>
                  <a:pt x="0" y="740638"/>
                </a:cubicBezTo>
                <a:lnTo>
                  <a:pt x="0" y="75960"/>
                </a:lnTo>
                <a:cubicBezTo>
                  <a:pt x="0" y="34037"/>
                  <a:pt x="34037" y="0"/>
                  <a:pt x="75960" y="0"/>
                </a:cubicBezTo>
                <a:close/>
              </a:path>
            </a:pathLst>
          </a:custGeom>
          <a:solidFill>
            <a:srgbClr val="1A1D21">
              <a:alpha val="60000"/>
            </a:srgbClr>
          </a:solidFill>
          <a:ln w="25400">
            <a:solidFill>
              <a:srgbClr val="D4A373"/>
            </a:solidFill>
            <a:prstDash val="solid"/>
          </a:ln>
        </p:spPr>
      </p:sp>
      <p:sp>
        <p:nvSpPr>
          <p:cNvPr id="27" name="Text 23"/>
          <p:cNvSpPr/>
          <p:nvPr/>
        </p:nvSpPr>
        <p:spPr>
          <a:xfrm>
            <a:off x="9646659" y="4833121"/>
            <a:ext cx="1899065" cy="189907"/>
          </a:xfrm>
          <a:prstGeom prst="rect">
            <a:avLst/>
          </a:prstGeom>
          <a:noFill/>
          <a:ln/>
        </p:spPr>
        <p:txBody>
          <a:bodyPr wrap="square" lIns="0" tIns="0" rIns="0" bIns="0" rtlCol="0" anchor="ctr"/>
          <a:lstStyle/>
          <a:p>
            <a:pPr algn="ctr">
              <a:lnSpc>
                <a:spcPct val="120000"/>
              </a:lnSpc>
            </a:pPr>
            <a:r>
              <a:rPr lang="en-US" sz="1047" dirty="0">
                <a:solidFill>
                  <a:srgbClr val="8D99AE"/>
                </a:solidFill>
                <a:latin typeface="Liter" pitchFamily="34" charset="0"/>
                <a:ea typeface="Liter" pitchFamily="34" charset="-122"/>
                <a:cs typeface="Liter" pitchFamily="34" charset="-120"/>
              </a:rPr>
              <a:t>ROC-AUC</a:t>
            </a:r>
            <a:endParaRPr lang="en-US" sz="1600" dirty="0"/>
          </a:p>
        </p:txBody>
      </p:sp>
      <p:sp>
        <p:nvSpPr>
          <p:cNvPr id="28" name="Text 24"/>
          <p:cNvSpPr/>
          <p:nvPr/>
        </p:nvSpPr>
        <p:spPr>
          <a:xfrm>
            <a:off x="9608678" y="5061009"/>
            <a:ext cx="1975028" cy="341832"/>
          </a:xfrm>
          <a:prstGeom prst="rect">
            <a:avLst/>
          </a:prstGeom>
          <a:noFill/>
          <a:ln/>
        </p:spPr>
        <p:txBody>
          <a:bodyPr wrap="square" lIns="0" tIns="0" rIns="0" bIns="0" rtlCol="0" anchor="ctr"/>
          <a:lstStyle/>
          <a:p>
            <a:pPr algn="ctr">
              <a:lnSpc>
                <a:spcPct val="100000"/>
              </a:lnSpc>
            </a:pPr>
            <a:r>
              <a:rPr lang="en-US" sz="2243" b="1" dirty="0">
                <a:solidFill>
                  <a:srgbClr val="D4A373"/>
                </a:solidFill>
                <a:latin typeface="Liter" pitchFamily="34" charset="0"/>
                <a:ea typeface="Liter" pitchFamily="34" charset="-122"/>
                <a:cs typeface="Liter" pitchFamily="34" charset="-120"/>
              </a:rPr>
              <a:t>91.7%</a:t>
            </a:r>
            <a:endParaRPr lang="en-US" sz="1600" dirty="0"/>
          </a:p>
        </p:txBody>
      </p:sp>
      <p:sp>
        <p:nvSpPr>
          <p:cNvPr id="29" name="Shape 25"/>
          <p:cNvSpPr/>
          <p:nvPr/>
        </p:nvSpPr>
        <p:spPr>
          <a:xfrm>
            <a:off x="384561" y="5853869"/>
            <a:ext cx="5611738" cy="997009"/>
          </a:xfrm>
          <a:custGeom>
            <a:avLst/>
            <a:gdLst/>
            <a:ahLst/>
            <a:cxnLst/>
            <a:rect l="l" t="t" r="r" b="b"/>
            <a:pathLst>
              <a:path w="5611738" h="997009">
                <a:moveTo>
                  <a:pt x="75962" y="0"/>
                </a:moveTo>
                <a:lnTo>
                  <a:pt x="5535776" y="0"/>
                </a:lnTo>
                <a:cubicBezTo>
                  <a:pt x="5577729" y="0"/>
                  <a:pt x="5611738" y="34009"/>
                  <a:pt x="5611738" y="75962"/>
                </a:cubicBezTo>
                <a:lnTo>
                  <a:pt x="5611738" y="921047"/>
                </a:lnTo>
                <a:cubicBezTo>
                  <a:pt x="5611738" y="963000"/>
                  <a:pt x="5577729" y="997009"/>
                  <a:pt x="5535776" y="997009"/>
                </a:cubicBezTo>
                <a:lnTo>
                  <a:pt x="75962" y="997009"/>
                </a:lnTo>
                <a:cubicBezTo>
                  <a:pt x="34009" y="997009"/>
                  <a:pt x="0" y="963000"/>
                  <a:pt x="0" y="921047"/>
                </a:cubicBezTo>
                <a:lnTo>
                  <a:pt x="0" y="75962"/>
                </a:lnTo>
                <a:cubicBezTo>
                  <a:pt x="0" y="34009"/>
                  <a:pt x="34009" y="0"/>
                  <a:pt x="75962" y="0"/>
                </a:cubicBezTo>
                <a:close/>
              </a:path>
            </a:pathLst>
          </a:custGeom>
          <a:solidFill>
            <a:srgbClr val="4A6C8C">
              <a:alpha val="10196"/>
            </a:srgbClr>
          </a:solidFill>
          <a:ln w="12700">
            <a:solidFill>
              <a:srgbClr val="4A6C8C">
                <a:alpha val="30196"/>
              </a:srgbClr>
            </a:solidFill>
            <a:prstDash val="solid"/>
          </a:ln>
        </p:spPr>
      </p:sp>
      <p:sp>
        <p:nvSpPr>
          <p:cNvPr id="30" name="Text 26"/>
          <p:cNvSpPr/>
          <p:nvPr/>
        </p:nvSpPr>
        <p:spPr>
          <a:xfrm>
            <a:off x="541234" y="6010542"/>
            <a:ext cx="5374355" cy="683664"/>
          </a:xfrm>
          <a:prstGeom prst="rect">
            <a:avLst/>
          </a:prstGeom>
          <a:noFill/>
          <a:ln/>
        </p:spPr>
        <p:txBody>
          <a:bodyPr wrap="square" lIns="0" tIns="0" rIns="0" bIns="0" rtlCol="0" anchor="ctr"/>
          <a:lstStyle/>
          <a:p>
            <a:pPr>
              <a:lnSpc>
                <a:spcPct val="130000"/>
              </a:lnSpc>
            </a:pPr>
            <a:r>
              <a:rPr lang="en-US" sz="1196" b="1" dirty="0">
                <a:solidFill>
                  <a:srgbClr val="EDF2F4"/>
                </a:solidFill>
                <a:latin typeface="Liter" pitchFamily="34" charset="0"/>
                <a:ea typeface="Liter" pitchFamily="34" charset="-122"/>
                <a:cs typeface="Liter" pitchFamily="34" charset="-120"/>
              </a:rPr>
              <a:t>Result:</a:t>
            </a:r>
            <a:pPr>
              <a:lnSpc>
                <a:spcPct val="130000"/>
              </a:lnSpc>
            </a:pPr>
            <a:r>
              <a:rPr lang="en-US" sz="1196" dirty="0">
                <a:solidFill>
                  <a:srgbClr val="EDF2F4"/>
                </a:solidFill>
                <a:latin typeface="Liter" pitchFamily="34" charset="0"/>
                <a:ea typeface="Liter" pitchFamily="34" charset="-122"/>
                <a:cs typeface="Liter" pitchFamily="34" charset="-120"/>
              </a:rPr>
              <a:t> The best model was HGB with 91.7% ROC-AUC. The model is quite successful at predicting churn. All models showed very small differences between train and test scores, meaning they did not overfit.</a:t>
            </a:r>
            <a:endParaRPr lang="en-US" sz="1600" dirty="0"/>
          </a:p>
        </p:txBody>
      </p:sp>
      <p:sp>
        <p:nvSpPr>
          <p:cNvPr id="31" name="Shape 27"/>
          <p:cNvSpPr/>
          <p:nvPr/>
        </p:nvSpPr>
        <p:spPr>
          <a:xfrm>
            <a:off x="6193475" y="5853869"/>
            <a:ext cx="5611738" cy="997009"/>
          </a:xfrm>
          <a:custGeom>
            <a:avLst/>
            <a:gdLst/>
            <a:ahLst/>
            <a:cxnLst/>
            <a:rect l="l" t="t" r="r" b="b"/>
            <a:pathLst>
              <a:path w="5611738" h="997009">
                <a:moveTo>
                  <a:pt x="75962" y="0"/>
                </a:moveTo>
                <a:lnTo>
                  <a:pt x="5535776" y="0"/>
                </a:lnTo>
                <a:cubicBezTo>
                  <a:pt x="5577729" y="0"/>
                  <a:pt x="5611738" y="34009"/>
                  <a:pt x="5611738" y="75962"/>
                </a:cubicBezTo>
                <a:lnTo>
                  <a:pt x="5611738" y="921047"/>
                </a:lnTo>
                <a:cubicBezTo>
                  <a:pt x="5611738" y="963000"/>
                  <a:pt x="5577729" y="997009"/>
                  <a:pt x="5535776" y="997009"/>
                </a:cubicBezTo>
                <a:lnTo>
                  <a:pt x="75962" y="997009"/>
                </a:lnTo>
                <a:cubicBezTo>
                  <a:pt x="34009" y="997009"/>
                  <a:pt x="0" y="963000"/>
                  <a:pt x="0" y="921047"/>
                </a:cubicBezTo>
                <a:lnTo>
                  <a:pt x="0" y="75962"/>
                </a:lnTo>
                <a:cubicBezTo>
                  <a:pt x="0" y="34009"/>
                  <a:pt x="34009" y="0"/>
                  <a:pt x="75962" y="0"/>
                </a:cubicBezTo>
                <a:close/>
              </a:path>
            </a:pathLst>
          </a:custGeom>
          <a:solidFill>
            <a:srgbClr val="4A6C8C">
              <a:alpha val="10196"/>
            </a:srgbClr>
          </a:solidFill>
          <a:ln w="12700">
            <a:solidFill>
              <a:srgbClr val="4A6C8C">
                <a:alpha val="30196"/>
              </a:srgbClr>
            </a:solidFill>
            <a:prstDash val="solid"/>
          </a:ln>
        </p:spPr>
      </p:sp>
      <p:sp>
        <p:nvSpPr>
          <p:cNvPr id="32" name="Text 28"/>
          <p:cNvSpPr/>
          <p:nvPr/>
        </p:nvSpPr>
        <p:spPr>
          <a:xfrm>
            <a:off x="6350148" y="6010542"/>
            <a:ext cx="5374355" cy="683664"/>
          </a:xfrm>
          <a:prstGeom prst="rect">
            <a:avLst/>
          </a:prstGeom>
          <a:noFill/>
          <a:ln/>
        </p:spPr>
        <p:txBody>
          <a:bodyPr wrap="square" lIns="0" tIns="0" rIns="0" bIns="0" rtlCol="0" anchor="ctr"/>
          <a:lstStyle/>
          <a:p>
            <a:pPr>
              <a:lnSpc>
                <a:spcPct val="130000"/>
              </a:lnSpc>
            </a:pPr>
            <a:r>
              <a:rPr lang="en-US" sz="1196" b="1" dirty="0">
                <a:solidFill>
                  <a:srgbClr val="EDF2F4"/>
                </a:solidFill>
                <a:latin typeface="Liter" pitchFamily="34" charset="0"/>
                <a:ea typeface="Liter" pitchFamily="34" charset="-122"/>
                <a:cs typeface="Liter" pitchFamily="34" charset="-120"/>
              </a:rPr>
              <a:t>Sonuç:</a:t>
            </a:r>
            <a:pPr>
              <a:lnSpc>
                <a:spcPct val="130000"/>
              </a:lnSpc>
            </a:pPr>
            <a:r>
              <a:rPr lang="en-US" sz="1196" dirty="0">
                <a:solidFill>
                  <a:srgbClr val="EDF2F4"/>
                </a:solidFill>
                <a:latin typeface="Liter" pitchFamily="34" charset="0"/>
                <a:ea typeface="Liter" pitchFamily="34" charset="-122"/>
                <a:cs typeface="Liter" pitchFamily="34" charset="-120"/>
              </a:rPr>
              <a:t> En iyi model HGB oldu, %91.7 ROC-AUC ile. Model churn'ü tahmin etmekte oldukça başarılı. Tüm modeller train ve test skorları arasında çok az fark gösterdi, yani ezber yapmadılar.</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56231" y="356231"/>
            <a:ext cx="71246" cy="427477"/>
          </a:xfrm>
          <a:custGeom>
            <a:avLst/>
            <a:gdLst/>
            <a:ahLst/>
            <a:cxnLst/>
            <a:rect l="l" t="t" r="r" b="b"/>
            <a:pathLst>
              <a:path w="71246" h="427477">
                <a:moveTo>
                  <a:pt x="0" y="0"/>
                </a:moveTo>
                <a:lnTo>
                  <a:pt x="71246" y="0"/>
                </a:lnTo>
                <a:lnTo>
                  <a:pt x="71246" y="427477"/>
                </a:lnTo>
                <a:lnTo>
                  <a:pt x="0" y="427477"/>
                </a:lnTo>
                <a:lnTo>
                  <a:pt x="0" y="0"/>
                </a:lnTo>
                <a:close/>
              </a:path>
            </a:pathLst>
          </a:custGeom>
          <a:solidFill>
            <a:srgbClr val="4A6C8C"/>
          </a:solidFill>
          <a:ln/>
        </p:spPr>
      </p:sp>
      <p:sp>
        <p:nvSpPr>
          <p:cNvPr id="3" name="Text 1"/>
          <p:cNvSpPr/>
          <p:nvPr/>
        </p:nvSpPr>
        <p:spPr>
          <a:xfrm>
            <a:off x="534346" y="391854"/>
            <a:ext cx="2849847" cy="356231"/>
          </a:xfrm>
          <a:prstGeom prst="rect">
            <a:avLst/>
          </a:prstGeom>
          <a:noFill/>
          <a:ln/>
        </p:spPr>
        <p:txBody>
          <a:bodyPr wrap="square" lIns="0" tIns="0" rIns="0" bIns="0" rtlCol="0" anchor="ctr"/>
          <a:lstStyle/>
          <a:p>
            <a:pPr>
              <a:lnSpc>
                <a:spcPct val="90000"/>
              </a:lnSpc>
            </a:pPr>
            <a:r>
              <a:rPr lang="en-US" sz="2524" b="1" dirty="0">
                <a:solidFill>
                  <a:srgbClr val="EDF2F4"/>
                </a:solidFill>
                <a:latin typeface="Liter" pitchFamily="34" charset="0"/>
                <a:ea typeface="Liter" pitchFamily="34" charset="-122"/>
                <a:cs typeface="Liter" pitchFamily="34" charset="-120"/>
              </a:rPr>
              <a:t>Regression Results</a:t>
            </a:r>
            <a:endParaRPr lang="en-US" sz="1600" dirty="0"/>
          </a:p>
        </p:txBody>
      </p:sp>
      <p:sp>
        <p:nvSpPr>
          <p:cNvPr id="4" name="Text 2"/>
          <p:cNvSpPr/>
          <p:nvPr/>
        </p:nvSpPr>
        <p:spPr>
          <a:xfrm>
            <a:off x="534346" y="854954"/>
            <a:ext cx="11408292" cy="284985"/>
          </a:xfrm>
          <a:prstGeom prst="rect">
            <a:avLst/>
          </a:prstGeom>
          <a:noFill/>
          <a:ln/>
        </p:spPr>
        <p:txBody>
          <a:bodyPr wrap="square" lIns="0" tIns="0" rIns="0" bIns="0" rtlCol="0" anchor="ctr"/>
          <a:lstStyle/>
          <a:p>
            <a:pPr>
              <a:lnSpc>
                <a:spcPct val="110000"/>
              </a:lnSpc>
            </a:pPr>
            <a:r>
              <a:rPr lang="en-US" sz="1683" dirty="0">
                <a:solidFill>
                  <a:srgbClr val="8D99AE"/>
                </a:solidFill>
                <a:latin typeface="Liter" pitchFamily="34" charset="0"/>
                <a:ea typeface="Liter" pitchFamily="34" charset="-122"/>
                <a:cs typeface="Liter" pitchFamily="34" charset="-120"/>
              </a:rPr>
              <a:t>Regresyon Sonuçları</a:t>
            </a:r>
            <a:endParaRPr lang="en-US" sz="1600" dirty="0"/>
          </a:p>
        </p:txBody>
      </p:sp>
      <p:sp>
        <p:nvSpPr>
          <p:cNvPr id="5" name="Shape 3"/>
          <p:cNvSpPr/>
          <p:nvPr/>
        </p:nvSpPr>
        <p:spPr>
          <a:xfrm>
            <a:off x="360684" y="1286884"/>
            <a:ext cx="5637353" cy="2431275"/>
          </a:xfrm>
          <a:custGeom>
            <a:avLst/>
            <a:gdLst/>
            <a:ahLst/>
            <a:cxnLst/>
            <a:rect l="l" t="t" r="r" b="b"/>
            <a:pathLst>
              <a:path w="5637353" h="2431275">
                <a:moveTo>
                  <a:pt x="106879" y="0"/>
                </a:moveTo>
                <a:lnTo>
                  <a:pt x="5530474" y="0"/>
                </a:lnTo>
                <a:cubicBezTo>
                  <a:pt x="5589502" y="0"/>
                  <a:pt x="5637353" y="47851"/>
                  <a:pt x="5637353" y="106879"/>
                </a:cubicBezTo>
                <a:lnTo>
                  <a:pt x="5637353" y="2324397"/>
                </a:lnTo>
                <a:cubicBezTo>
                  <a:pt x="5637353" y="2383424"/>
                  <a:pt x="5589502" y="2431275"/>
                  <a:pt x="5530474" y="2431275"/>
                </a:cubicBezTo>
                <a:lnTo>
                  <a:pt x="106879" y="2431275"/>
                </a:lnTo>
                <a:cubicBezTo>
                  <a:pt x="47851" y="2431275"/>
                  <a:pt x="0" y="2383424"/>
                  <a:pt x="0" y="2324397"/>
                </a:cubicBezTo>
                <a:lnTo>
                  <a:pt x="0" y="106879"/>
                </a:lnTo>
                <a:cubicBezTo>
                  <a:pt x="0" y="47891"/>
                  <a:pt x="47891" y="0"/>
                  <a:pt x="106879" y="0"/>
                </a:cubicBezTo>
                <a:close/>
              </a:path>
            </a:pathLst>
          </a:custGeom>
          <a:solidFill>
            <a:srgbClr val="1A1D21">
              <a:alpha val="60000"/>
            </a:srgbClr>
          </a:solidFill>
          <a:ln w="12700">
            <a:solidFill>
              <a:srgbClr val="4A6C8C">
                <a:alpha val="30196"/>
              </a:srgbClr>
            </a:solidFill>
            <a:prstDash val="solid"/>
          </a:ln>
        </p:spPr>
      </p:sp>
      <p:sp>
        <p:nvSpPr>
          <p:cNvPr id="6" name="Text 4"/>
          <p:cNvSpPr/>
          <p:nvPr/>
        </p:nvSpPr>
        <p:spPr>
          <a:xfrm>
            <a:off x="467553" y="1433829"/>
            <a:ext cx="5423614" cy="249362"/>
          </a:xfrm>
          <a:prstGeom prst="rect">
            <a:avLst/>
          </a:prstGeom>
          <a:noFill/>
          <a:ln/>
        </p:spPr>
        <p:txBody>
          <a:bodyPr wrap="square" lIns="0" tIns="0" rIns="0" bIns="0" rtlCol="0" anchor="ctr"/>
          <a:lstStyle/>
          <a:p>
            <a:pPr algn="ctr">
              <a:lnSpc>
                <a:spcPct val="130000"/>
              </a:lnSpc>
            </a:pPr>
            <a:r>
              <a:rPr lang="en-US" sz="1262" b="1" dirty="0">
                <a:solidFill>
                  <a:srgbClr val="EDF2F4"/>
                </a:solidFill>
                <a:latin typeface="Liter" pitchFamily="34" charset="0"/>
                <a:ea typeface="Liter" pitchFamily="34" charset="-122"/>
                <a:cs typeface="Liter" pitchFamily="34" charset="-120"/>
              </a:rPr>
              <a:t>Cross-Validation R² | Çapraz Doğrulama R²</a:t>
            </a:r>
            <a:endParaRPr lang="en-US" sz="1600" dirty="0"/>
          </a:p>
        </p:txBody>
      </p:sp>
      <p:pic>
        <p:nvPicPr>
          <p:cNvPr id="7" name="Image 0" descr="https://kimi-img.moonshot.cn/pub/slides/26-02-12-04:11:53-d66e52de9ortqsgd65lg.png">    </p:cNvPr>
          <p:cNvPicPr>
            <a:picLocks noChangeAspect="1"/>
          </p:cNvPicPr>
          <p:nvPr/>
        </p:nvPicPr>
        <p:blipFill>
          <a:blip r:embed="rId1"/>
          <a:srcRect l="0" r="0" t="0" b="0"/>
          <a:stretch/>
        </p:blipFill>
        <p:spPr>
          <a:xfrm>
            <a:off x="507629" y="1790060"/>
            <a:ext cx="4951608" cy="1781154"/>
          </a:xfrm>
          <a:prstGeom prst="roundRect">
            <a:avLst>
              <a:gd name="adj" fmla="val 0"/>
            </a:avLst>
          </a:prstGeom>
        </p:spPr>
      </p:pic>
      <p:sp>
        <p:nvSpPr>
          <p:cNvPr id="8" name="Shape 5"/>
          <p:cNvSpPr/>
          <p:nvPr/>
        </p:nvSpPr>
        <p:spPr>
          <a:xfrm>
            <a:off x="6188954" y="1286884"/>
            <a:ext cx="5637353" cy="2431275"/>
          </a:xfrm>
          <a:custGeom>
            <a:avLst/>
            <a:gdLst/>
            <a:ahLst/>
            <a:cxnLst/>
            <a:rect l="l" t="t" r="r" b="b"/>
            <a:pathLst>
              <a:path w="5637353" h="2431275">
                <a:moveTo>
                  <a:pt x="106879" y="0"/>
                </a:moveTo>
                <a:lnTo>
                  <a:pt x="5530474" y="0"/>
                </a:lnTo>
                <a:cubicBezTo>
                  <a:pt x="5589502" y="0"/>
                  <a:pt x="5637353" y="47851"/>
                  <a:pt x="5637353" y="106879"/>
                </a:cubicBezTo>
                <a:lnTo>
                  <a:pt x="5637353" y="2324397"/>
                </a:lnTo>
                <a:cubicBezTo>
                  <a:pt x="5637353" y="2383424"/>
                  <a:pt x="5589502" y="2431275"/>
                  <a:pt x="5530474" y="2431275"/>
                </a:cubicBezTo>
                <a:lnTo>
                  <a:pt x="106879" y="2431275"/>
                </a:lnTo>
                <a:cubicBezTo>
                  <a:pt x="47851" y="2431275"/>
                  <a:pt x="0" y="2383424"/>
                  <a:pt x="0" y="2324397"/>
                </a:cubicBezTo>
                <a:lnTo>
                  <a:pt x="0" y="106879"/>
                </a:lnTo>
                <a:cubicBezTo>
                  <a:pt x="0" y="47891"/>
                  <a:pt x="47891" y="0"/>
                  <a:pt x="106879" y="0"/>
                </a:cubicBezTo>
                <a:close/>
              </a:path>
            </a:pathLst>
          </a:custGeom>
          <a:solidFill>
            <a:srgbClr val="1A1D21">
              <a:alpha val="60000"/>
            </a:srgbClr>
          </a:solidFill>
          <a:ln w="12700">
            <a:solidFill>
              <a:srgbClr val="4A6C8C">
                <a:alpha val="30196"/>
              </a:srgbClr>
            </a:solidFill>
            <a:prstDash val="solid"/>
          </a:ln>
        </p:spPr>
      </p:sp>
      <p:sp>
        <p:nvSpPr>
          <p:cNvPr id="9" name="Text 6"/>
          <p:cNvSpPr/>
          <p:nvPr/>
        </p:nvSpPr>
        <p:spPr>
          <a:xfrm>
            <a:off x="6335899" y="1433829"/>
            <a:ext cx="5423614" cy="249362"/>
          </a:xfrm>
          <a:prstGeom prst="rect">
            <a:avLst/>
          </a:prstGeom>
          <a:noFill/>
          <a:ln/>
        </p:spPr>
        <p:txBody>
          <a:bodyPr wrap="square" lIns="0" tIns="0" rIns="0" bIns="0" rtlCol="0" anchor="ctr"/>
          <a:lstStyle/>
          <a:p>
            <a:pPr>
              <a:lnSpc>
                <a:spcPct val="130000"/>
              </a:lnSpc>
            </a:pPr>
            <a:r>
              <a:rPr lang="en-US" sz="1262" b="1" dirty="0">
                <a:solidFill>
                  <a:srgbClr val="EDF2F4"/>
                </a:solidFill>
                <a:latin typeface="Liter" pitchFamily="34" charset="0"/>
                <a:ea typeface="Liter" pitchFamily="34" charset="-122"/>
                <a:cs typeface="Liter" pitchFamily="34" charset="-120"/>
              </a:rPr>
              <a:t>Model Comparison | Model Karşılaştırması</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35899" y="1790060"/>
          <a:ext cx="5343462" cy="1309148"/>
        </p:xfrm>
        <a:graphic>
          <a:graphicData uri="http://schemas.openxmlformats.org/drawingml/2006/table">
            <a:tbl>
              <a:tblPr/>
              <a:tblGrid>
                <a:gridCol w="1478358"/>
                <a:gridCol w="596687"/>
                <a:gridCol w="587781"/>
                <a:gridCol w="587781"/>
                <a:gridCol w="694650"/>
                <a:gridCol w="1398206"/>
              </a:tblGrid>
              <a:tr h="327287">
                <a:tc>
                  <a:txBody>
                    <a:bodyPr/>
                    <a:lstStyle/>
                    <a:p>
                      <a:pPr algn="l"/>
                      <a:r>
                        <a:rPr lang="en-US" sz="900" b="1" u="none" dirty="0">
                          <a:solidFill>
                            <a:srgbClr val="8D99AE"/>
                          </a:solidFill>
                          <a:latin typeface="微软雅黑" pitchFamily="34" charset="0"/>
                          <a:ea typeface="微软雅黑" pitchFamily="34" charset="-122"/>
                          <a:cs typeface="微软雅黑" pitchFamily="34" charset="-120"/>
                        </a:rPr>
                        <a:t>Model</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b="1" u="none" dirty="0">
                          <a:solidFill>
                            <a:srgbClr val="8D99AE"/>
                          </a:solidFill>
                          <a:latin typeface="微软雅黑" pitchFamily="34" charset="0"/>
                          <a:ea typeface="微软雅黑" pitchFamily="34" charset="-122"/>
                          <a:cs typeface="微软雅黑" pitchFamily="34" charset="-120"/>
                        </a:rPr>
                        <a:t>CV R²</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b="1" u="none" dirty="0">
                          <a:solidFill>
                            <a:srgbClr val="8D99AE"/>
                          </a:solidFill>
                          <a:latin typeface="微软雅黑" pitchFamily="34" charset="0"/>
                          <a:ea typeface="微软雅黑" pitchFamily="34" charset="-122"/>
                          <a:cs typeface="微软雅黑" pitchFamily="34" charset="-120"/>
                        </a:rPr>
                        <a:t>Train</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b="1" u="none" dirty="0">
                          <a:solidFill>
                            <a:srgbClr val="8D99AE"/>
                          </a:solidFill>
                          <a:latin typeface="微软雅黑" pitchFamily="34" charset="0"/>
                          <a:ea typeface="微软雅黑" pitchFamily="34" charset="-122"/>
                          <a:cs typeface="微软雅黑" pitchFamily="34" charset="-120"/>
                        </a:rPr>
                        <a:t>Test</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b="1" u="none" dirty="0">
                          <a:solidFill>
                            <a:srgbClr val="8D99AE"/>
                          </a:solidFill>
                          <a:latin typeface="微软雅黑" pitchFamily="34" charset="0"/>
                          <a:ea typeface="微软雅黑" pitchFamily="34" charset="-122"/>
                          <a:cs typeface="微软雅黑" pitchFamily="34" charset="-120"/>
                        </a:rPr>
                        <a:t>Gap</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b="1" u="none" dirty="0">
                          <a:solidFill>
                            <a:srgbClr val="8D99AE"/>
                          </a:solidFill>
                          <a:latin typeface="微软雅黑" pitchFamily="34" charset="0"/>
                          <a:ea typeface="微软雅黑" pitchFamily="34" charset="-122"/>
                          <a:cs typeface="微软雅黑" pitchFamily="34" charset="-120"/>
                        </a:rPr>
                        <a:t>Status</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27287">
                <a:tc>
                  <a:txBody>
                    <a:bodyPr/>
                    <a:lstStyle/>
                    <a:p>
                      <a:r>
                        <a:rPr lang="en-US" sz="900" b="1" u="none" dirty="0">
                          <a:solidFill>
                            <a:srgbClr val="EDF2F4"/>
                          </a:solidFill>
                          <a:latin typeface="微软雅黑" pitchFamily="34" charset="0"/>
                          <a:ea typeface="微软雅黑" pitchFamily="34" charset="-122"/>
                          <a:cs typeface="微软雅黑" pitchFamily="34" charset="-120"/>
                        </a:rPr>
                        <a:t>Ridge ⭐</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900" b="1" u="none" dirty="0">
                          <a:solidFill>
                            <a:srgbClr val="D4A373"/>
                          </a:solidFill>
                          <a:latin typeface="微软雅黑" pitchFamily="34" charset="0"/>
                          <a:ea typeface="微软雅黑" pitchFamily="34" charset="-122"/>
                          <a:cs typeface="微软雅黑" pitchFamily="34" charset="-120"/>
                        </a:rPr>
                        <a:t>0.366</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900" u="none" dirty="0">
                          <a:solidFill>
                            <a:srgbClr val="EDF2F4"/>
                          </a:solidFill>
                          <a:latin typeface="微软雅黑" pitchFamily="34" charset="0"/>
                          <a:ea typeface="微软雅黑" pitchFamily="34" charset="-122"/>
                          <a:cs typeface="微软雅黑" pitchFamily="34" charset="-120"/>
                        </a:rPr>
                        <a:t>0.367</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900" u="none" dirty="0">
                          <a:solidFill>
                            <a:srgbClr val="EDF2F4"/>
                          </a:solidFill>
                          <a:latin typeface="微软雅黑" pitchFamily="34" charset="0"/>
                          <a:ea typeface="微软雅黑" pitchFamily="34" charset="-122"/>
                          <a:cs typeface="微软雅黑" pitchFamily="34" charset="-120"/>
                        </a:rPr>
                        <a:t>0.371</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900" u="none" dirty="0">
                          <a:solidFill>
                            <a:srgbClr val="4A6C8C"/>
                          </a:solidFill>
                          <a:latin typeface="微软雅黑" pitchFamily="34" charset="0"/>
                          <a:ea typeface="微软雅黑" pitchFamily="34" charset="-122"/>
                          <a:cs typeface="微软雅黑" pitchFamily="34" charset="-120"/>
                        </a:rPr>
                        <a:t>-0.005</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0" cap="flat" cmpd="sng" algn="ctr">
                      <a:noFill/>
                    </a:lnB>
                    <a:solidFill>
                      <a:srgbClr val="D4A373">
                        <a:alpha val="20000"/>
                      </a:srgbClr>
                    </a:solidFill>
                  </a:tcPr>
                </a:tc>
                <a:tc>
                  <a:txBody>
                    <a:bodyPr/>
                    <a:lstStyle/>
                    <a:p>
                      <a:pPr algn="ctr"/>
                      <a:r>
                        <a:rPr lang="en-US" sz="900" u="none" dirty="0">
                          <a:solidFill>
                            <a:srgbClr val="4A6C8C"/>
                          </a:solidFill>
                          <a:latin typeface="微软雅黑" pitchFamily="34" charset="0"/>
                          <a:ea typeface="微软雅黑" pitchFamily="34" charset="-122"/>
                          <a:cs typeface="微软雅黑" pitchFamily="34" charset="-120"/>
                        </a:rPr>
                        <a:t>✓ No overfit</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0" cap="flat" cmpd="sng" algn="ctr">
                      <a:noFill/>
                    </a:lnB>
                    <a:solidFill>
                      <a:srgbClr val="D4A373">
                        <a:alpha val="20000"/>
                      </a:srgbClr>
                    </a:solidFill>
                  </a:tcPr>
                </a:tc>
              </a:tr>
              <a:tr h="327287">
                <a:tc>
                  <a:txBody>
                    <a:bodyPr/>
                    <a:lstStyle/>
                    <a:p>
                      <a:r>
                        <a:rPr lang="en-US" sz="900" u="none" dirty="0">
                          <a:solidFill>
                            <a:srgbClr val="EDF2F4"/>
                          </a:solidFill>
                          <a:latin typeface="微软雅黑" pitchFamily="34" charset="0"/>
                          <a:ea typeface="微软雅黑" pitchFamily="34" charset="-122"/>
                          <a:cs typeface="微软雅黑" pitchFamily="34" charset="-120"/>
                        </a:rPr>
                        <a:t>Random Forest</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EDF2F4"/>
                          </a:solidFill>
                          <a:latin typeface="微软雅黑" pitchFamily="34" charset="0"/>
                          <a:ea typeface="微软雅黑" pitchFamily="34" charset="-122"/>
                          <a:cs typeface="微软雅黑" pitchFamily="34" charset="-120"/>
                        </a:rPr>
                        <a:t>0.362</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D4A373"/>
                          </a:solidFill>
                          <a:latin typeface="微软雅黑" pitchFamily="34" charset="0"/>
                          <a:ea typeface="微软雅黑" pitchFamily="34" charset="-122"/>
                          <a:cs typeface="微软雅黑" pitchFamily="34" charset="-120"/>
                        </a:rPr>
                        <a:t>0.496</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EDF2F4"/>
                          </a:solidFill>
                          <a:latin typeface="微软雅黑" pitchFamily="34" charset="0"/>
                          <a:ea typeface="微软雅黑" pitchFamily="34" charset="-122"/>
                          <a:cs typeface="微软雅黑" pitchFamily="34" charset="-120"/>
                        </a:rPr>
                        <a:t>0.364</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b="1" u="none" dirty="0">
                          <a:solidFill>
                            <a:srgbClr val="D4A373"/>
                          </a:solidFill>
                          <a:latin typeface="微软雅黑" pitchFamily="34" charset="0"/>
                          <a:ea typeface="微软雅黑" pitchFamily="34" charset="-122"/>
                          <a:cs typeface="微软雅黑" pitchFamily="34" charset="-120"/>
                        </a:rPr>
                        <a:t>0.132</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FF6467"/>
                          </a:solidFill>
                          <a:latin typeface="微软雅黑" pitchFamily="34" charset="0"/>
                          <a:ea typeface="微软雅黑" pitchFamily="34" charset="-122"/>
                          <a:cs typeface="微软雅黑" pitchFamily="34" charset="-120"/>
                        </a:rPr>
                        <a:t>❌ Overfitting</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27287">
                <a:tc>
                  <a:txBody>
                    <a:bodyPr/>
                    <a:lstStyle/>
                    <a:p>
                      <a:r>
                        <a:rPr lang="en-US" sz="900" u="none" dirty="0">
                          <a:solidFill>
                            <a:srgbClr val="EDF2F4"/>
                          </a:solidFill>
                          <a:latin typeface="微软雅黑" pitchFamily="34" charset="0"/>
                          <a:ea typeface="微软雅黑" pitchFamily="34" charset="-122"/>
                          <a:cs typeface="微软雅黑" pitchFamily="34" charset="-120"/>
                        </a:rPr>
                        <a:t>HGB</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EDF2F4"/>
                          </a:solidFill>
                          <a:latin typeface="微软雅黑" pitchFamily="34" charset="0"/>
                          <a:ea typeface="微软雅黑" pitchFamily="34" charset="-122"/>
                          <a:cs typeface="微软雅黑" pitchFamily="34" charset="-120"/>
                        </a:rPr>
                        <a:t>0.360</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EDF2F4"/>
                          </a:solidFill>
                          <a:latin typeface="微软雅黑" pitchFamily="34" charset="0"/>
                          <a:ea typeface="微软雅黑" pitchFamily="34" charset="-122"/>
                          <a:cs typeface="微软雅黑" pitchFamily="34" charset="-120"/>
                        </a:rPr>
                        <a:t>0.412</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EDF2F4"/>
                          </a:solidFill>
                          <a:latin typeface="微软雅黑" pitchFamily="34" charset="0"/>
                          <a:ea typeface="微软雅黑" pitchFamily="34" charset="-122"/>
                          <a:cs typeface="微软雅黑" pitchFamily="34" charset="-120"/>
                        </a:rPr>
                        <a:t>0.364</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D4A373"/>
                          </a:solidFill>
                          <a:latin typeface="微软雅黑" pitchFamily="34" charset="0"/>
                          <a:ea typeface="微软雅黑" pitchFamily="34" charset="-122"/>
                          <a:cs typeface="微软雅黑" pitchFamily="34" charset="-120"/>
                        </a:rPr>
                        <a:t>0.048</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4A6C8C"/>
                          </a:solidFill>
                          <a:latin typeface="微软雅黑" pitchFamily="34" charset="0"/>
                          <a:ea typeface="微软雅黑" pitchFamily="34" charset="-122"/>
                          <a:cs typeface="微软雅黑" pitchFamily="34" charset="-120"/>
                        </a:rPr>
                        <a:t>✓ No overfit</a:t>
                      </a:r>
                      <a:endParaRPr lang="en-US" sz="900" dirty="0">
                        <a:latin typeface="微软雅黑" charset="0"/>
                        <a:ea typeface="微软雅黑" charset="0"/>
                        <a:cs typeface="微软雅黑" charset="0"/>
                      </a:endParaRPr>
                    </a:p>
                  </a:txBody>
                  <a:tcPr marL="0" marR="0" marT="71246" marB="71246"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bl>
          </a:graphicData>
        </a:graphic>
      </p:graphicFrame>
      <p:sp>
        <p:nvSpPr>
          <p:cNvPr id="11" name="Shape 7"/>
          <p:cNvSpPr/>
          <p:nvPr/>
        </p:nvSpPr>
        <p:spPr>
          <a:xfrm>
            <a:off x="360684" y="3869557"/>
            <a:ext cx="11470633" cy="1469452"/>
          </a:xfrm>
          <a:custGeom>
            <a:avLst/>
            <a:gdLst/>
            <a:ahLst/>
            <a:cxnLst/>
            <a:rect l="l" t="t" r="r" b="b"/>
            <a:pathLst>
              <a:path w="11470633" h="1469452">
                <a:moveTo>
                  <a:pt x="106873" y="0"/>
                </a:moveTo>
                <a:lnTo>
                  <a:pt x="11363759" y="0"/>
                </a:lnTo>
                <a:cubicBezTo>
                  <a:pt x="11422784" y="0"/>
                  <a:pt x="11470633" y="47849"/>
                  <a:pt x="11470633" y="106873"/>
                </a:cubicBezTo>
                <a:lnTo>
                  <a:pt x="11470633" y="1362579"/>
                </a:lnTo>
                <a:cubicBezTo>
                  <a:pt x="11470633" y="1421603"/>
                  <a:pt x="11422784" y="1469452"/>
                  <a:pt x="11363759" y="1469452"/>
                </a:cubicBezTo>
                <a:lnTo>
                  <a:pt x="106873" y="1469452"/>
                </a:lnTo>
                <a:cubicBezTo>
                  <a:pt x="47849" y="1469452"/>
                  <a:pt x="0" y="1421603"/>
                  <a:pt x="0" y="1362579"/>
                </a:cubicBezTo>
                <a:lnTo>
                  <a:pt x="0" y="106873"/>
                </a:lnTo>
                <a:cubicBezTo>
                  <a:pt x="0" y="47888"/>
                  <a:pt x="47888" y="0"/>
                  <a:pt x="106873" y="0"/>
                </a:cubicBezTo>
                <a:close/>
              </a:path>
            </a:pathLst>
          </a:custGeom>
          <a:gradFill rotWithShape="1" flip="none">
            <a:gsLst>
              <a:gs pos="0">
                <a:srgbClr val="D4A373">
                  <a:alpha val="30000"/>
                </a:srgbClr>
              </a:gs>
              <a:gs pos="100000">
                <a:srgbClr val="4A6C8C">
                  <a:alpha val="30000"/>
                </a:srgbClr>
              </a:gs>
            </a:gsLst>
            <a:lin ang="0" scaled="1"/>
          </a:gradFill>
          <a:ln w="12700">
            <a:solidFill>
              <a:srgbClr val="D4A373">
                <a:alpha val="50196"/>
              </a:srgbClr>
            </a:solidFill>
            <a:prstDash val="solid"/>
          </a:ln>
        </p:spPr>
      </p:sp>
      <p:sp>
        <p:nvSpPr>
          <p:cNvPr id="12" name="Shape 8"/>
          <p:cNvSpPr/>
          <p:nvPr/>
        </p:nvSpPr>
        <p:spPr>
          <a:xfrm>
            <a:off x="543252" y="4025408"/>
            <a:ext cx="267173" cy="267173"/>
          </a:xfrm>
          <a:custGeom>
            <a:avLst/>
            <a:gdLst/>
            <a:ahLst/>
            <a:cxnLst/>
            <a:rect l="l" t="t" r="r" b="b"/>
            <a:pathLst>
              <a:path w="267173" h="267173">
                <a:moveTo>
                  <a:pt x="75299" y="0"/>
                </a:moveTo>
                <a:lnTo>
                  <a:pt x="192187" y="0"/>
                </a:lnTo>
                <a:cubicBezTo>
                  <a:pt x="206016" y="0"/>
                  <a:pt x="217287" y="11376"/>
                  <a:pt x="216765" y="25152"/>
                </a:cubicBezTo>
                <a:cubicBezTo>
                  <a:pt x="216661" y="27918"/>
                  <a:pt x="216556" y="30683"/>
                  <a:pt x="216400" y="33397"/>
                </a:cubicBezTo>
                <a:lnTo>
                  <a:pt x="242282" y="33397"/>
                </a:lnTo>
                <a:cubicBezTo>
                  <a:pt x="255902" y="33397"/>
                  <a:pt x="267904" y="44668"/>
                  <a:pt x="266860" y="59383"/>
                </a:cubicBezTo>
                <a:cubicBezTo>
                  <a:pt x="262946" y="113496"/>
                  <a:pt x="235290" y="143240"/>
                  <a:pt x="205285" y="158791"/>
                </a:cubicBezTo>
                <a:cubicBezTo>
                  <a:pt x="197040" y="163070"/>
                  <a:pt x="188639" y="166253"/>
                  <a:pt x="180655" y="168601"/>
                </a:cubicBezTo>
                <a:cubicBezTo>
                  <a:pt x="170114" y="183525"/>
                  <a:pt x="159156" y="191404"/>
                  <a:pt x="150441" y="195631"/>
                </a:cubicBezTo>
                <a:lnTo>
                  <a:pt x="150441" y="233776"/>
                </a:lnTo>
                <a:lnTo>
                  <a:pt x="183838" y="233776"/>
                </a:lnTo>
                <a:cubicBezTo>
                  <a:pt x="193074" y="233776"/>
                  <a:pt x="200536" y="241239"/>
                  <a:pt x="200536" y="250475"/>
                </a:cubicBezTo>
                <a:cubicBezTo>
                  <a:pt x="200536" y="259711"/>
                  <a:pt x="193074" y="267173"/>
                  <a:pt x="183838" y="267173"/>
                </a:cubicBezTo>
                <a:lnTo>
                  <a:pt x="83648" y="267173"/>
                </a:lnTo>
                <a:cubicBezTo>
                  <a:pt x="74412" y="267173"/>
                  <a:pt x="66950" y="259711"/>
                  <a:pt x="66950" y="250475"/>
                </a:cubicBezTo>
                <a:cubicBezTo>
                  <a:pt x="66950" y="241239"/>
                  <a:pt x="74412" y="233776"/>
                  <a:pt x="83648" y="233776"/>
                </a:cubicBezTo>
                <a:lnTo>
                  <a:pt x="117045" y="233776"/>
                </a:lnTo>
                <a:lnTo>
                  <a:pt x="117045" y="195631"/>
                </a:lnTo>
                <a:cubicBezTo>
                  <a:pt x="108696" y="191613"/>
                  <a:pt x="98311" y="184151"/>
                  <a:pt x="88188" y="170427"/>
                </a:cubicBezTo>
                <a:cubicBezTo>
                  <a:pt x="78586" y="167922"/>
                  <a:pt x="68150" y="164113"/>
                  <a:pt x="57974" y="158373"/>
                </a:cubicBezTo>
                <a:cubicBezTo>
                  <a:pt x="29744" y="142562"/>
                  <a:pt x="4279" y="112766"/>
                  <a:pt x="626" y="59279"/>
                </a:cubicBezTo>
                <a:cubicBezTo>
                  <a:pt x="-365" y="44616"/>
                  <a:pt x="11584" y="33344"/>
                  <a:pt x="25204" y="33344"/>
                </a:cubicBezTo>
                <a:lnTo>
                  <a:pt x="51086" y="33344"/>
                </a:lnTo>
                <a:cubicBezTo>
                  <a:pt x="50930" y="30631"/>
                  <a:pt x="50826" y="27918"/>
                  <a:pt x="50721" y="25100"/>
                </a:cubicBezTo>
                <a:cubicBezTo>
                  <a:pt x="50199" y="11271"/>
                  <a:pt x="61471" y="-52"/>
                  <a:pt x="75299" y="-52"/>
                </a:cubicBezTo>
                <a:close/>
                <a:moveTo>
                  <a:pt x="52965" y="58444"/>
                </a:moveTo>
                <a:lnTo>
                  <a:pt x="25621" y="58444"/>
                </a:lnTo>
                <a:cubicBezTo>
                  <a:pt x="28857" y="102642"/>
                  <a:pt x="49156" y="124768"/>
                  <a:pt x="70081" y="136509"/>
                </a:cubicBezTo>
                <a:cubicBezTo>
                  <a:pt x="62567" y="117045"/>
                  <a:pt x="56357" y="91632"/>
                  <a:pt x="52965" y="58444"/>
                </a:cubicBezTo>
                <a:close/>
                <a:moveTo>
                  <a:pt x="198293" y="134004"/>
                </a:moveTo>
                <a:cubicBezTo>
                  <a:pt x="219426" y="121585"/>
                  <a:pt x="238525" y="99512"/>
                  <a:pt x="241760" y="58444"/>
                </a:cubicBezTo>
                <a:lnTo>
                  <a:pt x="214469" y="58444"/>
                </a:lnTo>
                <a:cubicBezTo>
                  <a:pt x="211234" y="90223"/>
                  <a:pt x="205389" y="114905"/>
                  <a:pt x="198293" y="134004"/>
                </a:cubicBezTo>
                <a:close/>
              </a:path>
            </a:pathLst>
          </a:custGeom>
          <a:solidFill>
            <a:srgbClr val="D4A373"/>
          </a:solidFill>
          <a:ln/>
        </p:spPr>
      </p:sp>
      <p:sp>
        <p:nvSpPr>
          <p:cNvPr id="13" name="Text 9"/>
          <p:cNvSpPr/>
          <p:nvPr/>
        </p:nvSpPr>
        <p:spPr>
          <a:xfrm>
            <a:off x="984088" y="4016503"/>
            <a:ext cx="3286229" cy="284985"/>
          </a:xfrm>
          <a:prstGeom prst="rect">
            <a:avLst/>
          </a:prstGeom>
          <a:noFill/>
          <a:ln/>
        </p:spPr>
        <p:txBody>
          <a:bodyPr wrap="square" lIns="0" tIns="0" rIns="0" bIns="0" rtlCol="0" anchor="ctr"/>
          <a:lstStyle/>
          <a:p>
            <a:pPr>
              <a:lnSpc>
                <a:spcPct val="110000"/>
              </a:lnSpc>
            </a:pPr>
            <a:r>
              <a:rPr lang="en-US" sz="1683" b="1" dirty="0">
                <a:solidFill>
                  <a:srgbClr val="EDF2F4"/>
                </a:solidFill>
                <a:latin typeface="Liter" pitchFamily="34" charset="0"/>
                <a:ea typeface="Liter" pitchFamily="34" charset="-122"/>
                <a:cs typeface="Liter" pitchFamily="34" charset="-120"/>
              </a:rPr>
              <a:t>Best Model: Ridge — Final Metrics</a:t>
            </a:r>
            <a:endParaRPr lang="en-US" sz="1600" dirty="0"/>
          </a:p>
        </p:txBody>
      </p:sp>
      <p:sp>
        <p:nvSpPr>
          <p:cNvPr id="14" name="Shape 10"/>
          <p:cNvSpPr/>
          <p:nvPr/>
        </p:nvSpPr>
        <p:spPr>
          <a:xfrm>
            <a:off x="516535" y="4417262"/>
            <a:ext cx="2671731" cy="765896"/>
          </a:xfrm>
          <a:custGeom>
            <a:avLst/>
            <a:gdLst/>
            <a:ahLst/>
            <a:cxnLst/>
            <a:rect l="l" t="t" r="r" b="b"/>
            <a:pathLst>
              <a:path w="2671731" h="765896">
                <a:moveTo>
                  <a:pt x="71244" y="0"/>
                </a:moveTo>
                <a:lnTo>
                  <a:pt x="2600488" y="0"/>
                </a:lnTo>
                <a:cubicBezTo>
                  <a:pt x="2639834" y="0"/>
                  <a:pt x="2671731" y="31897"/>
                  <a:pt x="2671731" y="71244"/>
                </a:cubicBezTo>
                <a:lnTo>
                  <a:pt x="2671731" y="694653"/>
                </a:lnTo>
                <a:cubicBezTo>
                  <a:pt x="2671731" y="733999"/>
                  <a:pt x="2639834" y="765896"/>
                  <a:pt x="2600488" y="765896"/>
                </a:cubicBezTo>
                <a:lnTo>
                  <a:pt x="71244" y="765896"/>
                </a:lnTo>
                <a:cubicBezTo>
                  <a:pt x="31897" y="765896"/>
                  <a:pt x="0" y="733999"/>
                  <a:pt x="0" y="694653"/>
                </a:cubicBezTo>
                <a:lnTo>
                  <a:pt x="0" y="71244"/>
                </a:lnTo>
                <a:cubicBezTo>
                  <a:pt x="0" y="31897"/>
                  <a:pt x="31897" y="0"/>
                  <a:pt x="71244" y="0"/>
                </a:cubicBezTo>
                <a:close/>
              </a:path>
            </a:pathLst>
          </a:custGeom>
          <a:solidFill>
            <a:srgbClr val="1A1D21">
              <a:alpha val="60000"/>
            </a:srgbClr>
          </a:solidFill>
          <a:ln w="25400">
            <a:solidFill>
              <a:srgbClr val="D4A373"/>
            </a:solidFill>
            <a:prstDash val="solid"/>
          </a:ln>
        </p:spPr>
      </p:sp>
      <p:sp>
        <p:nvSpPr>
          <p:cNvPr id="15" name="Text 11"/>
          <p:cNvSpPr/>
          <p:nvPr/>
        </p:nvSpPr>
        <p:spPr>
          <a:xfrm>
            <a:off x="601140" y="4533037"/>
            <a:ext cx="2502522" cy="178115"/>
          </a:xfrm>
          <a:prstGeom prst="rect">
            <a:avLst/>
          </a:prstGeom>
          <a:noFill/>
          <a:ln/>
        </p:spPr>
        <p:txBody>
          <a:bodyPr wrap="square" lIns="0" tIns="0" rIns="0" bIns="0" rtlCol="0" anchor="ctr"/>
          <a:lstStyle/>
          <a:p>
            <a:pPr algn="ctr">
              <a:lnSpc>
                <a:spcPct val="120000"/>
              </a:lnSpc>
            </a:pPr>
            <a:r>
              <a:rPr lang="en-US" sz="982" dirty="0">
                <a:solidFill>
                  <a:srgbClr val="8D99AE"/>
                </a:solidFill>
                <a:latin typeface="Liter" pitchFamily="34" charset="0"/>
                <a:ea typeface="Liter" pitchFamily="34" charset="-122"/>
                <a:cs typeface="Liter" pitchFamily="34" charset="-120"/>
              </a:rPr>
              <a:t>R²</a:t>
            </a:r>
            <a:endParaRPr lang="en-US" sz="1600" dirty="0"/>
          </a:p>
        </p:txBody>
      </p:sp>
      <p:sp>
        <p:nvSpPr>
          <p:cNvPr id="16" name="Text 12"/>
          <p:cNvSpPr/>
          <p:nvPr/>
        </p:nvSpPr>
        <p:spPr>
          <a:xfrm>
            <a:off x="565516" y="4746776"/>
            <a:ext cx="2573768" cy="320608"/>
          </a:xfrm>
          <a:prstGeom prst="rect">
            <a:avLst/>
          </a:prstGeom>
          <a:noFill/>
          <a:ln/>
        </p:spPr>
        <p:txBody>
          <a:bodyPr wrap="square" lIns="0" tIns="0" rIns="0" bIns="0" rtlCol="0" anchor="ctr"/>
          <a:lstStyle/>
          <a:p>
            <a:pPr algn="ctr">
              <a:lnSpc>
                <a:spcPct val="100000"/>
              </a:lnSpc>
            </a:pPr>
            <a:r>
              <a:rPr lang="en-US" sz="2104" b="1" dirty="0">
                <a:solidFill>
                  <a:srgbClr val="D4A373"/>
                </a:solidFill>
                <a:latin typeface="Liter" pitchFamily="34" charset="0"/>
                <a:ea typeface="Liter" pitchFamily="34" charset="-122"/>
                <a:cs typeface="Liter" pitchFamily="34" charset="-120"/>
              </a:rPr>
              <a:t>0.371</a:t>
            </a:r>
            <a:endParaRPr lang="en-US" sz="1600" dirty="0"/>
          </a:p>
        </p:txBody>
      </p:sp>
      <p:sp>
        <p:nvSpPr>
          <p:cNvPr id="17" name="Shape 13"/>
          <p:cNvSpPr/>
          <p:nvPr/>
        </p:nvSpPr>
        <p:spPr>
          <a:xfrm>
            <a:off x="3337159" y="4408356"/>
            <a:ext cx="2689543" cy="783708"/>
          </a:xfrm>
          <a:custGeom>
            <a:avLst/>
            <a:gdLst/>
            <a:ahLst/>
            <a:cxnLst/>
            <a:rect l="l" t="t" r="r" b="b"/>
            <a:pathLst>
              <a:path w="2689543" h="783708">
                <a:moveTo>
                  <a:pt x="71247" y="0"/>
                </a:moveTo>
                <a:lnTo>
                  <a:pt x="2618296" y="0"/>
                </a:lnTo>
                <a:cubicBezTo>
                  <a:pt x="2657644" y="0"/>
                  <a:pt x="2689543" y="31898"/>
                  <a:pt x="2689543" y="71247"/>
                </a:cubicBezTo>
                <a:lnTo>
                  <a:pt x="2689543" y="712461"/>
                </a:lnTo>
                <a:cubicBezTo>
                  <a:pt x="2689543" y="751810"/>
                  <a:pt x="2657644" y="783708"/>
                  <a:pt x="2618296" y="783708"/>
                </a:cubicBezTo>
                <a:lnTo>
                  <a:pt x="71247" y="783708"/>
                </a:lnTo>
                <a:cubicBezTo>
                  <a:pt x="31898" y="783708"/>
                  <a:pt x="0" y="751810"/>
                  <a:pt x="0" y="712461"/>
                </a:cubicBezTo>
                <a:lnTo>
                  <a:pt x="0" y="71247"/>
                </a:lnTo>
                <a:cubicBezTo>
                  <a:pt x="0" y="31925"/>
                  <a:pt x="31925" y="0"/>
                  <a:pt x="71247" y="0"/>
                </a:cubicBezTo>
                <a:close/>
              </a:path>
            </a:pathLst>
          </a:custGeom>
          <a:solidFill>
            <a:srgbClr val="1A1D21">
              <a:alpha val="60000"/>
            </a:srgbClr>
          </a:solidFill>
          <a:ln/>
        </p:spPr>
      </p:sp>
      <p:sp>
        <p:nvSpPr>
          <p:cNvPr id="18" name="Text 14"/>
          <p:cNvSpPr/>
          <p:nvPr/>
        </p:nvSpPr>
        <p:spPr>
          <a:xfrm>
            <a:off x="3412858" y="4515226"/>
            <a:ext cx="2538145" cy="178115"/>
          </a:xfrm>
          <a:prstGeom prst="rect">
            <a:avLst/>
          </a:prstGeom>
          <a:noFill/>
          <a:ln/>
        </p:spPr>
        <p:txBody>
          <a:bodyPr wrap="square" lIns="0" tIns="0" rIns="0" bIns="0" rtlCol="0" anchor="ctr"/>
          <a:lstStyle/>
          <a:p>
            <a:pPr algn="ctr">
              <a:lnSpc>
                <a:spcPct val="120000"/>
              </a:lnSpc>
            </a:pPr>
            <a:r>
              <a:rPr lang="en-US" sz="982" dirty="0">
                <a:solidFill>
                  <a:srgbClr val="8D99AE"/>
                </a:solidFill>
                <a:latin typeface="Liter" pitchFamily="34" charset="0"/>
                <a:ea typeface="Liter" pitchFamily="34" charset="-122"/>
                <a:cs typeface="Liter" pitchFamily="34" charset="-120"/>
              </a:rPr>
              <a:t>RMSE</a:t>
            </a:r>
            <a:endParaRPr lang="en-US" sz="1600" dirty="0"/>
          </a:p>
        </p:txBody>
      </p:sp>
      <p:sp>
        <p:nvSpPr>
          <p:cNvPr id="19" name="Text 15"/>
          <p:cNvSpPr/>
          <p:nvPr/>
        </p:nvSpPr>
        <p:spPr>
          <a:xfrm>
            <a:off x="3390594" y="4728964"/>
            <a:ext cx="2582673" cy="284985"/>
          </a:xfrm>
          <a:prstGeom prst="rect">
            <a:avLst/>
          </a:prstGeom>
          <a:noFill/>
          <a:ln/>
        </p:spPr>
        <p:txBody>
          <a:bodyPr wrap="square" lIns="0" tIns="0" rIns="0" bIns="0" rtlCol="0" anchor="ctr"/>
          <a:lstStyle/>
          <a:p>
            <a:pPr algn="ctr">
              <a:lnSpc>
                <a:spcPct val="110000"/>
              </a:lnSpc>
            </a:pPr>
            <a:r>
              <a:rPr lang="en-US" sz="1683" b="1" dirty="0">
                <a:solidFill>
                  <a:srgbClr val="4A6C8C"/>
                </a:solidFill>
                <a:latin typeface="Liter" pitchFamily="34" charset="0"/>
                <a:ea typeface="Liter" pitchFamily="34" charset="-122"/>
                <a:cs typeface="Liter" pitchFamily="34" charset="-120"/>
              </a:rPr>
              <a:t>707.12</a:t>
            </a:r>
            <a:endParaRPr lang="en-US" sz="1600" dirty="0"/>
          </a:p>
        </p:txBody>
      </p:sp>
      <p:sp>
        <p:nvSpPr>
          <p:cNvPr id="20" name="Shape 16"/>
          <p:cNvSpPr/>
          <p:nvPr/>
        </p:nvSpPr>
        <p:spPr>
          <a:xfrm>
            <a:off x="6166690" y="4408356"/>
            <a:ext cx="2689543" cy="783708"/>
          </a:xfrm>
          <a:custGeom>
            <a:avLst/>
            <a:gdLst/>
            <a:ahLst/>
            <a:cxnLst/>
            <a:rect l="l" t="t" r="r" b="b"/>
            <a:pathLst>
              <a:path w="2689543" h="783708">
                <a:moveTo>
                  <a:pt x="71247" y="0"/>
                </a:moveTo>
                <a:lnTo>
                  <a:pt x="2618296" y="0"/>
                </a:lnTo>
                <a:cubicBezTo>
                  <a:pt x="2657644" y="0"/>
                  <a:pt x="2689543" y="31898"/>
                  <a:pt x="2689543" y="71247"/>
                </a:cubicBezTo>
                <a:lnTo>
                  <a:pt x="2689543" y="712461"/>
                </a:lnTo>
                <a:cubicBezTo>
                  <a:pt x="2689543" y="751810"/>
                  <a:pt x="2657644" y="783708"/>
                  <a:pt x="2618296" y="783708"/>
                </a:cubicBezTo>
                <a:lnTo>
                  <a:pt x="71247" y="783708"/>
                </a:lnTo>
                <a:cubicBezTo>
                  <a:pt x="31898" y="783708"/>
                  <a:pt x="0" y="751810"/>
                  <a:pt x="0" y="712461"/>
                </a:cubicBezTo>
                <a:lnTo>
                  <a:pt x="0" y="71247"/>
                </a:lnTo>
                <a:cubicBezTo>
                  <a:pt x="0" y="31925"/>
                  <a:pt x="31925" y="0"/>
                  <a:pt x="71247" y="0"/>
                </a:cubicBezTo>
                <a:close/>
              </a:path>
            </a:pathLst>
          </a:custGeom>
          <a:solidFill>
            <a:srgbClr val="1A1D21">
              <a:alpha val="60000"/>
            </a:srgbClr>
          </a:solidFill>
          <a:ln/>
        </p:spPr>
      </p:sp>
      <p:sp>
        <p:nvSpPr>
          <p:cNvPr id="21" name="Text 17"/>
          <p:cNvSpPr/>
          <p:nvPr/>
        </p:nvSpPr>
        <p:spPr>
          <a:xfrm>
            <a:off x="6242389" y="4515226"/>
            <a:ext cx="2538145" cy="178115"/>
          </a:xfrm>
          <a:prstGeom prst="rect">
            <a:avLst/>
          </a:prstGeom>
          <a:noFill/>
          <a:ln/>
        </p:spPr>
        <p:txBody>
          <a:bodyPr wrap="square" lIns="0" tIns="0" rIns="0" bIns="0" rtlCol="0" anchor="ctr"/>
          <a:lstStyle/>
          <a:p>
            <a:pPr algn="ctr">
              <a:lnSpc>
                <a:spcPct val="120000"/>
              </a:lnSpc>
            </a:pPr>
            <a:r>
              <a:rPr lang="en-US" sz="982" dirty="0">
                <a:solidFill>
                  <a:srgbClr val="8D99AE"/>
                </a:solidFill>
                <a:latin typeface="Liter" pitchFamily="34" charset="0"/>
                <a:ea typeface="Liter" pitchFamily="34" charset="-122"/>
                <a:cs typeface="Liter" pitchFamily="34" charset="-120"/>
              </a:rPr>
              <a:t>MAE</a:t>
            </a:r>
            <a:endParaRPr lang="en-US" sz="1600" dirty="0"/>
          </a:p>
        </p:txBody>
      </p:sp>
      <p:sp>
        <p:nvSpPr>
          <p:cNvPr id="22" name="Text 18"/>
          <p:cNvSpPr/>
          <p:nvPr/>
        </p:nvSpPr>
        <p:spPr>
          <a:xfrm>
            <a:off x="6220124" y="4728964"/>
            <a:ext cx="2582673" cy="284985"/>
          </a:xfrm>
          <a:prstGeom prst="rect">
            <a:avLst/>
          </a:prstGeom>
          <a:noFill/>
          <a:ln/>
        </p:spPr>
        <p:txBody>
          <a:bodyPr wrap="square" lIns="0" tIns="0" rIns="0" bIns="0" rtlCol="0" anchor="ctr"/>
          <a:lstStyle/>
          <a:p>
            <a:pPr algn="ctr">
              <a:lnSpc>
                <a:spcPct val="110000"/>
              </a:lnSpc>
            </a:pPr>
            <a:r>
              <a:rPr lang="en-US" sz="1683" b="1" dirty="0">
                <a:solidFill>
                  <a:srgbClr val="4A6C8C"/>
                </a:solidFill>
                <a:latin typeface="Liter" pitchFamily="34" charset="0"/>
                <a:ea typeface="Liter" pitchFamily="34" charset="-122"/>
                <a:cs typeface="Liter" pitchFamily="34" charset="-120"/>
              </a:rPr>
              <a:t>523.89</a:t>
            </a:r>
            <a:endParaRPr lang="en-US" sz="1600" dirty="0"/>
          </a:p>
        </p:txBody>
      </p:sp>
      <p:sp>
        <p:nvSpPr>
          <p:cNvPr id="23" name="Shape 19"/>
          <p:cNvSpPr/>
          <p:nvPr/>
        </p:nvSpPr>
        <p:spPr>
          <a:xfrm>
            <a:off x="8996220" y="4408356"/>
            <a:ext cx="2689543" cy="783708"/>
          </a:xfrm>
          <a:custGeom>
            <a:avLst/>
            <a:gdLst/>
            <a:ahLst/>
            <a:cxnLst/>
            <a:rect l="l" t="t" r="r" b="b"/>
            <a:pathLst>
              <a:path w="2689543" h="783708">
                <a:moveTo>
                  <a:pt x="71247" y="0"/>
                </a:moveTo>
                <a:lnTo>
                  <a:pt x="2618296" y="0"/>
                </a:lnTo>
                <a:cubicBezTo>
                  <a:pt x="2657644" y="0"/>
                  <a:pt x="2689543" y="31898"/>
                  <a:pt x="2689543" y="71247"/>
                </a:cubicBezTo>
                <a:lnTo>
                  <a:pt x="2689543" y="712461"/>
                </a:lnTo>
                <a:cubicBezTo>
                  <a:pt x="2689543" y="751810"/>
                  <a:pt x="2657644" y="783708"/>
                  <a:pt x="2618296" y="783708"/>
                </a:cubicBezTo>
                <a:lnTo>
                  <a:pt x="71247" y="783708"/>
                </a:lnTo>
                <a:cubicBezTo>
                  <a:pt x="31898" y="783708"/>
                  <a:pt x="0" y="751810"/>
                  <a:pt x="0" y="712461"/>
                </a:cubicBezTo>
                <a:lnTo>
                  <a:pt x="0" y="71247"/>
                </a:lnTo>
                <a:cubicBezTo>
                  <a:pt x="0" y="31925"/>
                  <a:pt x="31925" y="0"/>
                  <a:pt x="71247" y="0"/>
                </a:cubicBezTo>
                <a:close/>
              </a:path>
            </a:pathLst>
          </a:custGeom>
          <a:solidFill>
            <a:srgbClr val="1A1D21">
              <a:alpha val="60000"/>
            </a:srgbClr>
          </a:solidFill>
          <a:ln/>
        </p:spPr>
      </p:sp>
      <p:sp>
        <p:nvSpPr>
          <p:cNvPr id="24" name="Text 20"/>
          <p:cNvSpPr/>
          <p:nvPr/>
        </p:nvSpPr>
        <p:spPr>
          <a:xfrm>
            <a:off x="9071919" y="4515226"/>
            <a:ext cx="2538145" cy="178115"/>
          </a:xfrm>
          <a:prstGeom prst="rect">
            <a:avLst/>
          </a:prstGeom>
          <a:noFill/>
          <a:ln/>
        </p:spPr>
        <p:txBody>
          <a:bodyPr wrap="square" lIns="0" tIns="0" rIns="0" bIns="0" rtlCol="0" anchor="ctr"/>
          <a:lstStyle/>
          <a:p>
            <a:pPr algn="ctr">
              <a:lnSpc>
                <a:spcPct val="120000"/>
              </a:lnSpc>
            </a:pPr>
            <a:r>
              <a:rPr lang="en-US" sz="982" dirty="0">
                <a:solidFill>
                  <a:srgbClr val="8D99AE"/>
                </a:solidFill>
                <a:latin typeface="Liter" pitchFamily="34" charset="0"/>
                <a:ea typeface="Liter" pitchFamily="34" charset="-122"/>
                <a:cs typeface="Liter" pitchFamily="34" charset="-120"/>
              </a:rPr>
              <a:t>Explanation | Açıklama</a:t>
            </a:r>
            <a:endParaRPr lang="en-US" sz="1600" dirty="0"/>
          </a:p>
        </p:txBody>
      </p:sp>
      <p:sp>
        <p:nvSpPr>
          <p:cNvPr id="25" name="Text 21"/>
          <p:cNvSpPr/>
          <p:nvPr/>
        </p:nvSpPr>
        <p:spPr>
          <a:xfrm>
            <a:off x="9058560" y="4728964"/>
            <a:ext cx="2564862" cy="249362"/>
          </a:xfrm>
          <a:prstGeom prst="rect">
            <a:avLst/>
          </a:prstGeom>
          <a:noFill/>
          <a:ln/>
        </p:spPr>
        <p:txBody>
          <a:bodyPr wrap="square" lIns="0" tIns="0" rIns="0" bIns="0" rtlCol="0" anchor="ctr"/>
          <a:lstStyle/>
          <a:p>
            <a:pPr algn="ctr">
              <a:lnSpc>
                <a:spcPct val="120000"/>
              </a:lnSpc>
            </a:pPr>
            <a:r>
              <a:rPr lang="en-US" sz="1402" b="1" dirty="0">
                <a:solidFill>
                  <a:srgbClr val="D4A373"/>
                </a:solidFill>
                <a:latin typeface="Liter" pitchFamily="34" charset="0"/>
                <a:ea typeface="Liter" pitchFamily="34" charset="-122"/>
                <a:cs typeface="Liter" pitchFamily="34" charset="-120"/>
              </a:rPr>
              <a:t>~37%</a:t>
            </a:r>
            <a:endParaRPr lang="en-US" sz="1600" dirty="0"/>
          </a:p>
        </p:txBody>
      </p:sp>
      <p:sp>
        <p:nvSpPr>
          <p:cNvPr id="26" name="Shape 22"/>
          <p:cNvSpPr/>
          <p:nvPr/>
        </p:nvSpPr>
        <p:spPr>
          <a:xfrm>
            <a:off x="360684" y="5490408"/>
            <a:ext cx="5637353" cy="1362583"/>
          </a:xfrm>
          <a:custGeom>
            <a:avLst/>
            <a:gdLst/>
            <a:ahLst/>
            <a:cxnLst/>
            <a:rect l="l" t="t" r="r" b="b"/>
            <a:pathLst>
              <a:path w="5637353" h="1362583">
                <a:moveTo>
                  <a:pt x="71249" y="0"/>
                </a:moveTo>
                <a:lnTo>
                  <a:pt x="5566103" y="0"/>
                </a:lnTo>
                <a:cubicBezTo>
                  <a:pt x="5605453" y="0"/>
                  <a:pt x="5637353" y="31899"/>
                  <a:pt x="5637353" y="71249"/>
                </a:cubicBezTo>
                <a:lnTo>
                  <a:pt x="5637353" y="1291333"/>
                </a:lnTo>
                <a:cubicBezTo>
                  <a:pt x="5637353" y="1330683"/>
                  <a:pt x="5605453" y="1362583"/>
                  <a:pt x="5566103" y="1362583"/>
                </a:cubicBezTo>
                <a:lnTo>
                  <a:pt x="71249" y="1362583"/>
                </a:lnTo>
                <a:cubicBezTo>
                  <a:pt x="31899" y="1362583"/>
                  <a:pt x="0" y="1330683"/>
                  <a:pt x="0" y="1291333"/>
                </a:cubicBezTo>
                <a:lnTo>
                  <a:pt x="0" y="71249"/>
                </a:lnTo>
                <a:cubicBezTo>
                  <a:pt x="0" y="31926"/>
                  <a:pt x="31926" y="0"/>
                  <a:pt x="71249" y="0"/>
                </a:cubicBezTo>
                <a:close/>
              </a:path>
            </a:pathLst>
          </a:custGeom>
          <a:solidFill>
            <a:srgbClr val="4A6C8C">
              <a:alpha val="10196"/>
            </a:srgbClr>
          </a:solidFill>
          <a:ln w="12700">
            <a:solidFill>
              <a:srgbClr val="4A6C8C">
                <a:alpha val="30196"/>
              </a:srgbClr>
            </a:solidFill>
            <a:prstDash val="solid"/>
          </a:ln>
        </p:spPr>
      </p:sp>
      <p:sp>
        <p:nvSpPr>
          <p:cNvPr id="27" name="Text 23"/>
          <p:cNvSpPr/>
          <p:nvPr/>
        </p:nvSpPr>
        <p:spPr>
          <a:xfrm>
            <a:off x="507629" y="5637353"/>
            <a:ext cx="5414709" cy="1068692"/>
          </a:xfrm>
          <a:prstGeom prst="rect">
            <a:avLst/>
          </a:prstGeom>
          <a:noFill/>
          <a:ln/>
        </p:spPr>
        <p:txBody>
          <a:bodyPr wrap="square" lIns="0" tIns="0" rIns="0" bIns="0" rtlCol="0" anchor="ctr"/>
          <a:lstStyle/>
          <a:p>
            <a:pPr>
              <a:lnSpc>
                <a:spcPct val="130000"/>
              </a:lnSpc>
            </a:pPr>
            <a:r>
              <a:rPr lang="en-US" sz="1122" b="1" dirty="0">
                <a:solidFill>
                  <a:srgbClr val="EDF2F4"/>
                </a:solidFill>
                <a:latin typeface="Liter" pitchFamily="34" charset="0"/>
                <a:ea typeface="Liter" pitchFamily="34" charset="-122"/>
                <a:cs typeface="Liter" pitchFamily="34" charset="-120"/>
              </a:rPr>
              <a:t>Result:</a:t>
            </a:r>
            <a:pPr>
              <a:lnSpc>
                <a:spcPct val="130000"/>
              </a:lnSpc>
            </a:pPr>
            <a:r>
              <a:rPr lang="en-US" sz="1122" dirty="0">
                <a:solidFill>
                  <a:srgbClr val="EDF2F4"/>
                </a:solidFill>
                <a:latin typeface="Liter" pitchFamily="34" charset="0"/>
                <a:ea typeface="Liter" pitchFamily="34" charset="-122"/>
                <a:cs typeface="Liter" pitchFamily="34" charset="-120"/>
              </a:rPr>
              <a:t> R² = 0.37 means the model explains approximately 37% of Lifetime Value variance. This may seem low, but we must say — how much revenue a customer will generate cannot be predicted solely from behavioral data. Information like which products they bought, seasonality, economic factors is not in this dataset. This result is consistent with what we have.</a:t>
            </a:r>
            <a:endParaRPr lang="en-US" sz="1600" dirty="0"/>
          </a:p>
        </p:txBody>
      </p:sp>
      <p:sp>
        <p:nvSpPr>
          <p:cNvPr id="28" name="Shape 24"/>
          <p:cNvSpPr/>
          <p:nvPr/>
        </p:nvSpPr>
        <p:spPr>
          <a:xfrm>
            <a:off x="6188954" y="5490408"/>
            <a:ext cx="5637353" cy="1362583"/>
          </a:xfrm>
          <a:custGeom>
            <a:avLst/>
            <a:gdLst/>
            <a:ahLst/>
            <a:cxnLst/>
            <a:rect l="l" t="t" r="r" b="b"/>
            <a:pathLst>
              <a:path w="5637353" h="1362583">
                <a:moveTo>
                  <a:pt x="71249" y="0"/>
                </a:moveTo>
                <a:lnTo>
                  <a:pt x="5566103" y="0"/>
                </a:lnTo>
                <a:cubicBezTo>
                  <a:pt x="5605453" y="0"/>
                  <a:pt x="5637353" y="31899"/>
                  <a:pt x="5637353" y="71249"/>
                </a:cubicBezTo>
                <a:lnTo>
                  <a:pt x="5637353" y="1291333"/>
                </a:lnTo>
                <a:cubicBezTo>
                  <a:pt x="5637353" y="1330683"/>
                  <a:pt x="5605453" y="1362583"/>
                  <a:pt x="5566103" y="1362583"/>
                </a:cubicBezTo>
                <a:lnTo>
                  <a:pt x="71249" y="1362583"/>
                </a:lnTo>
                <a:cubicBezTo>
                  <a:pt x="31899" y="1362583"/>
                  <a:pt x="0" y="1330683"/>
                  <a:pt x="0" y="1291333"/>
                </a:cubicBezTo>
                <a:lnTo>
                  <a:pt x="0" y="71249"/>
                </a:lnTo>
                <a:cubicBezTo>
                  <a:pt x="0" y="31926"/>
                  <a:pt x="31926" y="0"/>
                  <a:pt x="71249" y="0"/>
                </a:cubicBezTo>
                <a:close/>
              </a:path>
            </a:pathLst>
          </a:custGeom>
          <a:solidFill>
            <a:srgbClr val="4A6C8C">
              <a:alpha val="10196"/>
            </a:srgbClr>
          </a:solidFill>
          <a:ln w="12700">
            <a:solidFill>
              <a:srgbClr val="4A6C8C">
                <a:alpha val="30196"/>
              </a:srgbClr>
            </a:solidFill>
            <a:prstDash val="solid"/>
          </a:ln>
        </p:spPr>
      </p:sp>
      <p:sp>
        <p:nvSpPr>
          <p:cNvPr id="29" name="Text 25"/>
          <p:cNvSpPr/>
          <p:nvPr/>
        </p:nvSpPr>
        <p:spPr>
          <a:xfrm>
            <a:off x="6335899" y="5637353"/>
            <a:ext cx="5414709" cy="1068692"/>
          </a:xfrm>
          <a:prstGeom prst="rect">
            <a:avLst/>
          </a:prstGeom>
          <a:noFill/>
          <a:ln/>
        </p:spPr>
        <p:txBody>
          <a:bodyPr wrap="square" lIns="0" tIns="0" rIns="0" bIns="0" rtlCol="0" anchor="ctr"/>
          <a:lstStyle/>
          <a:p>
            <a:pPr>
              <a:lnSpc>
                <a:spcPct val="130000"/>
              </a:lnSpc>
            </a:pPr>
            <a:r>
              <a:rPr lang="en-US" sz="1122" b="1" dirty="0">
                <a:solidFill>
                  <a:srgbClr val="EDF2F4"/>
                </a:solidFill>
                <a:latin typeface="Liter" pitchFamily="34" charset="0"/>
                <a:ea typeface="Liter" pitchFamily="34" charset="-122"/>
                <a:cs typeface="Liter" pitchFamily="34" charset="-120"/>
              </a:rPr>
              <a:t>Sonuç:</a:t>
            </a:r>
            <a:pPr>
              <a:lnSpc>
                <a:spcPct val="130000"/>
              </a:lnSpc>
            </a:pPr>
            <a:r>
              <a:rPr lang="en-US" sz="1122" dirty="0">
                <a:solidFill>
                  <a:srgbClr val="EDF2F4"/>
                </a:solidFill>
                <a:latin typeface="Liter" pitchFamily="34" charset="0"/>
                <a:ea typeface="Liter" pitchFamily="34" charset="-122"/>
                <a:cs typeface="Liter" pitchFamily="34" charset="-120"/>
              </a:rPr>
              <a:t> R² = 0.37, yani model Lifetime Value'nun yaklaşık %37'sini açıklayabiliyor. Bu düşük görünebilir ama şunu söylemek lazım — bir müşterinin şirkete ne kadar para kazandıracağı sadece davranış verisine bakarak tahmin edilemez. Hangi ürünleri aldığı, mevsimsellik, ekonomik faktörler gibi bilgiler bu veri setinde yok. Elimizdekilerle bu sonuç tutarlı.</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36099" y="336099"/>
            <a:ext cx="67220" cy="403319"/>
          </a:xfrm>
          <a:custGeom>
            <a:avLst/>
            <a:gdLst/>
            <a:ahLst/>
            <a:cxnLst/>
            <a:rect l="l" t="t" r="r" b="b"/>
            <a:pathLst>
              <a:path w="67220" h="403319">
                <a:moveTo>
                  <a:pt x="0" y="0"/>
                </a:moveTo>
                <a:lnTo>
                  <a:pt x="67220" y="0"/>
                </a:lnTo>
                <a:lnTo>
                  <a:pt x="67220" y="403319"/>
                </a:lnTo>
                <a:lnTo>
                  <a:pt x="0" y="403319"/>
                </a:lnTo>
                <a:lnTo>
                  <a:pt x="0" y="0"/>
                </a:lnTo>
                <a:close/>
              </a:path>
            </a:pathLst>
          </a:custGeom>
          <a:solidFill>
            <a:srgbClr val="D4A373"/>
          </a:solidFill>
          <a:ln/>
        </p:spPr>
      </p:sp>
      <p:sp>
        <p:nvSpPr>
          <p:cNvPr id="3" name="Text 1"/>
          <p:cNvSpPr/>
          <p:nvPr/>
        </p:nvSpPr>
        <p:spPr>
          <a:xfrm>
            <a:off x="504149" y="369709"/>
            <a:ext cx="3671884" cy="336099"/>
          </a:xfrm>
          <a:prstGeom prst="rect">
            <a:avLst/>
          </a:prstGeom>
          <a:noFill/>
          <a:ln/>
        </p:spPr>
        <p:txBody>
          <a:bodyPr wrap="square" lIns="0" tIns="0" rIns="0" bIns="0" rtlCol="0" anchor="ctr"/>
          <a:lstStyle/>
          <a:p>
            <a:pPr>
              <a:lnSpc>
                <a:spcPct val="90000"/>
              </a:lnSpc>
            </a:pPr>
            <a:r>
              <a:rPr lang="en-US" sz="2382" b="1" dirty="0">
                <a:solidFill>
                  <a:srgbClr val="EDF2F4"/>
                </a:solidFill>
                <a:latin typeface="Liter" pitchFamily="34" charset="0"/>
                <a:ea typeface="Liter" pitchFamily="34" charset="-122"/>
                <a:cs typeface="Liter" pitchFamily="34" charset="-120"/>
              </a:rPr>
              <a:t>Random Forest Overfitting</a:t>
            </a:r>
            <a:endParaRPr lang="en-US" sz="1600" dirty="0"/>
          </a:p>
        </p:txBody>
      </p:sp>
      <p:sp>
        <p:nvSpPr>
          <p:cNvPr id="4" name="Text 2"/>
          <p:cNvSpPr/>
          <p:nvPr/>
        </p:nvSpPr>
        <p:spPr>
          <a:xfrm>
            <a:off x="504149" y="806638"/>
            <a:ext cx="11452582" cy="268879"/>
          </a:xfrm>
          <a:prstGeom prst="rect">
            <a:avLst/>
          </a:prstGeom>
          <a:noFill/>
          <a:ln/>
        </p:spPr>
        <p:txBody>
          <a:bodyPr wrap="square" lIns="0" tIns="0" rIns="0" bIns="0" rtlCol="0" anchor="ctr"/>
          <a:lstStyle/>
          <a:p>
            <a:pPr>
              <a:lnSpc>
                <a:spcPct val="110000"/>
              </a:lnSpc>
            </a:pPr>
            <a:r>
              <a:rPr lang="en-US" sz="1588" dirty="0">
                <a:solidFill>
                  <a:srgbClr val="8D99AE"/>
                </a:solidFill>
                <a:latin typeface="Liter" pitchFamily="34" charset="0"/>
                <a:ea typeface="Liter" pitchFamily="34" charset="-122"/>
                <a:cs typeface="Liter" pitchFamily="34" charset="-120"/>
              </a:rPr>
              <a:t>Random Forest Aşırı Öğrenme</a:t>
            </a:r>
            <a:endParaRPr lang="en-US" sz="1600" dirty="0"/>
          </a:p>
        </p:txBody>
      </p:sp>
      <p:sp>
        <p:nvSpPr>
          <p:cNvPr id="5" name="Shape 3"/>
          <p:cNvSpPr/>
          <p:nvPr/>
        </p:nvSpPr>
        <p:spPr>
          <a:xfrm>
            <a:off x="340300" y="1214159"/>
            <a:ext cx="11511399" cy="1991388"/>
          </a:xfrm>
          <a:custGeom>
            <a:avLst/>
            <a:gdLst/>
            <a:ahLst/>
            <a:cxnLst/>
            <a:rect l="l" t="t" r="r" b="b"/>
            <a:pathLst>
              <a:path w="11511399" h="1991388">
                <a:moveTo>
                  <a:pt x="100824" y="0"/>
                </a:moveTo>
                <a:lnTo>
                  <a:pt x="11410575" y="0"/>
                </a:lnTo>
                <a:cubicBezTo>
                  <a:pt x="11466259" y="0"/>
                  <a:pt x="11511399" y="45140"/>
                  <a:pt x="11511399" y="100824"/>
                </a:cubicBezTo>
                <a:lnTo>
                  <a:pt x="11511399" y="1890564"/>
                </a:lnTo>
                <a:cubicBezTo>
                  <a:pt x="11511399" y="1946248"/>
                  <a:pt x="11466259" y="1991388"/>
                  <a:pt x="11410575" y="1991388"/>
                </a:cubicBezTo>
                <a:lnTo>
                  <a:pt x="100824" y="1991388"/>
                </a:lnTo>
                <a:cubicBezTo>
                  <a:pt x="45140" y="1991388"/>
                  <a:pt x="0" y="1946248"/>
                  <a:pt x="0" y="1890564"/>
                </a:cubicBezTo>
                <a:lnTo>
                  <a:pt x="0" y="100824"/>
                </a:lnTo>
                <a:cubicBezTo>
                  <a:pt x="0" y="45140"/>
                  <a:pt x="45140" y="0"/>
                  <a:pt x="100824" y="0"/>
                </a:cubicBezTo>
                <a:close/>
              </a:path>
            </a:pathLst>
          </a:custGeom>
          <a:gradFill rotWithShape="1" flip="none">
            <a:gsLst>
              <a:gs pos="0">
                <a:srgbClr val="82181A">
                  <a:alpha val="30000"/>
                </a:srgbClr>
              </a:gs>
              <a:gs pos="100000">
                <a:srgbClr val="1A1D21">
                  <a:alpha val="40000"/>
                </a:srgbClr>
              </a:gs>
            </a:gsLst>
            <a:lin ang="2700000" scaled="1"/>
          </a:gradFill>
          <a:ln w="12700">
            <a:solidFill>
              <a:srgbClr val="FB2C36">
                <a:alpha val="50196"/>
              </a:srgbClr>
            </a:solidFill>
            <a:prstDash val="solid"/>
          </a:ln>
        </p:spPr>
      </p:sp>
      <p:sp>
        <p:nvSpPr>
          <p:cNvPr id="6" name="Shape 4"/>
          <p:cNvSpPr/>
          <p:nvPr/>
        </p:nvSpPr>
        <p:spPr>
          <a:xfrm>
            <a:off x="512551" y="1386409"/>
            <a:ext cx="672198" cy="672198"/>
          </a:xfrm>
          <a:custGeom>
            <a:avLst/>
            <a:gdLst/>
            <a:ahLst/>
            <a:cxnLst/>
            <a:rect l="l" t="t" r="r" b="b"/>
            <a:pathLst>
              <a:path w="672198" h="672198">
                <a:moveTo>
                  <a:pt x="336099" y="0"/>
                </a:moveTo>
                <a:lnTo>
                  <a:pt x="336099" y="0"/>
                </a:lnTo>
                <a:cubicBezTo>
                  <a:pt x="521597" y="0"/>
                  <a:pt x="672198" y="150601"/>
                  <a:pt x="672198" y="336099"/>
                </a:cubicBezTo>
                <a:lnTo>
                  <a:pt x="672198" y="336099"/>
                </a:lnTo>
                <a:cubicBezTo>
                  <a:pt x="672198" y="521597"/>
                  <a:pt x="521597" y="672198"/>
                  <a:pt x="336099" y="672198"/>
                </a:cubicBezTo>
                <a:lnTo>
                  <a:pt x="336099" y="672198"/>
                </a:lnTo>
                <a:cubicBezTo>
                  <a:pt x="150601" y="672198"/>
                  <a:pt x="0" y="521597"/>
                  <a:pt x="0" y="336099"/>
                </a:cubicBezTo>
                <a:lnTo>
                  <a:pt x="0" y="336099"/>
                </a:lnTo>
                <a:cubicBezTo>
                  <a:pt x="0" y="150601"/>
                  <a:pt x="150601" y="0"/>
                  <a:pt x="336099" y="0"/>
                </a:cubicBezTo>
                <a:close/>
              </a:path>
            </a:pathLst>
          </a:custGeom>
          <a:solidFill>
            <a:srgbClr val="FB2C36">
              <a:alpha val="20000"/>
            </a:srgbClr>
          </a:solidFill>
          <a:ln/>
        </p:spPr>
      </p:sp>
      <p:sp>
        <p:nvSpPr>
          <p:cNvPr id="7" name="Shape 5"/>
          <p:cNvSpPr/>
          <p:nvPr/>
        </p:nvSpPr>
        <p:spPr>
          <a:xfrm>
            <a:off x="697406" y="1571264"/>
            <a:ext cx="302489" cy="302489"/>
          </a:xfrm>
          <a:custGeom>
            <a:avLst/>
            <a:gdLst/>
            <a:ahLst/>
            <a:cxnLst/>
            <a:rect l="l" t="t" r="r" b="b"/>
            <a:pathLst>
              <a:path w="302489" h="302489">
                <a:moveTo>
                  <a:pt x="151245" y="0"/>
                </a:moveTo>
                <a:cubicBezTo>
                  <a:pt x="159929" y="0"/>
                  <a:pt x="167905" y="4785"/>
                  <a:pt x="172041" y="12407"/>
                </a:cubicBezTo>
                <a:lnTo>
                  <a:pt x="299653" y="248727"/>
                </a:lnTo>
                <a:cubicBezTo>
                  <a:pt x="303612" y="256052"/>
                  <a:pt x="303435" y="264914"/>
                  <a:pt x="299181" y="272063"/>
                </a:cubicBezTo>
                <a:cubicBezTo>
                  <a:pt x="294927" y="279212"/>
                  <a:pt x="287188" y="283584"/>
                  <a:pt x="278857" y="283584"/>
                </a:cubicBezTo>
                <a:lnTo>
                  <a:pt x="23632" y="283584"/>
                </a:lnTo>
                <a:cubicBezTo>
                  <a:pt x="15302" y="283584"/>
                  <a:pt x="7621" y="279212"/>
                  <a:pt x="3308" y="272063"/>
                </a:cubicBezTo>
                <a:cubicBezTo>
                  <a:pt x="-1004" y="264914"/>
                  <a:pt x="-1123" y="256052"/>
                  <a:pt x="2836" y="248727"/>
                </a:cubicBezTo>
                <a:lnTo>
                  <a:pt x="130449" y="12407"/>
                </a:lnTo>
                <a:cubicBezTo>
                  <a:pt x="134584" y="4785"/>
                  <a:pt x="142560" y="0"/>
                  <a:pt x="151245" y="0"/>
                </a:cubicBezTo>
                <a:close/>
                <a:moveTo>
                  <a:pt x="151245" y="99254"/>
                </a:moveTo>
                <a:cubicBezTo>
                  <a:pt x="143387" y="99254"/>
                  <a:pt x="137065" y="105576"/>
                  <a:pt x="137065" y="113433"/>
                </a:cubicBezTo>
                <a:lnTo>
                  <a:pt x="137065" y="179603"/>
                </a:lnTo>
                <a:cubicBezTo>
                  <a:pt x="137065" y="187461"/>
                  <a:pt x="143387" y="193782"/>
                  <a:pt x="151245" y="193782"/>
                </a:cubicBezTo>
                <a:cubicBezTo>
                  <a:pt x="159102" y="193782"/>
                  <a:pt x="165424" y="187461"/>
                  <a:pt x="165424" y="179603"/>
                </a:cubicBezTo>
                <a:lnTo>
                  <a:pt x="165424" y="113433"/>
                </a:lnTo>
                <a:cubicBezTo>
                  <a:pt x="165424" y="105576"/>
                  <a:pt x="159102" y="99254"/>
                  <a:pt x="151245" y="99254"/>
                </a:cubicBezTo>
                <a:close/>
                <a:moveTo>
                  <a:pt x="167019" y="226867"/>
                </a:moveTo>
                <a:cubicBezTo>
                  <a:pt x="167378" y="221012"/>
                  <a:pt x="164458" y="215441"/>
                  <a:pt x="159438" y="212405"/>
                </a:cubicBezTo>
                <a:cubicBezTo>
                  <a:pt x="154419" y="209369"/>
                  <a:pt x="148129" y="209369"/>
                  <a:pt x="143110" y="212405"/>
                </a:cubicBezTo>
                <a:cubicBezTo>
                  <a:pt x="138091" y="215441"/>
                  <a:pt x="135171" y="221012"/>
                  <a:pt x="135529" y="226867"/>
                </a:cubicBezTo>
                <a:cubicBezTo>
                  <a:pt x="135171" y="232722"/>
                  <a:pt x="138091" y="238293"/>
                  <a:pt x="143110" y="241329"/>
                </a:cubicBezTo>
                <a:cubicBezTo>
                  <a:pt x="148129" y="244365"/>
                  <a:pt x="154419" y="244365"/>
                  <a:pt x="159438" y="241329"/>
                </a:cubicBezTo>
                <a:cubicBezTo>
                  <a:pt x="164458" y="238293"/>
                  <a:pt x="167378" y="232722"/>
                  <a:pt x="167019" y="226867"/>
                </a:cubicBezTo>
                <a:close/>
              </a:path>
            </a:pathLst>
          </a:custGeom>
          <a:solidFill>
            <a:srgbClr val="FF6467"/>
          </a:solidFill>
          <a:ln/>
        </p:spPr>
      </p:sp>
      <p:sp>
        <p:nvSpPr>
          <p:cNvPr id="8" name="Text 6"/>
          <p:cNvSpPr/>
          <p:nvPr/>
        </p:nvSpPr>
        <p:spPr>
          <a:xfrm>
            <a:off x="1352799" y="1386409"/>
            <a:ext cx="5175928" cy="268879"/>
          </a:xfrm>
          <a:prstGeom prst="rect">
            <a:avLst/>
          </a:prstGeom>
          <a:noFill/>
          <a:ln/>
        </p:spPr>
        <p:txBody>
          <a:bodyPr wrap="square" lIns="0" tIns="0" rIns="0" bIns="0" rtlCol="0" anchor="ctr"/>
          <a:lstStyle/>
          <a:p>
            <a:pPr>
              <a:lnSpc>
                <a:spcPct val="110000"/>
              </a:lnSpc>
            </a:pPr>
            <a:r>
              <a:rPr lang="en-US" sz="1588" b="1" dirty="0">
                <a:solidFill>
                  <a:srgbClr val="EDF2F4"/>
                </a:solidFill>
                <a:latin typeface="Liter" pitchFamily="34" charset="0"/>
                <a:ea typeface="Liter" pitchFamily="34" charset="-122"/>
                <a:cs typeface="Liter" pitchFamily="34" charset="-120"/>
              </a:rPr>
              <a:t>The Problem | Sorun</a:t>
            </a:r>
            <a:endParaRPr lang="en-US" sz="1600" dirty="0"/>
          </a:p>
        </p:txBody>
      </p:sp>
      <p:sp>
        <p:nvSpPr>
          <p:cNvPr id="9" name="Text 7"/>
          <p:cNvSpPr/>
          <p:nvPr/>
        </p:nvSpPr>
        <p:spPr>
          <a:xfrm>
            <a:off x="1352799" y="1756119"/>
            <a:ext cx="5150721" cy="495746"/>
          </a:xfrm>
          <a:prstGeom prst="rect">
            <a:avLst/>
          </a:prstGeom>
          <a:noFill/>
          <a:ln/>
        </p:spPr>
        <p:txBody>
          <a:bodyPr wrap="square" lIns="0" tIns="0" rIns="0" bIns="0" rtlCol="0" anchor="ctr"/>
          <a:lstStyle/>
          <a:p>
            <a:pPr>
              <a:lnSpc>
                <a:spcPct val="140000"/>
              </a:lnSpc>
            </a:pPr>
            <a:r>
              <a:rPr lang="en-US" sz="1191" dirty="0">
                <a:solidFill>
                  <a:srgbClr val="EDF2F4"/>
                </a:solidFill>
                <a:latin typeface="Liter" pitchFamily="34" charset="0"/>
                <a:ea typeface="Liter" pitchFamily="34" charset="-122"/>
                <a:cs typeface="Liter" pitchFamily="34" charset="-120"/>
              </a:rPr>
              <a:t>In regression, Random Forest learned the training data very well but performed poorly on test data. It failed to generalize to real-world data.</a:t>
            </a:r>
            <a:endParaRPr lang="en-US" sz="1600" dirty="0"/>
          </a:p>
        </p:txBody>
      </p:sp>
      <p:sp>
        <p:nvSpPr>
          <p:cNvPr id="10" name="Shape 8"/>
          <p:cNvSpPr/>
          <p:nvPr/>
        </p:nvSpPr>
        <p:spPr>
          <a:xfrm>
            <a:off x="1352799" y="2348493"/>
            <a:ext cx="5075099" cy="436929"/>
          </a:xfrm>
          <a:custGeom>
            <a:avLst/>
            <a:gdLst/>
            <a:ahLst/>
            <a:cxnLst/>
            <a:rect l="l" t="t" r="r" b="b"/>
            <a:pathLst>
              <a:path w="5075099" h="436929">
                <a:moveTo>
                  <a:pt x="67222" y="0"/>
                </a:moveTo>
                <a:lnTo>
                  <a:pt x="5007877" y="0"/>
                </a:lnTo>
                <a:cubicBezTo>
                  <a:pt x="5045002" y="0"/>
                  <a:pt x="5075099" y="30096"/>
                  <a:pt x="5075099" y="67222"/>
                </a:cubicBezTo>
                <a:lnTo>
                  <a:pt x="5075099" y="369707"/>
                </a:lnTo>
                <a:cubicBezTo>
                  <a:pt x="5075099" y="406833"/>
                  <a:pt x="5045002" y="436929"/>
                  <a:pt x="5007877" y="436929"/>
                </a:cubicBezTo>
                <a:lnTo>
                  <a:pt x="67222" y="436929"/>
                </a:lnTo>
                <a:cubicBezTo>
                  <a:pt x="30121" y="436929"/>
                  <a:pt x="0" y="406808"/>
                  <a:pt x="0" y="369707"/>
                </a:cubicBezTo>
                <a:lnTo>
                  <a:pt x="0" y="67222"/>
                </a:lnTo>
                <a:cubicBezTo>
                  <a:pt x="0" y="30121"/>
                  <a:pt x="30121" y="0"/>
                  <a:pt x="67222" y="0"/>
                </a:cubicBezTo>
                <a:close/>
              </a:path>
            </a:pathLst>
          </a:custGeom>
          <a:solidFill>
            <a:srgbClr val="1A1D21">
              <a:alpha val="60000"/>
            </a:srgbClr>
          </a:solidFill>
          <a:ln/>
        </p:spPr>
      </p:sp>
      <p:sp>
        <p:nvSpPr>
          <p:cNvPr id="11" name="Text 9"/>
          <p:cNvSpPr/>
          <p:nvPr/>
        </p:nvSpPr>
        <p:spPr>
          <a:xfrm>
            <a:off x="1453629" y="2449323"/>
            <a:ext cx="4940659" cy="235269"/>
          </a:xfrm>
          <a:prstGeom prst="rect">
            <a:avLst/>
          </a:prstGeom>
          <a:noFill/>
          <a:ln/>
        </p:spPr>
        <p:txBody>
          <a:bodyPr wrap="square" lIns="0" tIns="0" rIns="0" bIns="0" rtlCol="0" anchor="ctr"/>
          <a:lstStyle/>
          <a:p>
            <a:pPr>
              <a:lnSpc>
                <a:spcPct val="130000"/>
              </a:lnSpc>
            </a:pPr>
            <a:r>
              <a:rPr lang="en-US" sz="1059" b="1" dirty="0">
                <a:solidFill>
                  <a:srgbClr val="8D99AE"/>
                </a:solidFill>
                <a:latin typeface="Liter" pitchFamily="34" charset="0"/>
                <a:ea typeface="Liter" pitchFamily="34" charset="-122"/>
                <a:cs typeface="Liter" pitchFamily="34" charset="-120"/>
              </a:rPr>
              <a:t>Gap:</a:t>
            </a:r>
            <a:pPr>
              <a:lnSpc>
                <a:spcPct val="130000"/>
              </a:lnSpc>
            </a:pPr>
            <a:r>
              <a:rPr lang="en-US" sz="1323" b="1" dirty="0">
                <a:solidFill>
                  <a:srgbClr val="FF6467"/>
                </a:solidFill>
                <a:latin typeface="Liter" pitchFamily="34" charset="0"/>
                <a:ea typeface="Liter" pitchFamily="34" charset="-122"/>
                <a:cs typeface="Liter" pitchFamily="34" charset="-120"/>
              </a:rPr>
              <a:t>0.132</a:t>
            </a:r>
            <a:pPr>
              <a:lnSpc>
                <a:spcPct val="130000"/>
              </a:lnSpc>
            </a:pPr>
            <a:r>
              <a:rPr lang="en-US" sz="1059" dirty="0">
                <a:solidFill>
                  <a:srgbClr val="8D99AE"/>
                </a:solidFill>
                <a:latin typeface="Liter" pitchFamily="34" charset="0"/>
                <a:ea typeface="Liter" pitchFamily="34" charset="-122"/>
                <a:cs typeface="Liter" pitchFamily="34" charset="-120"/>
              </a:rPr>
              <a:t> (Train R²: 0.496 → Test R²: 0.364)</a:t>
            </a:r>
            <a:endParaRPr lang="en-US" sz="1600" dirty="0"/>
          </a:p>
        </p:txBody>
      </p:sp>
      <p:sp>
        <p:nvSpPr>
          <p:cNvPr id="12" name="Text 10"/>
          <p:cNvSpPr/>
          <p:nvPr/>
        </p:nvSpPr>
        <p:spPr>
          <a:xfrm>
            <a:off x="6598705" y="1756119"/>
            <a:ext cx="5150721" cy="739418"/>
          </a:xfrm>
          <a:prstGeom prst="rect">
            <a:avLst/>
          </a:prstGeom>
          <a:noFill/>
          <a:ln/>
        </p:spPr>
        <p:txBody>
          <a:bodyPr wrap="square" lIns="0" tIns="0" rIns="0" bIns="0" rtlCol="0" anchor="ctr"/>
          <a:lstStyle/>
          <a:p>
            <a:pPr>
              <a:lnSpc>
                <a:spcPct val="140000"/>
              </a:lnSpc>
            </a:pPr>
            <a:r>
              <a:rPr lang="en-US" sz="1191" dirty="0">
                <a:solidFill>
                  <a:srgbClr val="EDF2F4"/>
                </a:solidFill>
                <a:latin typeface="Liter" pitchFamily="34" charset="0"/>
                <a:ea typeface="Liter" pitchFamily="34" charset="-122"/>
                <a:cs typeface="Liter" pitchFamily="34" charset="-120"/>
              </a:rPr>
              <a:t>Regresyonda Random Forest eğitim verisini çok iyi öğrendi ama test verisinde kötü performans gösterdi. Gerçek dünya verisine genelleme yapamadı.</a:t>
            </a:r>
            <a:endParaRPr lang="en-US" sz="1600" dirty="0"/>
          </a:p>
        </p:txBody>
      </p:sp>
      <p:sp>
        <p:nvSpPr>
          <p:cNvPr id="13" name="Shape 11"/>
          <p:cNvSpPr/>
          <p:nvPr/>
        </p:nvSpPr>
        <p:spPr>
          <a:xfrm>
            <a:off x="6598705" y="2594266"/>
            <a:ext cx="5075099" cy="436929"/>
          </a:xfrm>
          <a:custGeom>
            <a:avLst/>
            <a:gdLst/>
            <a:ahLst/>
            <a:cxnLst/>
            <a:rect l="l" t="t" r="r" b="b"/>
            <a:pathLst>
              <a:path w="5075099" h="436929">
                <a:moveTo>
                  <a:pt x="67222" y="0"/>
                </a:moveTo>
                <a:lnTo>
                  <a:pt x="5007877" y="0"/>
                </a:lnTo>
                <a:cubicBezTo>
                  <a:pt x="5045002" y="0"/>
                  <a:pt x="5075099" y="30096"/>
                  <a:pt x="5075099" y="67222"/>
                </a:cubicBezTo>
                <a:lnTo>
                  <a:pt x="5075099" y="369707"/>
                </a:lnTo>
                <a:cubicBezTo>
                  <a:pt x="5075099" y="406833"/>
                  <a:pt x="5045002" y="436929"/>
                  <a:pt x="5007877" y="436929"/>
                </a:cubicBezTo>
                <a:lnTo>
                  <a:pt x="67222" y="436929"/>
                </a:lnTo>
                <a:cubicBezTo>
                  <a:pt x="30121" y="436929"/>
                  <a:pt x="0" y="406808"/>
                  <a:pt x="0" y="369707"/>
                </a:cubicBezTo>
                <a:lnTo>
                  <a:pt x="0" y="67222"/>
                </a:lnTo>
                <a:cubicBezTo>
                  <a:pt x="0" y="30121"/>
                  <a:pt x="30121" y="0"/>
                  <a:pt x="67222" y="0"/>
                </a:cubicBezTo>
                <a:close/>
              </a:path>
            </a:pathLst>
          </a:custGeom>
          <a:solidFill>
            <a:srgbClr val="1A1D21">
              <a:alpha val="60000"/>
            </a:srgbClr>
          </a:solidFill>
          <a:ln/>
        </p:spPr>
      </p:sp>
      <p:sp>
        <p:nvSpPr>
          <p:cNvPr id="14" name="Text 12"/>
          <p:cNvSpPr/>
          <p:nvPr/>
        </p:nvSpPr>
        <p:spPr>
          <a:xfrm>
            <a:off x="6699534" y="2695096"/>
            <a:ext cx="4940659" cy="235269"/>
          </a:xfrm>
          <a:prstGeom prst="rect">
            <a:avLst/>
          </a:prstGeom>
          <a:noFill/>
          <a:ln/>
        </p:spPr>
        <p:txBody>
          <a:bodyPr wrap="square" lIns="0" tIns="0" rIns="0" bIns="0" rtlCol="0" anchor="ctr"/>
          <a:lstStyle/>
          <a:p>
            <a:pPr>
              <a:lnSpc>
                <a:spcPct val="130000"/>
              </a:lnSpc>
            </a:pPr>
            <a:r>
              <a:rPr lang="en-US" sz="1059" b="1" dirty="0">
                <a:solidFill>
                  <a:srgbClr val="8D99AE"/>
                </a:solidFill>
                <a:latin typeface="Liter" pitchFamily="34" charset="0"/>
                <a:ea typeface="Liter" pitchFamily="34" charset="-122"/>
                <a:cs typeface="Liter" pitchFamily="34" charset="-120"/>
              </a:rPr>
              <a:t>Fark:</a:t>
            </a:r>
            <a:pPr>
              <a:lnSpc>
                <a:spcPct val="130000"/>
              </a:lnSpc>
            </a:pPr>
            <a:r>
              <a:rPr lang="en-US" sz="1323" b="1" dirty="0">
                <a:solidFill>
                  <a:srgbClr val="FF6467"/>
                </a:solidFill>
                <a:latin typeface="Liter" pitchFamily="34" charset="0"/>
                <a:ea typeface="Liter" pitchFamily="34" charset="-122"/>
                <a:cs typeface="Liter" pitchFamily="34" charset="-120"/>
              </a:rPr>
              <a:t>0.132</a:t>
            </a:r>
            <a:pPr>
              <a:lnSpc>
                <a:spcPct val="130000"/>
              </a:lnSpc>
            </a:pPr>
            <a:r>
              <a:rPr lang="en-US" sz="1059" dirty="0">
                <a:solidFill>
                  <a:srgbClr val="8D99AE"/>
                </a:solidFill>
                <a:latin typeface="Liter" pitchFamily="34" charset="0"/>
                <a:ea typeface="Liter" pitchFamily="34" charset="-122"/>
                <a:cs typeface="Liter" pitchFamily="34" charset="-120"/>
              </a:rPr>
              <a:t> (Train R²: 0.496 → Test R²: 0.364)</a:t>
            </a:r>
            <a:endParaRPr lang="en-US" sz="1600" dirty="0"/>
          </a:p>
        </p:txBody>
      </p:sp>
      <p:sp>
        <p:nvSpPr>
          <p:cNvPr id="15" name="Shape 13"/>
          <p:cNvSpPr/>
          <p:nvPr/>
        </p:nvSpPr>
        <p:spPr>
          <a:xfrm>
            <a:off x="340300" y="3379898"/>
            <a:ext cx="5663272" cy="2579562"/>
          </a:xfrm>
          <a:custGeom>
            <a:avLst/>
            <a:gdLst/>
            <a:ahLst/>
            <a:cxnLst/>
            <a:rect l="l" t="t" r="r" b="b"/>
            <a:pathLst>
              <a:path w="5663272" h="2579562">
                <a:moveTo>
                  <a:pt x="100835" y="0"/>
                </a:moveTo>
                <a:lnTo>
                  <a:pt x="5562437" y="0"/>
                </a:lnTo>
                <a:cubicBezTo>
                  <a:pt x="5618127" y="0"/>
                  <a:pt x="5663272" y="45145"/>
                  <a:pt x="5663272" y="100835"/>
                </a:cubicBezTo>
                <a:lnTo>
                  <a:pt x="5663272" y="2478727"/>
                </a:lnTo>
                <a:cubicBezTo>
                  <a:pt x="5663272" y="2534416"/>
                  <a:pt x="5618127" y="2579562"/>
                  <a:pt x="5562437" y="2579562"/>
                </a:cubicBezTo>
                <a:lnTo>
                  <a:pt x="100835" y="2579562"/>
                </a:lnTo>
                <a:cubicBezTo>
                  <a:pt x="45145" y="2579562"/>
                  <a:pt x="0" y="2534416"/>
                  <a:pt x="0" y="2478727"/>
                </a:cubicBezTo>
                <a:lnTo>
                  <a:pt x="0" y="100835"/>
                </a:lnTo>
                <a:cubicBezTo>
                  <a:pt x="0" y="45145"/>
                  <a:pt x="45145" y="0"/>
                  <a:pt x="100835" y="0"/>
                </a:cubicBezTo>
                <a:close/>
              </a:path>
            </a:pathLst>
          </a:custGeom>
          <a:gradFill rotWithShape="1" flip="none">
            <a:gsLst>
              <a:gs pos="0">
                <a:srgbClr val="82181A">
                  <a:alpha val="20000"/>
                </a:srgbClr>
              </a:gs>
              <a:gs pos="100000">
                <a:srgbClr val="1A1D21">
                  <a:alpha val="40000"/>
                </a:srgbClr>
              </a:gs>
            </a:gsLst>
            <a:lin ang="2700000" scaled="1"/>
          </a:gradFill>
          <a:ln w="12700">
            <a:solidFill>
              <a:srgbClr val="FB2C36">
                <a:alpha val="40000"/>
              </a:srgbClr>
            </a:solidFill>
            <a:prstDash val="solid"/>
          </a:ln>
        </p:spPr>
      </p:sp>
      <p:sp>
        <p:nvSpPr>
          <p:cNvPr id="16" name="Shape 14"/>
          <p:cNvSpPr/>
          <p:nvPr/>
        </p:nvSpPr>
        <p:spPr>
          <a:xfrm>
            <a:off x="561916" y="3560551"/>
            <a:ext cx="220565" cy="252074"/>
          </a:xfrm>
          <a:custGeom>
            <a:avLst/>
            <a:gdLst/>
            <a:ahLst/>
            <a:cxnLst/>
            <a:rect l="l" t="t" r="r" b="b"/>
            <a:pathLst>
              <a:path w="220565" h="252074">
                <a:moveTo>
                  <a:pt x="110283" y="-15755"/>
                </a:moveTo>
                <a:cubicBezTo>
                  <a:pt x="113729" y="-15755"/>
                  <a:pt x="117028" y="-14228"/>
                  <a:pt x="119292" y="-11570"/>
                </a:cubicBezTo>
                <a:lnTo>
                  <a:pt x="186250" y="67203"/>
                </a:lnTo>
                <a:cubicBezTo>
                  <a:pt x="189253" y="70699"/>
                  <a:pt x="189893" y="75622"/>
                  <a:pt x="187973" y="79807"/>
                </a:cubicBezTo>
                <a:cubicBezTo>
                  <a:pt x="186053" y="83992"/>
                  <a:pt x="181868" y="86651"/>
                  <a:pt x="177240" y="86651"/>
                </a:cubicBezTo>
                <a:lnTo>
                  <a:pt x="164981" y="86651"/>
                </a:lnTo>
                <a:lnTo>
                  <a:pt x="202004" y="130222"/>
                </a:lnTo>
                <a:cubicBezTo>
                  <a:pt x="205007" y="133718"/>
                  <a:pt x="205647" y="138641"/>
                  <a:pt x="203727" y="142826"/>
                </a:cubicBezTo>
                <a:cubicBezTo>
                  <a:pt x="201807" y="147011"/>
                  <a:pt x="197622" y="149669"/>
                  <a:pt x="192994" y="149669"/>
                </a:cubicBezTo>
                <a:lnTo>
                  <a:pt x="174040" y="149669"/>
                </a:lnTo>
                <a:lnTo>
                  <a:pt x="217759" y="201118"/>
                </a:lnTo>
                <a:cubicBezTo>
                  <a:pt x="220762" y="204614"/>
                  <a:pt x="221402" y="209537"/>
                  <a:pt x="219482" y="213722"/>
                </a:cubicBezTo>
                <a:cubicBezTo>
                  <a:pt x="217562" y="217907"/>
                  <a:pt x="213377" y="220565"/>
                  <a:pt x="208749" y="220565"/>
                </a:cubicBezTo>
                <a:lnTo>
                  <a:pt x="126037" y="220565"/>
                </a:lnTo>
                <a:lnTo>
                  <a:pt x="126037" y="252074"/>
                </a:lnTo>
                <a:cubicBezTo>
                  <a:pt x="126037" y="260789"/>
                  <a:pt x="118997" y="267829"/>
                  <a:pt x="110283" y="267829"/>
                </a:cubicBezTo>
                <a:cubicBezTo>
                  <a:pt x="101568" y="267829"/>
                  <a:pt x="94528" y="260789"/>
                  <a:pt x="94528" y="252074"/>
                </a:cubicBezTo>
                <a:lnTo>
                  <a:pt x="94528" y="220565"/>
                </a:lnTo>
                <a:lnTo>
                  <a:pt x="11816" y="220565"/>
                </a:lnTo>
                <a:cubicBezTo>
                  <a:pt x="7188" y="220565"/>
                  <a:pt x="3003" y="217907"/>
                  <a:pt x="1083" y="213722"/>
                </a:cubicBezTo>
                <a:cubicBezTo>
                  <a:pt x="-837" y="209537"/>
                  <a:pt x="-197" y="204614"/>
                  <a:pt x="2806" y="201118"/>
                </a:cubicBezTo>
                <a:lnTo>
                  <a:pt x="46525" y="149669"/>
                </a:lnTo>
                <a:lnTo>
                  <a:pt x="27571" y="149669"/>
                </a:lnTo>
                <a:cubicBezTo>
                  <a:pt x="22943" y="149669"/>
                  <a:pt x="18758" y="147011"/>
                  <a:pt x="16838" y="142826"/>
                </a:cubicBezTo>
                <a:cubicBezTo>
                  <a:pt x="14918" y="138641"/>
                  <a:pt x="15558" y="133718"/>
                  <a:pt x="18561" y="130222"/>
                </a:cubicBezTo>
                <a:lnTo>
                  <a:pt x="55584" y="86651"/>
                </a:lnTo>
                <a:lnTo>
                  <a:pt x="43325" y="86651"/>
                </a:lnTo>
                <a:cubicBezTo>
                  <a:pt x="38697" y="86651"/>
                  <a:pt x="34513" y="83992"/>
                  <a:pt x="32592" y="79807"/>
                </a:cubicBezTo>
                <a:cubicBezTo>
                  <a:pt x="30672" y="75622"/>
                  <a:pt x="31312" y="70699"/>
                  <a:pt x="34316" y="67203"/>
                </a:cubicBezTo>
                <a:lnTo>
                  <a:pt x="101273" y="-11570"/>
                </a:lnTo>
                <a:cubicBezTo>
                  <a:pt x="103538" y="-14228"/>
                  <a:pt x="106836" y="-15755"/>
                  <a:pt x="110283" y="-15755"/>
                </a:cubicBezTo>
                <a:close/>
              </a:path>
            </a:pathLst>
          </a:custGeom>
          <a:solidFill>
            <a:srgbClr val="FF6467"/>
          </a:solidFill>
          <a:ln/>
        </p:spPr>
      </p:sp>
      <p:sp>
        <p:nvSpPr>
          <p:cNvPr id="17" name="Text 15"/>
          <p:cNvSpPr/>
          <p:nvPr/>
        </p:nvSpPr>
        <p:spPr>
          <a:xfrm>
            <a:off x="928474" y="3552149"/>
            <a:ext cx="1453629" cy="268879"/>
          </a:xfrm>
          <a:prstGeom prst="rect">
            <a:avLst/>
          </a:prstGeom>
          <a:noFill/>
          <a:ln/>
        </p:spPr>
        <p:txBody>
          <a:bodyPr wrap="square" lIns="0" tIns="0" rIns="0" bIns="0" rtlCol="0" anchor="ctr"/>
          <a:lstStyle/>
          <a:p>
            <a:pPr>
              <a:lnSpc>
                <a:spcPct val="110000"/>
              </a:lnSpc>
            </a:pPr>
            <a:r>
              <a:rPr lang="en-US" sz="1588" b="1" dirty="0">
                <a:solidFill>
                  <a:srgbClr val="EDF2F4"/>
                </a:solidFill>
                <a:latin typeface="Liter" pitchFamily="34" charset="0"/>
                <a:ea typeface="Liter" pitchFamily="34" charset="-122"/>
                <a:cs typeface="Liter" pitchFamily="34" charset="-120"/>
              </a:rPr>
              <a:t>Random Forest</a:t>
            </a:r>
            <a:endParaRPr lang="en-US" sz="1600" dirty="0"/>
          </a:p>
        </p:txBody>
      </p:sp>
      <p:sp>
        <p:nvSpPr>
          <p:cNvPr id="18" name="Shape 16"/>
          <p:cNvSpPr/>
          <p:nvPr/>
        </p:nvSpPr>
        <p:spPr>
          <a:xfrm>
            <a:off x="512551" y="3955468"/>
            <a:ext cx="5318771" cy="604979"/>
          </a:xfrm>
          <a:custGeom>
            <a:avLst/>
            <a:gdLst/>
            <a:ahLst/>
            <a:cxnLst/>
            <a:rect l="l" t="t" r="r" b="b"/>
            <a:pathLst>
              <a:path w="5318771" h="604979">
                <a:moveTo>
                  <a:pt x="67219" y="0"/>
                </a:moveTo>
                <a:lnTo>
                  <a:pt x="5251551" y="0"/>
                </a:lnTo>
                <a:cubicBezTo>
                  <a:pt x="5288675" y="0"/>
                  <a:pt x="5318771" y="30095"/>
                  <a:pt x="5318771" y="67219"/>
                </a:cubicBezTo>
                <a:lnTo>
                  <a:pt x="5318771" y="537759"/>
                </a:lnTo>
                <a:cubicBezTo>
                  <a:pt x="5318771" y="574884"/>
                  <a:pt x="5288675" y="604979"/>
                  <a:pt x="5251551" y="604979"/>
                </a:cubicBezTo>
                <a:lnTo>
                  <a:pt x="67219" y="604979"/>
                </a:lnTo>
                <a:cubicBezTo>
                  <a:pt x="30095" y="604979"/>
                  <a:pt x="0" y="574884"/>
                  <a:pt x="0" y="537759"/>
                </a:cubicBezTo>
                <a:lnTo>
                  <a:pt x="0" y="67219"/>
                </a:lnTo>
                <a:cubicBezTo>
                  <a:pt x="0" y="30095"/>
                  <a:pt x="30095" y="0"/>
                  <a:pt x="67219" y="0"/>
                </a:cubicBezTo>
                <a:close/>
              </a:path>
            </a:pathLst>
          </a:custGeom>
          <a:solidFill>
            <a:srgbClr val="1A1D21">
              <a:alpha val="60000"/>
            </a:srgbClr>
          </a:solidFill>
          <a:ln/>
        </p:spPr>
      </p:sp>
      <p:sp>
        <p:nvSpPr>
          <p:cNvPr id="19" name="Text 17"/>
          <p:cNvSpPr/>
          <p:nvPr/>
        </p:nvSpPr>
        <p:spPr>
          <a:xfrm>
            <a:off x="613381" y="4073103"/>
            <a:ext cx="999895" cy="201660"/>
          </a:xfrm>
          <a:prstGeom prst="rect">
            <a:avLst/>
          </a:prstGeom>
          <a:noFill/>
          <a:ln/>
        </p:spPr>
        <p:txBody>
          <a:bodyPr wrap="square" lIns="0" tIns="0" rIns="0" bIns="0" rtlCol="0" anchor="ctr"/>
          <a:lstStyle/>
          <a:p>
            <a:pPr>
              <a:lnSpc>
                <a:spcPct val="130000"/>
              </a:lnSpc>
            </a:pPr>
            <a:r>
              <a:rPr lang="en-US" sz="1059" dirty="0">
                <a:solidFill>
                  <a:srgbClr val="8D99AE"/>
                </a:solidFill>
                <a:latin typeface="Liter" pitchFamily="34" charset="0"/>
                <a:ea typeface="Liter" pitchFamily="34" charset="-122"/>
                <a:cs typeface="Liter" pitchFamily="34" charset="-120"/>
              </a:rPr>
              <a:t>Train R² | Eğitim</a:t>
            </a:r>
            <a:endParaRPr lang="en-US" sz="1600" dirty="0"/>
          </a:p>
        </p:txBody>
      </p:sp>
      <p:sp>
        <p:nvSpPr>
          <p:cNvPr id="20" name="Text 18"/>
          <p:cNvSpPr/>
          <p:nvPr/>
        </p:nvSpPr>
        <p:spPr>
          <a:xfrm>
            <a:off x="5287392" y="4056298"/>
            <a:ext cx="529356" cy="235269"/>
          </a:xfrm>
          <a:prstGeom prst="rect">
            <a:avLst/>
          </a:prstGeom>
          <a:noFill/>
          <a:ln/>
        </p:spPr>
        <p:txBody>
          <a:bodyPr wrap="square" lIns="0" tIns="0" rIns="0" bIns="0" rtlCol="0" anchor="ctr"/>
          <a:lstStyle/>
          <a:p>
            <a:pPr>
              <a:lnSpc>
                <a:spcPct val="120000"/>
              </a:lnSpc>
            </a:pPr>
            <a:r>
              <a:rPr lang="en-US" sz="1323" b="1" dirty="0">
                <a:solidFill>
                  <a:srgbClr val="FF6467"/>
                </a:solidFill>
                <a:latin typeface="Liter" pitchFamily="34" charset="0"/>
                <a:ea typeface="Liter" pitchFamily="34" charset="-122"/>
                <a:cs typeface="Liter" pitchFamily="34" charset="-120"/>
              </a:rPr>
              <a:t>0.496</a:t>
            </a:r>
            <a:endParaRPr lang="en-US" sz="1600" dirty="0"/>
          </a:p>
        </p:txBody>
      </p:sp>
      <p:sp>
        <p:nvSpPr>
          <p:cNvPr id="21" name="Shape 19"/>
          <p:cNvSpPr/>
          <p:nvPr/>
        </p:nvSpPr>
        <p:spPr>
          <a:xfrm>
            <a:off x="613381" y="4358787"/>
            <a:ext cx="5117111" cy="100830"/>
          </a:xfrm>
          <a:custGeom>
            <a:avLst/>
            <a:gdLst/>
            <a:ahLst/>
            <a:cxnLst/>
            <a:rect l="l" t="t" r="r" b="b"/>
            <a:pathLst>
              <a:path w="5117111" h="100830">
                <a:moveTo>
                  <a:pt x="50415" y="0"/>
                </a:moveTo>
                <a:lnTo>
                  <a:pt x="5066696" y="0"/>
                </a:lnTo>
                <a:cubicBezTo>
                  <a:pt x="5094539" y="0"/>
                  <a:pt x="5117111" y="22572"/>
                  <a:pt x="5117111" y="50415"/>
                </a:cubicBezTo>
                <a:lnTo>
                  <a:pt x="5117111" y="50415"/>
                </a:lnTo>
                <a:cubicBezTo>
                  <a:pt x="5117111" y="78258"/>
                  <a:pt x="5094539" y="100830"/>
                  <a:pt x="5066696" y="100830"/>
                </a:cubicBezTo>
                <a:lnTo>
                  <a:pt x="50415" y="100830"/>
                </a:lnTo>
                <a:cubicBezTo>
                  <a:pt x="22590" y="100830"/>
                  <a:pt x="0" y="78240"/>
                  <a:pt x="0" y="50415"/>
                </a:cubicBezTo>
                <a:lnTo>
                  <a:pt x="0" y="50415"/>
                </a:lnTo>
                <a:cubicBezTo>
                  <a:pt x="0" y="22590"/>
                  <a:pt x="22590" y="0"/>
                  <a:pt x="50415" y="0"/>
                </a:cubicBezTo>
                <a:close/>
              </a:path>
            </a:pathLst>
          </a:custGeom>
          <a:solidFill>
            <a:srgbClr val="1A1D21"/>
          </a:solidFill>
          <a:ln/>
        </p:spPr>
      </p:sp>
      <p:sp>
        <p:nvSpPr>
          <p:cNvPr id="22" name="Shape 20"/>
          <p:cNvSpPr/>
          <p:nvPr/>
        </p:nvSpPr>
        <p:spPr>
          <a:xfrm>
            <a:off x="613381" y="4358787"/>
            <a:ext cx="5066696" cy="100830"/>
          </a:xfrm>
          <a:custGeom>
            <a:avLst/>
            <a:gdLst/>
            <a:ahLst/>
            <a:cxnLst/>
            <a:rect l="l" t="t" r="r" b="b"/>
            <a:pathLst>
              <a:path w="5066696" h="100830">
                <a:moveTo>
                  <a:pt x="50415" y="0"/>
                </a:moveTo>
                <a:lnTo>
                  <a:pt x="5016281" y="0"/>
                </a:lnTo>
                <a:cubicBezTo>
                  <a:pt x="5044125" y="0"/>
                  <a:pt x="5066696" y="22572"/>
                  <a:pt x="5066696" y="50415"/>
                </a:cubicBezTo>
                <a:lnTo>
                  <a:pt x="5066696" y="50415"/>
                </a:lnTo>
                <a:cubicBezTo>
                  <a:pt x="5066696" y="78258"/>
                  <a:pt x="5044125" y="100830"/>
                  <a:pt x="5016281" y="100830"/>
                </a:cubicBezTo>
                <a:lnTo>
                  <a:pt x="50415" y="100830"/>
                </a:lnTo>
                <a:cubicBezTo>
                  <a:pt x="22590" y="100830"/>
                  <a:pt x="0" y="78240"/>
                  <a:pt x="0" y="50415"/>
                </a:cubicBezTo>
                <a:lnTo>
                  <a:pt x="0" y="50415"/>
                </a:lnTo>
                <a:cubicBezTo>
                  <a:pt x="0" y="22590"/>
                  <a:pt x="22590" y="0"/>
                  <a:pt x="50415" y="0"/>
                </a:cubicBezTo>
                <a:close/>
              </a:path>
            </a:pathLst>
          </a:custGeom>
          <a:solidFill>
            <a:srgbClr val="FF6467"/>
          </a:solidFill>
          <a:ln/>
        </p:spPr>
      </p:sp>
      <p:sp>
        <p:nvSpPr>
          <p:cNvPr id="23" name="Shape 21"/>
          <p:cNvSpPr/>
          <p:nvPr/>
        </p:nvSpPr>
        <p:spPr>
          <a:xfrm>
            <a:off x="512551" y="4661276"/>
            <a:ext cx="5318771" cy="604979"/>
          </a:xfrm>
          <a:custGeom>
            <a:avLst/>
            <a:gdLst/>
            <a:ahLst/>
            <a:cxnLst/>
            <a:rect l="l" t="t" r="r" b="b"/>
            <a:pathLst>
              <a:path w="5318771" h="604979">
                <a:moveTo>
                  <a:pt x="67219" y="0"/>
                </a:moveTo>
                <a:lnTo>
                  <a:pt x="5251551" y="0"/>
                </a:lnTo>
                <a:cubicBezTo>
                  <a:pt x="5288675" y="0"/>
                  <a:pt x="5318771" y="30095"/>
                  <a:pt x="5318771" y="67219"/>
                </a:cubicBezTo>
                <a:lnTo>
                  <a:pt x="5318771" y="537759"/>
                </a:lnTo>
                <a:cubicBezTo>
                  <a:pt x="5318771" y="574884"/>
                  <a:pt x="5288675" y="604979"/>
                  <a:pt x="5251551" y="604979"/>
                </a:cubicBezTo>
                <a:lnTo>
                  <a:pt x="67219" y="604979"/>
                </a:lnTo>
                <a:cubicBezTo>
                  <a:pt x="30095" y="604979"/>
                  <a:pt x="0" y="574884"/>
                  <a:pt x="0" y="537759"/>
                </a:cubicBezTo>
                <a:lnTo>
                  <a:pt x="0" y="67219"/>
                </a:lnTo>
                <a:cubicBezTo>
                  <a:pt x="0" y="30095"/>
                  <a:pt x="30095" y="0"/>
                  <a:pt x="67219" y="0"/>
                </a:cubicBezTo>
                <a:close/>
              </a:path>
            </a:pathLst>
          </a:custGeom>
          <a:solidFill>
            <a:srgbClr val="1A1D21">
              <a:alpha val="60000"/>
            </a:srgbClr>
          </a:solidFill>
          <a:ln/>
        </p:spPr>
      </p:sp>
      <p:sp>
        <p:nvSpPr>
          <p:cNvPr id="24" name="Text 22"/>
          <p:cNvSpPr/>
          <p:nvPr/>
        </p:nvSpPr>
        <p:spPr>
          <a:xfrm>
            <a:off x="613381" y="4778911"/>
            <a:ext cx="848651" cy="201660"/>
          </a:xfrm>
          <a:prstGeom prst="rect">
            <a:avLst/>
          </a:prstGeom>
          <a:noFill/>
          <a:ln/>
        </p:spPr>
        <p:txBody>
          <a:bodyPr wrap="square" lIns="0" tIns="0" rIns="0" bIns="0" rtlCol="0" anchor="ctr"/>
          <a:lstStyle/>
          <a:p>
            <a:pPr>
              <a:lnSpc>
                <a:spcPct val="130000"/>
              </a:lnSpc>
            </a:pPr>
            <a:r>
              <a:rPr lang="en-US" sz="1059" dirty="0">
                <a:solidFill>
                  <a:srgbClr val="8D99AE"/>
                </a:solidFill>
                <a:latin typeface="Liter" pitchFamily="34" charset="0"/>
                <a:ea typeface="Liter" pitchFamily="34" charset="-122"/>
                <a:cs typeface="Liter" pitchFamily="34" charset="-120"/>
              </a:rPr>
              <a:t>Test R² | Test</a:t>
            </a:r>
            <a:endParaRPr lang="en-US" sz="1600" dirty="0"/>
          </a:p>
        </p:txBody>
      </p:sp>
      <p:sp>
        <p:nvSpPr>
          <p:cNvPr id="25" name="Text 23"/>
          <p:cNvSpPr/>
          <p:nvPr/>
        </p:nvSpPr>
        <p:spPr>
          <a:xfrm>
            <a:off x="5288705" y="4762106"/>
            <a:ext cx="529356" cy="235269"/>
          </a:xfrm>
          <a:prstGeom prst="rect">
            <a:avLst/>
          </a:prstGeom>
          <a:noFill/>
          <a:ln/>
        </p:spPr>
        <p:txBody>
          <a:bodyPr wrap="square" lIns="0" tIns="0" rIns="0" bIns="0" rtlCol="0" anchor="ctr"/>
          <a:lstStyle/>
          <a:p>
            <a:pPr>
              <a:lnSpc>
                <a:spcPct val="120000"/>
              </a:lnSpc>
            </a:pPr>
            <a:r>
              <a:rPr lang="en-US" sz="1323" b="1" dirty="0">
                <a:solidFill>
                  <a:srgbClr val="8D99AE"/>
                </a:solidFill>
                <a:latin typeface="Liter" pitchFamily="34" charset="0"/>
                <a:ea typeface="Liter" pitchFamily="34" charset="-122"/>
                <a:cs typeface="Liter" pitchFamily="34" charset="-120"/>
              </a:rPr>
              <a:t>0.364</a:t>
            </a:r>
            <a:endParaRPr lang="en-US" sz="1600" dirty="0"/>
          </a:p>
        </p:txBody>
      </p:sp>
      <p:sp>
        <p:nvSpPr>
          <p:cNvPr id="26" name="Shape 24"/>
          <p:cNvSpPr/>
          <p:nvPr/>
        </p:nvSpPr>
        <p:spPr>
          <a:xfrm>
            <a:off x="613381" y="5064595"/>
            <a:ext cx="5117111" cy="100830"/>
          </a:xfrm>
          <a:custGeom>
            <a:avLst/>
            <a:gdLst/>
            <a:ahLst/>
            <a:cxnLst/>
            <a:rect l="l" t="t" r="r" b="b"/>
            <a:pathLst>
              <a:path w="5117111" h="100830">
                <a:moveTo>
                  <a:pt x="50415" y="0"/>
                </a:moveTo>
                <a:lnTo>
                  <a:pt x="5066696" y="0"/>
                </a:lnTo>
                <a:cubicBezTo>
                  <a:pt x="5094539" y="0"/>
                  <a:pt x="5117111" y="22572"/>
                  <a:pt x="5117111" y="50415"/>
                </a:cubicBezTo>
                <a:lnTo>
                  <a:pt x="5117111" y="50415"/>
                </a:lnTo>
                <a:cubicBezTo>
                  <a:pt x="5117111" y="78258"/>
                  <a:pt x="5094539" y="100830"/>
                  <a:pt x="5066696" y="100830"/>
                </a:cubicBezTo>
                <a:lnTo>
                  <a:pt x="50415" y="100830"/>
                </a:lnTo>
                <a:cubicBezTo>
                  <a:pt x="22590" y="100830"/>
                  <a:pt x="0" y="78240"/>
                  <a:pt x="0" y="50415"/>
                </a:cubicBezTo>
                <a:lnTo>
                  <a:pt x="0" y="50415"/>
                </a:lnTo>
                <a:cubicBezTo>
                  <a:pt x="0" y="22590"/>
                  <a:pt x="22590" y="0"/>
                  <a:pt x="50415" y="0"/>
                </a:cubicBezTo>
                <a:close/>
              </a:path>
            </a:pathLst>
          </a:custGeom>
          <a:solidFill>
            <a:srgbClr val="1A1D21"/>
          </a:solidFill>
          <a:ln/>
        </p:spPr>
      </p:sp>
      <p:sp>
        <p:nvSpPr>
          <p:cNvPr id="27" name="Shape 25"/>
          <p:cNvSpPr/>
          <p:nvPr/>
        </p:nvSpPr>
        <p:spPr>
          <a:xfrm>
            <a:off x="613381" y="5064595"/>
            <a:ext cx="3739104" cy="100830"/>
          </a:xfrm>
          <a:custGeom>
            <a:avLst/>
            <a:gdLst/>
            <a:ahLst/>
            <a:cxnLst/>
            <a:rect l="l" t="t" r="r" b="b"/>
            <a:pathLst>
              <a:path w="3739104" h="100830">
                <a:moveTo>
                  <a:pt x="50415" y="0"/>
                </a:moveTo>
                <a:lnTo>
                  <a:pt x="3688689" y="0"/>
                </a:lnTo>
                <a:cubicBezTo>
                  <a:pt x="3716533" y="0"/>
                  <a:pt x="3739104" y="22572"/>
                  <a:pt x="3739104" y="50415"/>
                </a:cubicBezTo>
                <a:lnTo>
                  <a:pt x="3739104" y="50415"/>
                </a:lnTo>
                <a:cubicBezTo>
                  <a:pt x="3739104" y="78258"/>
                  <a:pt x="3716533" y="100830"/>
                  <a:pt x="3688689" y="100830"/>
                </a:cubicBezTo>
                <a:lnTo>
                  <a:pt x="50415" y="100830"/>
                </a:lnTo>
                <a:cubicBezTo>
                  <a:pt x="22590" y="100830"/>
                  <a:pt x="0" y="78240"/>
                  <a:pt x="0" y="50415"/>
                </a:cubicBezTo>
                <a:lnTo>
                  <a:pt x="0" y="50415"/>
                </a:lnTo>
                <a:cubicBezTo>
                  <a:pt x="0" y="22590"/>
                  <a:pt x="22590" y="0"/>
                  <a:pt x="50415" y="0"/>
                </a:cubicBezTo>
                <a:close/>
              </a:path>
            </a:pathLst>
          </a:custGeom>
          <a:solidFill>
            <a:srgbClr val="8D99AE"/>
          </a:solidFill>
          <a:ln/>
        </p:spPr>
      </p:sp>
      <p:sp>
        <p:nvSpPr>
          <p:cNvPr id="28" name="Shape 26"/>
          <p:cNvSpPr/>
          <p:nvPr/>
        </p:nvSpPr>
        <p:spPr>
          <a:xfrm>
            <a:off x="516753" y="5371286"/>
            <a:ext cx="5310368" cy="411722"/>
          </a:xfrm>
          <a:custGeom>
            <a:avLst/>
            <a:gdLst/>
            <a:ahLst/>
            <a:cxnLst/>
            <a:rect l="l" t="t" r="r" b="b"/>
            <a:pathLst>
              <a:path w="5310368" h="411722">
                <a:moveTo>
                  <a:pt x="67222" y="0"/>
                </a:moveTo>
                <a:lnTo>
                  <a:pt x="5243146" y="0"/>
                </a:lnTo>
                <a:cubicBezTo>
                  <a:pt x="5280272" y="0"/>
                  <a:pt x="5310368" y="30096"/>
                  <a:pt x="5310368" y="67222"/>
                </a:cubicBezTo>
                <a:lnTo>
                  <a:pt x="5310368" y="344500"/>
                </a:lnTo>
                <a:cubicBezTo>
                  <a:pt x="5310368" y="381625"/>
                  <a:pt x="5280272" y="411722"/>
                  <a:pt x="5243146" y="411722"/>
                </a:cubicBezTo>
                <a:lnTo>
                  <a:pt x="67222" y="411722"/>
                </a:lnTo>
                <a:cubicBezTo>
                  <a:pt x="30096" y="411722"/>
                  <a:pt x="0" y="381625"/>
                  <a:pt x="0" y="344500"/>
                </a:cubicBezTo>
                <a:lnTo>
                  <a:pt x="0" y="67222"/>
                </a:lnTo>
                <a:cubicBezTo>
                  <a:pt x="0" y="30121"/>
                  <a:pt x="30121" y="0"/>
                  <a:pt x="67222" y="0"/>
                </a:cubicBezTo>
                <a:close/>
              </a:path>
            </a:pathLst>
          </a:custGeom>
          <a:solidFill>
            <a:srgbClr val="FB2C36">
              <a:alpha val="20000"/>
            </a:srgbClr>
          </a:solidFill>
          <a:ln w="12700">
            <a:solidFill>
              <a:srgbClr val="FB2C36">
                <a:alpha val="50196"/>
              </a:srgbClr>
            </a:solidFill>
            <a:prstDash val="solid"/>
          </a:ln>
        </p:spPr>
      </p:sp>
      <p:sp>
        <p:nvSpPr>
          <p:cNvPr id="29" name="Shape 27"/>
          <p:cNvSpPr/>
          <p:nvPr/>
        </p:nvSpPr>
        <p:spPr>
          <a:xfrm>
            <a:off x="2272215" y="5509927"/>
            <a:ext cx="134440" cy="134440"/>
          </a:xfrm>
          <a:custGeom>
            <a:avLst/>
            <a:gdLst/>
            <a:ahLst/>
            <a:cxnLst/>
            <a:rect l="l" t="t" r="r" b="b"/>
            <a:pathLst>
              <a:path w="134440" h="134440">
                <a:moveTo>
                  <a:pt x="67220" y="134440"/>
                </a:moveTo>
                <a:cubicBezTo>
                  <a:pt x="104319" y="134440"/>
                  <a:pt x="134440" y="104319"/>
                  <a:pt x="134440" y="67220"/>
                </a:cubicBezTo>
                <a:cubicBezTo>
                  <a:pt x="134440" y="30120"/>
                  <a:pt x="104319" y="0"/>
                  <a:pt x="67220" y="0"/>
                </a:cubicBezTo>
                <a:cubicBezTo>
                  <a:pt x="30120" y="0"/>
                  <a:pt x="0" y="30120"/>
                  <a:pt x="0" y="67220"/>
                </a:cubicBezTo>
                <a:cubicBezTo>
                  <a:pt x="0" y="104319"/>
                  <a:pt x="30120" y="134440"/>
                  <a:pt x="67220" y="134440"/>
                </a:cubicBezTo>
                <a:close/>
                <a:moveTo>
                  <a:pt x="43850" y="43850"/>
                </a:moveTo>
                <a:cubicBezTo>
                  <a:pt x="46319" y="41382"/>
                  <a:pt x="50310" y="41382"/>
                  <a:pt x="52752" y="43850"/>
                </a:cubicBezTo>
                <a:lnTo>
                  <a:pt x="67194" y="58292"/>
                </a:lnTo>
                <a:lnTo>
                  <a:pt x="81635" y="43850"/>
                </a:lnTo>
                <a:cubicBezTo>
                  <a:pt x="84104" y="41382"/>
                  <a:pt x="88095" y="41382"/>
                  <a:pt x="90537" y="43850"/>
                </a:cubicBezTo>
                <a:cubicBezTo>
                  <a:pt x="92979" y="46319"/>
                  <a:pt x="93005" y="50310"/>
                  <a:pt x="90537" y="52752"/>
                </a:cubicBezTo>
                <a:lnTo>
                  <a:pt x="76095" y="67194"/>
                </a:lnTo>
                <a:lnTo>
                  <a:pt x="90537" y="81635"/>
                </a:lnTo>
                <a:cubicBezTo>
                  <a:pt x="93005" y="84104"/>
                  <a:pt x="93005" y="88095"/>
                  <a:pt x="90537" y="90537"/>
                </a:cubicBezTo>
                <a:cubicBezTo>
                  <a:pt x="88069" y="92979"/>
                  <a:pt x="84077" y="93005"/>
                  <a:pt x="81635" y="90537"/>
                </a:cubicBezTo>
                <a:lnTo>
                  <a:pt x="67194" y="76095"/>
                </a:lnTo>
                <a:lnTo>
                  <a:pt x="52752" y="90537"/>
                </a:lnTo>
                <a:cubicBezTo>
                  <a:pt x="50284" y="93005"/>
                  <a:pt x="46292" y="93005"/>
                  <a:pt x="43850" y="90537"/>
                </a:cubicBezTo>
                <a:cubicBezTo>
                  <a:pt x="41408" y="88069"/>
                  <a:pt x="41382" y="84077"/>
                  <a:pt x="43850" y="81635"/>
                </a:cubicBezTo>
                <a:lnTo>
                  <a:pt x="58292" y="67194"/>
                </a:lnTo>
                <a:lnTo>
                  <a:pt x="43850" y="52752"/>
                </a:lnTo>
                <a:cubicBezTo>
                  <a:pt x="41382" y="50284"/>
                  <a:pt x="41382" y="46292"/>
                  <a:pt x="43850" y="43850"/>
                </a:cubicBezTo>
                <a:close/>
              </a:path>
            </a:pathLst>
          </a:custGeom>
          <a:solidFill>
            <a:srgbClr val="FF6467"/>
          </a:solidFill>
          <a:ln/>
        </p:spPr>
      </p:sp>
      <p:sp>
        <p:nvSpPr>
          <p:cNvPr id="30" name="Text 28"/>
          <p:cNvSpPr/>
          <p:nvPr/>
        </p:nvSpPr>
        <p:spPr>
          <a:xfrm>
            <a:off x="800697" y="5476317"/>
            <a:ext cx="4955003" cy="201660"/>
          </a:xfrm>
          <a:prstGeom prst="rect">
            <a:avLst/>
          </a:prstGeom>
          <a:noFill/>
          <a:ln/>
        </p:spPr>
        <p:txBody>
          <a:bodyPr wrap="square" lIns="0" tIns="0" rIns="0" bIns="0" rtlCol="0" anchor="ctr"/>
          <a:lstStyle/>
          <a:p>
            <a:pPr algn="ctr">
              <a:lnSpc>
                <a:spcPct val="130000"/>
              </a:lnSpc>
            </a:pPr>
            <a:r>
              <a:rPr lang="en-US" sz="1059" dirty="0">
                <a:solidFill>
                  <a:srgbClr val="EDF2F4"/>
                </a:solidFill>
                <a:latin typeface="Liter" pitchFamily="34" charset="0"/>
                <a:ea typeface="Liter" pitchFamily="34" charset="-122"/>
                <a:cs typeface="Liter" pitchFamily="34" charset="-120"/>
              </a:rPr>
              <a:t>Overfitting | Aşırı Öğrenme</a:t>
            </a:r>
            <a:endParaRPr lang="en-US" sz="1600" dirty="0"/>
          </a:p>
        </p:txBody>
      </p:sp>
      <p:sp>
        <p:nvSpPr>
          <p:cNvPr id="31" name="Shape 29"/>
          <p:cNvSpPr/>
          <p:nvPr/>
        </p:nvSpPr>
        <p:spPr>
          <a:xfrm>
            <a:off x="6182782" y="3379898"/>
            <a:ext cx="5663272" cy="2579562"/>
          </a:xfrm>
          <a:custGeom>
            <a:avLst/>
            <a:gdLst/>
            <a:ahLst/>
            <a:cxnLst/>
            <a:rect l="l" t="t" r="r" b="b"/>
            <a:pathLst>
              <a:path w="5663272" h="2579562">
                <a:moveTo>
                  <a:pt x="100835" y="0"/>
                </a:moveTo>
                <a:lnTo>
                  <a:pt x="5562437" y="0"/>
                </a:lnTo>
                <a:cubicBezTo>
                  <a:pt x="5618127" y="0"/>
                  <a:pt x="5663272" y="45145"/>
                  <a:pt x="5663272" y="100835"/>
                </a:cubicBezTo>
                <a:lnTo>
                  <a:pt x="5663272" y="2478727"/>
                </a:lnTo>
                <a:cubicBezTo>
                  <a:pt x="5663272" y="2534416"/>
                  <a:pt x="5618127" y="2579562"/>
                  <a:pt x="5562437" y="2579562"/>
                </a:cubicBezTo>
                <a:lnTo>
                  <a:pt x="100835" y="2579562"/>
                </a:lnTo>
                <a:cubicBezTo>
                  <a:pt x="45145" y="2579562"/>
                  <a:pt x="0" y="2534416"/>
                  <a:pt x="0" y="2478727"/>
                </a:cubicBezTo>
                <a:lnTo>
                  <a:pt x="0" y="100835"/>
                </a:lnTo>
                <a:cubicBezTo>
                  <a:pt x="0" y="45145"/>
                  <a:pt x="45145" y="0"/>
                  <a:pt x="100835" y="0"/>
                </a:cubicBezTo>
                <a:close/>
              </a:path>
            </a:pathLst>
          </a:custGeom>
          <a:gradFill rotWithShape="1" flip="none">
            <a:gsLst>
              <a:gs pos="0">
                <a:srgbClr val="4A6C8C">
                  <a:alpha val="30000"/>
                </a:srgbClr>
              </a:gs>
              <a:gs pos="100000">
                <a:srgbClr val="1A1D21">
                  <a:alpha val="40000"/>
                </a:srgbClr>
              </a:gs>
            </a:gsLst>
            <a:lin ang="2700000" scaled="1"/>
          </a:gradFill>
          <a:ln w="12700">
            <a:solidFill>
              <a:srgbClr val="4A6C8C">
                <a:alpha val="50196"/>
              </a:srgbClr>
            </a:solidFill>
            <a:prstDash val="solid"/>
          </a:ln>
        </p:spPr>
      </p:sp>
      <p:sp>
        <p:nvSpPr>
          <p:cNvPr id="32" name="Shape 30"/>
          <p:cNvSpPr/>
          <p:nvPr/>
        </p:nvSpPr>
        <p:spPr>
          <a:xfrm>
            <a:off x="6388643" y="3560551"/>
            <a:ext cx="252074" cy="252074"/>
          </a:xfrm>
          <a:custGeom>
            <a:avLst/>
            <a:gdLst/>
            <a:ahLst/>
            <a:cxnLst/>
            <a:rect l="l" t="t" r="r" b="b"/>
            <a:pathLst>
              <a:path w="252074" h="252074">
                <a:moveTo>
                  <a:pt x="126283" y="0"/>
                </a:moveTo>
                <a:cubicBezTo>
                  <a:pt x="133521" y="0"/>
                  <a:pt x="140167" y="3988"/>
                  <a:pt x="143613" y="10339"/>
                </a:cubicBezTo>
                <a:lnTo>
                  <a:pt x="249957" y="207272"/>
                </a:lnTo>
                <a:cubicBezTo>
                  <a:pt x="253256" y="213377"/>
                  <a:pt x="253108" y="220762"/>
                  <a:pt x="249564" y="226719"/>
                </a:cubicBezTo>
                <a:cubicBezTo>
                  <a:pt x="246019" y="232677"/>
                  <a:pt x="239569" y="236320"/>
                  <a:pt x="232677" y="236320"/>
                </a:cubicBezTo>
                <a:lnTo>
                  <a:pt x="19989" y="236320"/>
                </a:lnTo>
                <a:cubicBezTo>
                  <a:pt x="13047" y="236320"/>
                  <a:pt x="6646" y="232677"/>
                  <a:pt x="3102" y="226719"/>
                </a:cubicBezTo>
                <a:cubicBezTo>
                  <a:pt x="-443" y="220762"/>
                  <a:pt x="-591" y="213377"/>
                  <a:pt x="2708" y="207272"/>
                </a:cubicBezTo>
                <a:lnTo>
                  <a:pt x="109052" y="10339"/>
                </a:lnTo>
                <a:lnTo>
                  <a:pt x="110479" y="8074"/>
                </a:lnTo>
                <a:cubicBezTo>
                  <a:pt x="114074" y="3052"/>
                  <a:pt x="119932" y="0"/>
                  <a:pt x="126283" y="0"/>
                </a:cubicBezTo>
                <a:close/>
                <a:moveTo>
                  <a:pt x="83894" y="123034"/>
                </a:moveTo>
                <a:lnTo>
                  <a:pt x="97088" y="136229"/>
                </a:lnTo>
                <a:cubicBezTo>
                  <a:pt x="100141" y="139281"/>
                  <a:pt x="105162" y="139281"/>
                  <a:pt x="108215" y="136229"/>
                </a:cubicBezTo>
                <a:lnTo>
                  <a:pt x="129533" y="114910"/>
                </a:lnTo>
                <a:cubicBezTo>
                  <a:pt x="132487" y="111956"/>
                  <a:pt x="136475" y="110283"/>
                  <a:pt x="140660" y="110283"/>
                </a:cubicBezTo>
                <a:lnTo>
                  <a:pt x="161731" y="110283"/>
                </a:lnTo>
                <a:lnTo>
                  <a:pt x="126234" y="44556"/>
                </a:lnTo>
                <a:lnTo>
                  <a:pt x="83844" y="123034"/>
                </a:lnTo>
                <a:close/>
              </a:path>
            </a:pathLst>
          </a:custGeom>
          <a:solidFill>
            <a:srgbClr val="4A6C8C"/>
          </a:solidFill>
          <a:ln/>
        </p:spPr>
      </p:sp>
      <p:sp>
        <p:nvSpPr>
          <p:cNvPr id="33" name="Text 31"/>
          <p:cNvSpPr/>
          <p:nvPr/>
        </p:nvSpPr>
        <p:spPr>
          <a:xfrm>
            <a:off x="6770956" y="3552149"/>
            <a:ext cx="1646886" cy="268879"/>
          </a:xfrm>
          <a:prstGeom prst="rect">
            <a:avLst/>
          </a:prstGeom>
          <a:noFill/>
          <a:ln/>
        </p:spPr>
        <p:txBody>
          <a:bodyPr wrap="square" lIns="0" tIns="0" rIns="0" bIns="0" rtlCol="0" anchor="ctr"/>
          <a:lstStyle/>
          <a:p>
            <a:pPr>
              <a:lnSpc>
                <a:spcPct val="110000"/>
              </a:lnSpc>
            </a:pPr>
            <a:r>
              <a:rPr lang="en-US" sz="1588" b="1" dirty="0">
                <a:solidFill>
                  <a:srgbClr val="EDF2F4"/>
                </a:solidFill>
                <a:latin typeface="Liter" pitchFamily="34" charset="0"/>
                <a:ea typeface="Liter" pitchFamily="34" charset="-122"/>
                <a:cs typeface="Liter" pitchFamily="34" charset="-120"/>
              </a:rPr>
              <a:t>Ridge Regression</a:t>
            </a:r>
            <a:endParaRPr lang="en-US" sz="1600" dirty="0"/>
          </a:p>
        </p:txBody>
      </p:sp>
      <p:sp>
        <p:nvSpPr>
          <p:cNvPr id="34" name="Shape 32"/>
          <p:cNvSpPr/>
          <p:nvPr/>
        </p:nvSpPr>
        <p:spPr>
          <a:xfrm>
            <a:off x="6355033" y="3955468"/>
            <a:ext cx="5318771" cy="604979"/>
          </a:xfrm>
          <a:custGeom>
            <a:avLst/>
            <a:gdLst/>
            <a:ahLst/>
            <a:cxnLst/>
            <a:rect l="l" t="t" r="r" b="b"/>
            <a:pathLst>
              <a:path w="5318771" h="604979">
                <a:moveTo>
                  <a:pt x="67219" y="0"/>
                </a:moveTo>
                <a:lnTo>
                  <a:pt x="5251551" y="0"/>
                </a:lnTo>
                <a:cubicBezTo>
                  <a:pt x="5288675" y="0"/>
                  <a:pt x="5318771" y="30095"/>
                  <a:pt x="5318771" y="67219"/>
                </a:cubicBezTo>
                <a:lnTo>
                  <a:pt x="5318771" y="537759"/>
                </a:lnTo>
                <a:cubicBezTo>
                  <a:pt x="5318771" y="574884"/>
                  <a:pt x="5288675" y="604979"/>
                  <a:pt x="5251551" y="604979"/>
                </a:cubicBezTo>
                <a:lnTo>
                  <a:pt x="67219" y="604979"/>
                </a:lnTo>
                <a:cubicBezTo>
                  <a:pt x="30095" y="604979"/>
                  <a:pt x="0" y="574884"/>
                  <a:pt x="0" y="537759"/>
                </a:cubicBezTo>
                <a:lnTo>
                  <a:pt x="0" y="67219"/>
                </a:lnTo>
                <a:cubicBezTo>
                  <a:pt x="0" y="30095"/>
                  <a:pt x="30095" y="0"/>
                  <a:pt x="67219" y="0"/>
                </a:cubicBezTo>
                <a:close/>
              </a:path>
            </a:pathLst>
          </a:custGeom>
          <a:solidFill>
            <a:srgbClr val="1A1D21">
              <a:alpha val="60000"/>
            </a:srgbClr>
          </a:solidFill>
          <a:ln/>
        </p:spPr>
      </p:sp>
      <p:sp>
        <p:nvSpPr>
          <p:cNvPr id="35" name="Text 33"/>
          <p:cNvSpPr/>
          <p:nvPr/>
        </p:nvSpPr>
        <p:spPr>
          <a:xfrm>
            <a:off x="6455863" y="4073103"/>
            <a:ext cx="999895" cy="201660"/>
          </a:xfrm>
          <a:prstGeom prst="rect">
            <a:avLst/>
          </a:prstGeom>
          <a:noFill/>
          <a:ln/>
        </p:spPr>
        <p:txBody>
          <a:bodyPr wrap="square" lIns="0" tIns="0" rIns="0" bIns="0" rtlCol="0" anchor="ctr"/>
          <a:lstStyle/>
          <a:p>
            <a:pPr>
              <a:lnSpc>
                <a:spcPct val="130000"/>
              </a:lnSpc>
            </a:pPr>
            <a:r>
              <a:rPr lang="en-US" sz="1059" dirty="0">
                <a:solidFill>
                  <a:srgbClr val="8D99AE"/>
                </a:solidFill>
                <a:latin typeface="Liter" pitchFamily="34" charset="0"/>
                <a:ea typeface="Liter" pitchFamily="34" charset="-122"/>
                <a:cs typeface="Liter" pitchFamily="34" charset="-120"/>
              </a:rPr>
              <a:t>Train R² | Eğitim</a:t>
            </a:r>
            <a:endParaRPr lang="en-US" sz="1600" dirty="0"/>
          </a:p>
        </p:txBody>
      </p:sp>
      <p:sp>
        <p:nvSpPr>
          <p:cNvPr id="36" name="Text 34"/>
          <p:cNvSpPr/>
          <p:nvPr/>
        </p:nvSpPr>
        <p:spPr>
          <a:xfrm>
            <a:off x="11144053" y="4056298"/>
            <a:ext cx="512551" cy="235269"/>
          </a:xfrm>
          <a:prstGeom prst="rect">
            <a:avLst/>
          </a:prstGeom>
          <a:noFill/>
          <a:ln/>
        </p:spPr>
        <p:txBody>
          <a:bodyPr wrap="square" lIns="0" tIns="0" rIns="0" bIns="0" rtlCol="0" anchor="ctr"/>
          <a:lstStyle/>
          <a:p>
            <a:pPr>
              <a:lnSpc>
                <a:spcPct val="120000"/>
              </a:lnSpc>
            </a:pPr>
            <a:r>
              <a:rPr lang="en-US" sz="1323" b="1" dirty="0">
                <a:solidFill>
                  <a:srgbClr val="4A6C8C"/>
                </a:solidFill>
                <a:latin typeface="Liter" pitchFamily="34" charset="0"/>
                <a:ea typeface="Liter" pitchFamily="34" charset="-122"/>
                <a:cs typeface="Liter" pitchFamily="34" charset="-120"/>
              </a:rPr>
              <a:t>0.367</a:t>
            </a:r>
            <a:endParaRPr lang="en-US" sz="1600" dirty="0"/>
          </a:p>
        </p:txBody>
      </p:sp>
      <p:sp>
        <p:nvSpPr>
          <p:cNvPr id="37" name="Shape 35"/>
          <p:cNvSpPr/>
          <p:nvPr/>
        </p:nvSpPr>
        <p:spPr>
          <a:xfrm>
            <a:off x="6455863" y="4358787"/>
            <a:ext cx="5117111" cy="100830"/>
          </a:xfrm>
          <a:custGeom>
            <a:avLst/>
            <a:gdLst/>
            <a:ahLst/>
            <a:cxnLst/>
            <a:rect l="l" t="t" r="r" b="b"/>
            <a:pathLst>
              <a:path w="5117111" h="100830">
                <a:moveTo>
                  <a:pt x="50415" y="0"/>
                </a:moveTo>
                <a:lnTo>
                  <a:pt x="5066696" y="0"/>
                </a:lnTo>
                <a:cubicBezTo>
                  <a:pt x="5094539" y="0"/>
                  <a:pt x="5117111" y="22572"/>
                  <a:pt x="5117111" y="50415"/>
                </a:cubicBezTo>
                <a:lnTo>
                  <a:pt x="5117111" y="50415"/>
                </a:lnTo>
                <a:cubicBezTo>
                  <a:pt x="5117111" y="78258"/>
                  <a:pt x="5094539" y="100830"/>
                  <a:pt x="5066696" y="100830"/>
                </a:cubicBezTo>
                <a:lnTo>
                  <a:pt x="50415" y="100830"/>
                </a:lnTo>
                <a:cubicBezTo>
                  <a:pt x="22590" y="100830"/>
                  <a:pt x="0" y="78240"/>
                  <a:pt x="0" y="50415"/>
                </a:cubicBezTo>
                <a:lnTo>
                  <a:pt x="0" y="50415"/>
                </a:lnTo>
                <a:cubicBezTo>
                  <a:pt x="0" y="22590"/>
                  <a:pt x="22590" y="0"/>
                  <a:pt x="50415" y="0"/>
                </a:cubicBezTo>
                <a:close/>
              </a:path>
            </a:pathLst>
          </a:custGeom>
          <a:solidFill>
            <a:srgbClr val="1A1D21"/>
          </a:solidFill>
          <a:ln/>
        </p:spPr>
      </p:sp>
      <p:sp>
        <p:nvSpPr>
          <p:cNvPr id="38" name="Shape 36"/>
          <p:cNvSpPr/>
          <p:nvPr/>
        </p:nvSpPr>
        <p:spPr>
          <a:xfrm>
            <a:off x="6455863" y="4358787"/>
            <a:ext cx="3739104" cy="100830"/>
          </a:xfrm>
          <a:custGeom>
            <a:avLst/>
            <a:gdLst/>
            <a:ahLst/>
            <a:cxnLst/>
            <a:rect l="l" t="t" r="r" b="b"/>
            <a:pathLst>
              <a:path w="3739104" h="100830">
                <a:moveTo>
                  <a:pt x="50415" y="0"/>
                </a:moveTo>
                <a:lnTo>
                  <a:pt x="3688689" y="0"/>
                </a:lnTo>
                <a:cubicBezTo>
                  <a:pt x="3716533" y="0"/>
                  <a:pt x="3739104" y="22572"/>
                  <a:pt x="3739104" y="50415"/>
                </a:cubicBezTo>
                <a:lnTo>
                  <a:pt x="3739104" y="50415"/>
                </a:lnTo>
                <a:cubicBezTo>
                  <a:pt x="3739104" y="78258"/>
                  <a:pt x="3716533" y="100830"/>
                  <a:pt x="3688689" y="100830"/>
                </a:cubicBezTo>
                <a:lnTo>
                  <a:pt x="50415" y="100830"/>
                </a:lnTo>
                <a:cubicBezTo>
                  <a:pt x="22590" y="100830"/>
                  <a:pt x="0" y="78240"/>
                  <a:pt x="0" y="50415"/>
                </a:cubicBezTo>
                <a:lnTo>
                  <a:pt x="0" y="50415"/>
                </a:lnTo>
                <a:cubicBezTo>
                  <a:pt x="0" y="22590"/>
                  <a:pt x="22590" y="0"/>
                  <a:pt x="50415" y="0"/>
                </a:cubicBezTo>
                <a:close/>
              </a:path>
            </a:pathLst>
          </a:custGeom>
          <a:solidFill>
            <a:srgbClr val="4A6C8C"/>
          </a:solidFill>
          <a:ln/>
        </p:spPr>
      </p:sp>
      <p:sp>
        <p:nvSpPr>
          <p:cNvPr id="39" name="Shape 37"/>
          <p:cNvSpPr/>
          <p:nvPr/>
        </p:nvSpPr>
        <p:spPr>
          <a:xfrm>
            <a:off x="6355033" y="4661276"/>
            <a:ext cx="5318771" cy="604979"/>
          </a:xfrm>
          <a:custGeom>
            <a:avLst/>
            <a:gdLst/>
            <a:ahLst/>
            <a:cxnLst/>
            <a:rect l="l" t="t" r="r" b="b"/>
            <a:pathLst>
              <a:path w="5318771" h="604979">
                <a:moveTo>
                  <a:pt x="67219" y="0"/>
                </a:moveTo>
                <a:lnTo>
                  <a:pt x="5251551" y="0"/>
                </a:lnTo>
                <a:cubicBezTo>
                  <a:pt x="5288675" y="0"/>
                  <a:pt x="5318771" y="30095"/>
                  <a:pt x="5318771" y="67219"/>
                </a:cubicBezTo>
                <a:lnTo>
                  <a:pt x="5318771" y="537759"/>
                </a:lnTo>
                <a:cubicBezTo>
                  <a:pt x="5318771" y="574884"/>
                  <a:pt x="5288675" y="604979"/>
                  <a:pt x="5251551" y="604979"/>
                </a:cubicBezTo>
                <a:lnTo>
                  <a:pt x="67219" y="604979"/>
                </a:lnTo>
                <a:cubicBezTo>
                  <a:pt x="30095" y="604979"/>
                  <a:pt x="0" y="574884"/>
                  <a:pt x="0" y="537759"/>
                </a:cubicBezTo>
                <a:lnTo>
                  <a:pt x="0" y="67219"/>
                </a:lnTo>
                <a:cubicBezTo>
                  <a:pt x="0" y="30095"/>
                  <a:pt x="30095" y="0"/>
                  <a:pt x="67219" y="0"/>
                </a:cubicBezTo>
                <a:close/>
              </a:path>
            </a:pathLst>
          </a:custGeom>
          <a:solidFill>
            <a:srgbClr val="1A1D21">
              <a:alpha val="60000"/>
            </a:srgbClr>
          </a:solidFill>
          <a:ln/>
        </p:spPr>
      </p:sp>
      <p:sp>
        <p:nvSpPr>
          <p:cNvPr id="40" name="Text 38"/>
          <p:cNvSpPr/>
          <p:nvPr/>
        </p:nvSpPr>
        <p:spPr>
          <a:xfrm>
            <a:off x="6455863" y="4778911"/>
            <a:ext cx="848651" cy="201660"/>
          </a:xfrm>
          <a:prstGeom prst="rect">
            <a:avLst/>
          </a:prstGeom>
          <a:noFill/>
          <a:ln/>
        </p:spPr>
        <p:txBody>
          <a:bodyPr wrap="square" lIns="0" tIns="0" rIns="0" bIns="0" rtlCol="0" anchor="ctr"/>
          <a:lstStyle/>
          <a:p>
            <a:pPr>
              <a:lnSpc>
                <a:spcPct val="130000"/>
              </a:lnSpc>
            </a:pPr>
            <a:r>
              <a:rPr lang="en-US" sz="1059" dirty="0">
                <a:solidFill>
                  <a:srgbClr val="8D99AE"/>
                </a:solidFill>
                <a:latin typeface="Liter" pitchFamily="34" charset="0"/>
                <a:ea typeface="Liter" pitchFamily="34" charset="-122"/>
                <a:cs typeface="Liter" pitchFamily="34" charset="-120"/>
              </a:rPr>
              <a:t>Test R² | Test</a:t>
            </a:r>
            <a:endParaRPr lang="en-US" sz="1600" dirty="0"/>
          </a:p>
        </p:txBody>
      </p:sp>
      <p:sp>
        <p:nvSpPr>
          <p:cNvPr id="41" name="Text 39"/>
          <p:cNvSpPr/>
          <p:nvPr/>
        </p:nvSpPr>
        <p:spPr>
          <a:xfrm>
            <a:off x="11177400" y="4762106"/>
            <a:ext cx="478941" cy="235269"/>
          </a:xfrm>
          <a:prstGeom prst="rect">
            <a:avLst/>
          </a:prstGeom>
          <a:noFill/>
          <a:ln/>
        </p:spPr>
        <p:txBody>
          <a:bodyPr wrap="square" lIns="0" tIns="0" rIns="0" bIns="0" rtlCol="0" anchor="ctr"/>
          <a:lstStyle/>
          <a:p>
            <a:pPr>
              <a:lnSpc>
                <a:spcPct val="120000"/>
              </a:lnSpc>
            </a:pPr>
            <a:r>
              <a:rPr lang="en-US" sz="1323" b="1" dirty="0">
                <a:solidFill>
                  <a:srgbClr val="4A6C8C"/>
                </a:solidFill>
                <a:latin typeface="Liter" pitchFamily="34" charset="0"/>
                <a:ea typeface="Liter" pitchFamily="34" charset="-122"/>
                <a:cs typeface="Liter" pitchFamily="34" charset="-120"/>
              </a:rPr>
              <a:t>0.371</a:t>
            </a:r>
            <a:endParaRPr lang="en-US" sz="1600" dirty="0"/>
          </a:p>
        </p:txBody>
      </p:sp>
      <p:sp>
        <p:nvSpPr>
          <p:cNvPr id="42" name="Shape 40"/>
          <p:cNvSpPr/>
          <p:nvPr/>
        </p:nvSpPr>
        <p:spPr>
          <a:xfrm>
            <a:off x="6455863" y="5064595"/>
            <a:ext cx="5117111" cy="100830"/>
          </a:xfrm>
          <a:custGeom>
            <a:avLst/>
            <a:gdLst/>
            <a:ahLst/>
            <a:cxnLst/>
            <a:rect l="l" t="t" r="r" b="b"/>
            <a:pathLst>
              <a:path w="5117111" h="100830">
                <a:moveTo>
                  <a:pt x="50415" y="0"/>
                </a:moveTo>
                <a:lnTo>
                  <a:pt x="5066696" y="0"/>
                </a:lnTo>
                <a:cubicBezTo>
                  <a:pt x="5094539" y="0"/>
                  <a:pt x="5117111" y="22572"/>
                  <a:pt x="5117111" y="50415"/>
                </a:cubicBezTo>
                <a:lnTo>
                  <a:pt x="5117111" y="50415"/>
                </a:lnTo>
                <a:cubicBezTo>
                  <a:pt x="5117111" y="78258"/>
                  <a:pt x="5094539" y="100830"/>
                  <a:pt x="5066696" y="100830"/>
                </a:cubicBezTo>
                <a:lnTo>
                  <a:pt x="50415" y="100830"/>
                </a:lnTo>
                <a:cubicBezTo>
                  <a:pt x="22590" y="100830"/>
                  <a:pt x="0" y="78240"/>
                  <a:pt x="0" y="50415"/>
                </a:cubicBezTo>
                <a:lnTo>
                  <a:pt x="0" y="50415"/>
                </a:lnTo>
                <a:cubicBezTo>
                  <a:pt x="0" y="22590"/>
                  <a:pt x="22590" y="0"/>
                  <a:pt x="50415" y="0"/>
                </a:cubicBezTo>
                <a:close/>
              </a:path>
            </a:pathLst>
          </a:custGeom>
          <a:solidFill>
            <a:srgbClr val="1A1D21"/>
          </a:solidFill>
          <a:ln/>
        </p:spPr>
      </p:sp>
      <p:sp>
        <p:nvSpPr>
          <p:cNvPr id="43" name="Shape 41"/>
          <p:cNvSpPr/>
          <p:nvPr/>
        </p:nvSpPr>
        <p:spPr>
          <a:xfrm>
            <a:off x="6455863" y="5064595"/>
            <a:ext cx="3789519" cy="100830"/>
          </a:xfrm>
          <a:custGeom>
            <a:avLst/>
            <a:gdLst/>
            <a:ahLst/>
            <a:cxnLst/>
            <a:rect l="l" t="t" r="r" b="b"/>
            <a:pathLst>
              <a:path w="3789519" h="100830">
                <a:moveTo>
                  <a:pt x="50415" y="0"/>
                </a:moveTo>
                <a:lnTo>
                  <a:pt x="3739104" y="0"/>
                </a:lnTo>
                <a:cubicBezTo>
                  <a:pt x="3766947" y="0"/>
                  <a:pt x="3789519" y="22572"/>
                  <a:pt x="3789519" y="50415"/>
                </a:cubicBezTo>
                <a:lnTo>
                  <a:pt x="3789519" y="50415"/>
                </a:lnTo>
                <a:cubicBezTo>
                  <a:pt x="3789519" y="78258"/>
                  <a:pt x="3766947" y="100830"/>
                  <a:pt x="3739104" y="100830"/>
                </a:cubicBezTo>
                <a:lnTo>
                  <a:pt x="50415" y="100830"/>
                </a:lnTo>
                <a:cubicBezTo>
                  <a:pt x="22590" y="100830"/>
                  <a:pt x="0" y="78240"/>
                  <a:pt x="0" y="50415"/>
                </a:cubicBezTo>
                <a:lnTo>
                  <a:pt x="0" y="50415"/>
                </a:lnTo>
                <a:cubicBezTo>
                  <a:pt x="0" y="22590"/>
                  <a:pt x="22590" y="0"/>
                  <a:pt x="50415" y="0"/>
                </a:cubicBezTo>
                <a:close/>
              </a:path>
            </a:pathLst>
          </a:custGeom>
          <a:solidFill>
            <a:srgbClr val="4A6C8C"/>
          </a:solidFill>
          <a:ln/>
        </p:spPr>
      </p:sp>
      <p:sp>
        <p:nvSpPr>
          <p:cNvPr id="44" name="Shape 42"/>
          <p:cNvSpPr/>
          <p:nvPr/>
        </p:nvSpPr>
        <p:spPr>
          <a:xfrm>
            <a:off x="6359234" y="5371286"/>
            <a:ext cx="5310368" cy="411722"/>
          </a:xfrm>
          <a:custGeom>
            <a:avLst/>
            <a:gdLst/>
            <a:ahLst/>
            <a:cxnLst/>
            <a:rect l="l" t="t" r="r" b="b"/>
            <a:pathLst>
              <a:path w="5310368" h="411722">
                <a:moveTo>
                  <a:pt x="67222" y="0"/>
                </a:moveTo>
                <a:lnTo>
                  <a:pt x="5243146" y="0"/>
                </a:lnTo>
                <a:cubicBezTo>
                  <a:pt x="5280272" y="0"/>
                  <a:pt x="5310368" y="30096"/>
                  <a:pt x="5310368" y="67222"/>
                </a:cubicBezTo>
                <a:lnTo>
                  <a:pt x="5310368" y="344500"/>
                </a:lnTo>
                <a:cubicBezTo>
                  <a:pt x="5310368" y="381625"/>
                  <a:pt x="5280272" y="411722"/>
                  <a:pt x="5243146" y="411722"/>
                </a:cubicBezTo>
                <a:lnTo>
                  <a:pt x="67222" y="411722"/>
                </a:lnTo>
                <a:cubicBezTo>
                  <a:pt x="30096" y="411722"/>
                  <a:pt x="0" y="381625"/>
                  <a:pt x="0" y="344500"/>
                </a:cubicBezTo>
                <a:lnTo>
                  <a:pt x="0" y="67222"/>
                </a:lnTo>
                <a:cubicBezTo>
                  <a:pt x="0" y="30121"/>
                  <a:pt x="30121" y="0"/>
                  <a:pt x="67222" y="0"/>
                </a:cubicBezTo>
                <a:close/>
              </a:path>
            </a:pathLst>
          </a:custGeom>
          <a:solidFill>
            <a:srgbClr val="4A6C8C">
              <a:alpha val="30196"/>
            </a:srgbClr>
          </a:solidFill>
          <a:ln w="12700">
            <a:solidFill>
              <a:srgbClr val="4A6C8C">
                <a:alpha val="50196"/>
              </a:srgbClr>
            </a:solidFill>
            <a:prstDash val="solid"/>
          </a:ln>
        </p:spPr>
      </p:sp>
      <p:sp>
        <p:nvSpPr>
          <p:cNvPr id="45" name="Shape 43"/>
          <p:cNvSpPr/>
          <p:nvPr/>
        </p:nvSpPr>
        <p:spPr>
          <a:xfrm>
            <a:off x="8346027" y="5509927"/>
            <a:ext cx="134440" cy="134440"/>
          </a:xfrm>
          <a:custGeom>
            <a:avLst/>
            <a:gdLst/>
            <a:ahLst/>
            <a:cxnLst/>
            <a:rect l="l" t="t" r="r" b="b"/>
            <a:pathLst>
              <a:path w="134440" h="134440">
                <a:moveTo>
                  <a:pt x="67220" y="134440"/>
                </a:moveTo>
                <a:cubicBezTo>
                  <a:pt x="104319" y="134440"/>
                  <a:pt x="134440" y="104319"/>
                  <a:pt x="134440" y="67220"/>
                </a:cubicBezTo>
                <a:cubicBezTo>
                  <a:pt x="134440" y="30120"/>
                  <a:pt x="104319" y="0"/>
                  <a:pt x="67220" y="0"/>
                </a:cubicBezTo>
                <a:cubicBezTo>
                  <a:pt x="30120" y="0"/>
                  <a:pt x="0" y="30120"/>
                  <a:pt x="0" y="67220"/>
                </a:cubicBezTo>
                <a:cubicBezTo>
                  <a:pt x="0" y="104319"/>
                  <a:pt x="30120" y="134440"/>
                  <a:pt x="67220" y="134440"/>
                </a:cubicBezTo>
                <a:close/>
                <a:moveTo>
                  <a:pt x="89381" y="55850"/>
                </a:moveTo>
                <a:lnTo>
                  <a:pt x="68375" y="89460"/>
                </a:lnTo>
                <a:cubicBezTo>
                  <a:pt x="67272" y="91219"/>
                  <a:pt x="65382" y="92322"/>
                  <a:pt x="63307" y="92427"/>
                </a:cubicBezTo>
                <a:cubicBezTo>
                  <a:pt x="61233" y="92532"/>
                  <a:pt x="59237" y="91587"/>
                  <a:pt x="58003" y="89907"/>
                </a:cubicBezTo>
                <a:lnTo>
                  <a:pt x="45400" y="73102"/>
                </a:lnTo>
                <a:cubicBezTo>
                  <a:pt x="43299" y="70318"/>
                  <a:pt x="43877" y="66380"/>
                  <a:pt x="46660" y="64279"/>
                </a:cubicBezTo>
                <a:cubicBezTo>
                  <a:pt x="49443" y="62178"/>
                  <a:pt x="53382" y="62756"/>
                  <a:pt x="55483" y="65539"/>
                </a:cubicBezTo>
                <a:lnTo>
                  <a:pt x="62572" y="74992"/>
                </a:lnTo>
                <a:lnTo>
                  <a:pt x="78694" y="49181"/>
                </a:lnTo>
                <a:cubicBezTo>
                  <a:pt x="80533" y="46240"/>
                  <a:pt x="84419" y="45321"/>
                  <a:pt x="87386" y="47185"/>
                </a:cubicBezTo>
                <a:cubicBezTo>
                  <a:pt x="90353" y="49049"/>
                  <a:pt x="91246" y="52909"/>
                  <a:pt x="89381" y="55876"/>
                </a:cubicBezTo>
                <a:close/>
              </a:path>
            </a:pathLst>
          </a:custGeom>
          <a:solidFill>
            <a:srgbClr val="4A6C8C"/>
          </a:solidFill>
          <a:ln/>
        </p:spPr>
      </p:sp>
      <p:sp>
        <p:nvSpPr>
          <p:cNvPr id="46" name="Text 44"/>
          <p:cNvSpPr/>
          <p:nvPr/>
        </p:nvSpPr>
        <p:spPr>
          <a:xfrm>
            <a:off x="6643178" y="5476317"/>
            <a:ext cx="4955003" cy="201660"/>
          </a:xfrm>
          <a:prstGeom prst="rect">
            <a:avLst/>
          </a:prstGeom>
          <a:noFill/>
          <a:ln/>
        </p:spPr>
        <p:txBody>
          <a:bodyPr wrap="square" lIns="0" tIns="0" rIns="0" bIns="0" rtlCol="0" anchor="ctr"/>
          <a:lstStyle/>
          <a:p>
            <a:pPr algn="ctr">
              <a:lnSpc>
                <a:spcPct val="130000"/>
              </a:lnSpc>
            </a:pPr>
            <a:r>
              <a:rPr lang="en-US" sz="1059" dirty="0">
                <a:solidFill>
                  <a:srgbClr val="EDF2F4"/>
                </a:solidFill>
                <a:latin typeface="Liter" pitchFamily="34" charset="0"/>
                <a:ea typeface="Liter" pitchFamily="34" charset="-122"/>
                <a:cs typeface="Liter" pitchFamily="34" charset="-120"/>
              </a:rPr>
              <a:t>Consistent | Tutarlı</a:t>
            </a:r>
            <a:endParaRPr lang="en-US" sz="1600" dirty="0"/>
          </a:p>
        </p:txBody>
      </p:sp>
      <p:sp>
        <p:nvSpPr>
          <p:cNvPr id="47" name="Shape 45"/>
          <p:cNvSpPr/>
          <p:nvPr/>
        </p:nvSpPr>
        <p:spPr>
          <a:xfrm>
            <a:off x="340300" y="6102302"/>
            <a:ext cx="11511399" cy="747821"/>
          </a:xfrm>
          <a:custGeom>
            <a:avLst/>
            <a:gdLst/>
            <a:ahLst/>
            <a:cxnLst/>
            <a:rect l="l" t="t" r="r" b="b"/>
            <a:pathLst>
              <a:path w="11511399" h="747821">
                <a:moveTo>
                  <a:pt x="100829" y="0"/>
                </a:moveTo>
                <a:lnTo>
                  <a:pt x="11410570" y="0"/>
                </a:lnTo>
                <a:cubicBezTo>
                  <a:pt x="11466256" y="0"/>
                  <a:pt x="11511399" y="45143"/>
                  <a:pt x="11511399" y="100829"/>
                </a:cubicBezTo>
                <a:lnTo>
                  <a:pt x="11511399" y="646992"/>
                </a:lnTo>
                <a:cubicBezTo>
                  <a:pt x="11511399" y="702678"/>
                  <a:pt x="11466256" y="747821"/>
                  <a:pt x="11410570" y="747821"/>
                </a:cubicBezTo>
                <a:lnTo>
                  <a:pt x="100829" y="747821"/>
                </a:lnTo>
                <a:cubicBezTo>
                  <a:pt x="45143" y="747821"/>
                  <a:pt x="0" y="702678"/>
                  <a:pt x="0" y="646992"/>
                </a:cubicBezTo>
                <a:lnTo>
                  <a:pt x="0" y="100829"/>
                </a:lnTo>
                <a:cubicBezTo>
                  <a:pt x="0" y="45180"/>
                  <a:pt x="45180" y="0"/>
                  <a:pt x="100829" y="0"/>
                </a:cubicBezTo>
                <a:close/>
              </a:path>
            </a:pathLst>
          </a:custGeom>
          <a:solidFill>
            <a:srgbClr val="4A6C8C">
              <a:alpha val="10196"/>
            </a:srgbClr>
          </a:solidFill>
          <a:ln w="12700">
            <a:solidFill>
              <a:srgbClr val="4A6C8C">
                <a:alpha val="30196"/>
              </a:srgbClr>
            </a:solidFill>
            <a:prstDash val="solid"/>
          </a:ln>
        </p:spPr>
      </p:sp>
      <p:sp>
        <p:nvSpPr>
          <p:cNvPr id="48" name="Shape 46"/>
          <p:cNvSpPr/>
          <p:nvPr/>
        </p:nvSpPr>
        <p:spPr>
          <a:xfrm>
            <a:off x="512551" y="6350175"/>
            <a:ext cx="252074" cy="252074"/>
          </a:xfrm>
          <a:custGeom>
            <a:avLst/>
            <a:gdLst/>
            <a:ahLst/>
            <a:cxnLst/>
            <a:rect l="l" t="t" r="r" b="b"/>
            <a:pathLst>
              <a:path w="252074" h="252074">
                <a:moveTo>
                  <a:pt x="126037" y="252074"/>
                </a:moveTo>
                <a:cubicBezTo>
                  <a:pt x="195599" y="252074"/>
                  <a:pt x="252074" y="195599"/>
                  <a:pt x="252074" y="126037"/>
                </a:cubicBezTo>
                <a:cubicBezTo>
                  <a:pt x="252074" y="56475"/>
                  <a:pt x="195599" y="0"/>
                  <a:pt x="126037" y="0"/>
                </a:cubicBezTo>
                <a:cubicBezTo>
                  <a:pt x="56475" y="0"/>
                  <a:pt x="0" y="56475"/>
                  <a:pt x="0" y="126037"/>
                </a:cubicBezTo>
                <a:cubicBezTo>
                  <a:pt x="0" y="195599"/>
                  <a:pt x="56475" y="252074"/>
                  <a:pt x="126037" y="252074"/>
                </a:cubicBezTo>
                <a:close/>
                <a:moveTo>
                  <a:pt x="167590" y="104719"/>
                </a:moveTo>
                <a:lnTo>
                  <a:pt x="128203" y="167738"/>
                </a:lnTo>
                <a:cubicBezTo>
                  <a:pt x="126136" y="171036"/>
                  <a:pt x="122591" y="173104"/>
                  <a:pt x="118701" y="173301"/>
                </a:cubicBezTo>
                <a:cubicBezTo>
                  <a:pt x="114812" y="173498"/>
                  <a:pt x="111070" y="171726"/>
                  <a:pt x="108756" y="168575"/>
                </a:cubicBezTo>
                <a:lnTo>
                  <a:pt x="85124" y="137065"/>
                </a:lnTo>
                <a:cubicBezTo>
                  <a:pt x="81186" y="131847"/>
                  <a:pt x="82269" y="124462"/>
                  <a:pt x="87488" y="120523"/>
                </a:cubicBezTo>
                <a:cubicBezTo>
                  <a:pt x="92706" y="116584"/>
                  <a:pt x="100091" y="117668"/>
                  <a:pt x="104030" y="122886"/>
                </a:cubicBezTo>
                <a:lnTo>
                  <a:pt x="117323" y="140610"/>
                </a:lnTo>
                <a:lnTo>
                  <a:pt x="147552" y="92214"/>
                </a:lnTo>
                <a:cubicBezTo>
                  <a:pt x="150998" y="86700"/>
                  <a:pt x="158285" y="84977"/>
                  <a:pt x="163848" y="88472"/>
                </a:cubicBezTo>
                <a:cubicBezTo>
                  <a:pt x="169412" y="91968"/>
                  <a:pt x="171086" y="99205"/>
                  <a:pt x="167590" y="104768"/>
                </a:cubicBezTo>
                <a:close/>
              </a:path>
            </a:pathLst>
          </a:custGeom>
          <a:solidFill>
            <a:srgbClr val="D4A373"/>
          </a:solidFill>
          <a:ln/>
        </p:spPr>
      </p:sp>
      <p:sp>
        <p:nvSpPr>
          <p:cNvPr id="49" name="Text 47"/>
          <p:cNvSpPr/>
          <p:nvPr/>
        </p:nvSpPr>
        <p:spPr>
          <a:xfrm>
            <a:off x="928474" y="6240943"/>
            <a:ext cx="5385990" cy="470539"/>
          </a:xfrm>
          <a:prstGeom prst="rect">
            <a:avLst/>
          </a:prstGeom>
          <a:noFill/>
          <a:ln/>
        </p:spPr>
        <p:txBody>
          <a:bodyPr wrap="square" lIns="0" tIns="0" rIns="0" bIns="0" rtlCol="0" anchor="ctr"/>
          <a:lstStyle/>
          <a:p>
            <a:pPr>
              <a:lnSpc>
                <a:spcPct val="130000"/>
              </a:lnSpc>
            </a:pPr>
            <a:r>
              <a:rPr lang="en-US" sz="1191" b="1" dirty="0">
                <a:solidFill>
                  <a:srgbClr val="EDF2F4"/>
                </a:solidFill>
                <a:latin typeface="Liter" pitchFamily="34" charset="0"/>
                <a:ea typeface="Liter" pitchFamily="34" charset="-122"/>
                <a:cs typeface="Liter" pitchFamily="34" charset="-120"/>
              </a:rPr>
              <a:t>Contrast:</a:t>
            </a:r>
            <a:pPr>
              <a:lnSpc>
                <a:spcPct val="130000"/>
              </a:lnSpc>
            </a:pPr>
            <a:r>
              <a:rPr lang="en-US" sz="1191" dirty="0">
                <a:solidFill>
                  <a:srgbClr val="EDF2F4"/>
                </a:solidFill>
                <a:latin typeface="Liter" pitchFamily="34" charset="0"/>
                <a:ea typeface="Liter" pitchFamily="34" charset="-122"/>
                <a:cs typeface="Liter" pitchFamily="34" charset="-120"/>
              </a:rPr>
              <a:t> Ridge was both simple and consistent. It did not overfit and generalized well to unseen data.</a:t>
            </a:r>
            <a:endParaRPr lang="en-US" sz="1600" dirty="0"/>
          </a:p>
        </p:txBody>
      </p:sp>
      <p:sp>
        <p:nvSpPr>
          <p:cNvPr id="50" name="Text 48"/>
          <p:cNvSpPr/>
          <p:nvPr/>
        </p:nvSpPr>
        <p:spPr>
          <a:xfrm>
            <a:off x="6403347" y="6240943"/>
            <a:ext cx="5385990" cy="470539"/>
          </a:xfrm>
          <a:prstGeom prst="rect">
            <a:avLst/>
          </a:prstGeom>
          <a:noFill/>
          <a:ln/>
        </p:spPr>
        <p:txBody>
          <a:bodyPr wrap="square" lIns="0" tIns="0" rIns="0" bIns="0" rtlCol="0" anchor="ctr"/>
          <a:lstStyle/>
          <a:p>
            <a:pPr>
              <a:lnSpc>
                <a:spcPct val="130000"/>
              </a:lnSpc>
            </a:pPr>
            <a:r>
              <a:rPr lang="en-US" sz="1191" b="1" dirty="0">
                <a:solidFill>
                  <a:srgbClr val="EDF2F4"/>
                </a:solidFill>
                <a:latin typeface="Liter" pitchFamily="34" charset="0"/>
                <a:ea typeface="Liter" pitchFamily="34" charset="-122"/>
                <a:cs typeface="Liter" pitchFamily="34" charset="-120"/>
              </a:rPr>
              <a:t>Karşılaştırma:</a:t>
            </a:r>
            <a:pPr>
              <a:lnSpc>
                <a:spcPct val="130000"/>
              </a:lnSpc>
            </a:pPr>
            <a:r>
              <a:rPr lang="en-US" sz="1191" dirty="0">
                <a:solidFill>
                  <a:srgbClr val="EDF2F4"/>
                </a:solidFill>
                <a:latin typeface="Liter" pitchFamily="34" charset="0"/>
                <a:ea typeface="Liter" pitchFamily="34" charset="-122"/>
                <a:cs typeface="Liter" pitchFamily="34" charset="-120"/>
              </a:rPr>
              <a:t> Ridge hem basit hem de tutarlı çıktı. Aşırı öğrenmedi ve görülmemiş veriye iyi genelleme yaptı.</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8D99AE"/>
          </a:solidFill>
          <a:ln/>
        </p:spPr>
      </p:sp>
      <p:sp>
        <p:nvSpPr>
          <p:cNvPr id="3" name="Text 1"/>
          <p:cNvSpPr/>
          <p:nvPr/>
        </p:nvSpPr>
        <p:spPr>
          <a:xfrm>
            <a:off x="571500" y="419100"/>
            <a:ext cx="5200650"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Critical Comparison — Trade-offs</a:t>
            </a:r>
            <a:endParaRPr lang="en-US" sz="1600" dirty="0"/>
          </a:p>
        </p:txBody>
      </p:sp>
      <p:sp>
        <p:nvSpPr>
          <p:cNvPr id="4" name="Text 2"/>
          <p:cNvSpPr/>
          <p:nvPr/>
        </p:nvSpPr>
        <p:spPr>
          <a:xfrm>
            <a:off x="571500" y="914400"/>
            <a:ext cx="11353800" cy="304800"/>
          </a:xfrm>
          <a:prstGeom prst="rect">
            <a:avLst/>
          </a:prstGeom>
          <a:noFill/>
          <a:ln/>
        </p:spPr>
        <p:txBody>
          <a:bodyPr wrap="square" lIns="0" tIns="0" rIns="0" bIns="0" rtlCol="0" anchor="ctr"/>
          <a:lstStyle/>
          <a:p>
            <a:pPr>
              <a:lnSpc>
                <a:spcPct val="110000"/>
              </a:lnSpc>
            </a:pPr>
            <a:r>
              <a:rPr lang="en-US" sz="1800" dirty="0">
                <a:solidFill>
                  <a:srgbClr val="8D99AE"/>
                </a:solidFill>
                <a:latin typeface="Liter" pitchFamily="34" charset="0"/>
                <a:ea typeface="Liter" pitchFamily="34" charset="-122"/>
                <a:cs typeface="Liter" pitchFamily="34" charset="-120"/>
              </a:rPr>
              <a:t>Kritik Karşılaştırma — Ödünleşmeler</a:t>
            </a:r>
            <a:endParaRPr lang="en-US" sz="1600" dirty="0"/>
          </a:p>
        </p:txBody>
      </p:sp>
      <p:sp>
        <p:nvSpPr>
          <p:cNvPr id="5" name="Shape 3"/>
          <p:cNvSpPr/>
          <p:nvPr/>
        </p:nvSpPr>
        <p:spPr>
          <a:xfrm>
            <a:off x="385763" y="1376363"/>
            <a:ext cx="3695700" cy="5095875"/>
          </a:xfrm>
          <a:custGeom>
            <a:avLst/>
            <a:gdLst/>
            <a:ahLst/>
            <a:cxnLst/>
            <a:rect l="l" t="t" r="r" b="b"/>
            <a:pathLst>
              <a:path w="3695700" h="5095875">
                <a:moveTo>
                  <a:pt x="114308" y="0"/>
                </a:moveTo>
                <a:lnTo>
                  <a:pt x="3581392" y="0"/>
                </a:lnTo>
                <a:cubicBezTo>
                  <a:pt x="3644523" y="0"/>
                  <a:pt x="3695700" y="51177"/>
                  <a:pt x="3695700" y="114308"/>
                </a:cubicBezTo>
                <a:lnTo>
                  <a:pt x="3695700" y="4981567"/>
                </a:lnTo>
                <a:cubicBezTo>
                  <a:pt x="3695700" y="5044698"/>
                  <a:pt x="3644523" y="5095875"/>
                  <a:pt x="3581392" y="5095875"/>
                </a:cubicBezTo>
                <a:lnTo>
                  <a:pt x="114308" y="5095875"/>
                </a:lnTo>
                <a:cubicBezTo>
                  <a:pt x="51177" y="5095875"/>
                  <a:pt x="0" y="5044698"/>
                  <a:pt x="0" y="4981567"/>
                </a:cubicBezTo>
                <a:lnTo>
                  <a:pt x="0" y="114308"/>
                </a:lnTo>
                <a:cubicBezTo>
                  <a:pt x="0" y="51220"/>
                  <a:pt x="51220" y="0"/>
                  <a:pt x="114308" y="0"/>
                </a:cubicBezTo>
                <a:close/>
              </a:path>
            </a:pathLst>
          </a:custGeom>
          <a:gradFill rotWithShape="1" flip="none">
            <a:gsLst>
              <a:gs pos="0">
                <a:srgbClr val="4A6C8C">
                  <a:alpha val="30000"/>
                </a:srgbClr>
              </a:gs>
              <a:gs pos="100000">
                <a:srgbClr val="1A1D21">
                  <a:alpha val="60000"/>
                </a:srgbClr>
              </a:gs>
            </a:gsLst>
            <a:lin ang="2700000" scaled="1"/>
          </a:gradFill>
          <a:ln w="12700">
            <a:solidFill>
              <a:srgbClr val="4A6C8C">
                <a:alpha val="50196"/>
              </a:srgbClr>
            </a:solidFill>
            <a:prstDash val="solid"/>
          </a:ln>
        </p:spPr>
      </p:sp>
      <p:sp>
        <p:nvSpPr>
          <p:cNvPr id="6" name="Shape 4"/>
          <p:cNvSpPr/>
          <p:nvPr/>
        </p:nvSpPr>
        <p:spPr>
          <a:xfrm>
            <a:off x="1930301" y="1533525"/>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4A6C8C">
              <a:alpha val="30196"/>
            </a:srgbClr>
          </a:solidFill>
          <a:ln/>
        </p:spPr>
      </p:sp>
      <p:sp>
        <p:nvSpPr>
          <p:cNvPr id="7" name="Shape 5"/>
          <p:cNvSpPr/>
          <p:nvPr/>
        </p:nvSpPr>
        <p:spPr>
          <a:xfrm>
            <a:off x="2094607" y="1695450"/>
            <a:ext cx="285750" cy="285750"/>
          </a:xfrm>
          <a:custGeom>
            <a:avLst/>
            <a:gdLst/>
            <a:ahLst/>
            <a:cxnLst/>
            <a:rect l="l" t="t" r="r" b="b"/>
            <a:pathLst>
              <a:path w="285750" h="285750">
                <a:moveTo>
                  <a:pt x="265268" y="56"/>
                </a:moveTo>
                <a:cubicBezTo>
                  <a:pt x="270793" y="-391"/>
                  <a:pt x="276206" y="1730"/>
                  <a:pt x="280113" y="5637"/>
                </a:cubicBezTo>
                <a:cubicBezTo>
                  <a:pt x="284020" y="9544"/>
                  <a:pt x="286141" y="14957"/>
                  <a:pt x="285694" y="20482"/>
                </a:cubicBezTo>
                <a:cubicBezTo>
                  <a:pt x="283462" y="47997"/>
                  <a:pt x="275983" y="90915"/>
                  <a:pt x="259854" y="131936"/>
                </a:cubicBezTo>
                <a:cubicBezTo>
                  <a:pt x="258849" y="134448"/>
                  <a:pt x="256784" y="136345"/>
                  <a:pt x="254161" y="137127"/>
                </a:cubicBezTo>
                <a:lnTo>
                  <a:pt x="209010" y="150688"/>
                </a:lnTo>
                <a:cubicBezTo>
                  <a:pt x="206834" y="151358"/>
                  <a:pt x="205383" y="153312"/>
                  <a:pt x="205383" y="155600"/>
                </a:cubicBezTo>
                <a:cubicBezTo>
                  <a:pt x="205383" y="158446"/>
                  <a:pt x="207671" y="160734"/>
                  <a:pt x="210517" y="160734"/>
                </a:cubicBezTo>
                <a:lnTo>
                  <a:pt x="232060" y="160734"/>
                </a:lnTo>
                <a:cubicBezTo>
                  <a:pt x="238758" y="160734"/>
                  <a:pt x="243055" y="167878"/>
                  <a:pt x="239595" y="173627"/>
                </a:cubicBezTo>
                <a:cubicBezTo>
                  <a:pt x="237362" y="177366"/>
                  <a:pt x="234962" y="180994"/>
                  <a:pt x="232507" y="184565"/>
                </a:cubicBezTo>
                <a:cubicBezTo>
                  <a:pt x="231391" y="186184"/>
                  <a:pt x="229716" y="187356"/>
                  <a:pt x="227819" y="187970"/>
                </a:cubicBezTo>
                <a:lnTo>
                  <a:pt x="173292" y="204267"/>
                </a:lnTo>
                <a:cubicBezTo>
                  <a:pt x="171115" y="204936"/>
                  <a:pt x="169664" y="206890"/>
                  <a:pt x="169664" y="209178"/>
                </a:cubicBezTo>
                <a:cubicBezTo>
                  <a:pt x="169664" y="212024"/>
                  <a:pt x="171952" y="214313"/>
                  <a:pt x="174799" y="214313"/>
                </a:cubicBezTo>
                <a:lnTo>
                  <a:pt x="183728" y="214313"/>
                </a:lnTo>
                <a:cubicBezTo>
                  <a:pt x="191877" y="214313"/>
                  <a:pt x="195449" y="224024"/>
                  <a:pt x="188640" y="228488"/>
                </a:cubicBezTo>
                <a:cubicBezTo>
                  <a:pt x="150688" y="253603"/>
                  <a:pt x="111789" y="252654"/>
                  <a:pt x="86841" y="245957"/>
                </a:cubicBezTo>
                <a:cubicBezTo>
                  <a:pt x="79753" y="244060"/>
                  <a:pt x="73447" y="240432"/>
                  <a:pt x="67642" y="235967"/>
                </a:cubicBezTo>
                <a:lnTo>
                  <a:pt x="26789" y="276820"/>
                </a:lnTo>
                <a:cubicBezTo>
                  <a:pt x="21878" y="281732"/>
                  <a:pt x="13841" y="281732"/>
                  <a:pt x="8930" y="276820"/>
                </a:cubicBezTo>
                <a:cubicBezTo>
                  <a:pt x="4018" y="271909"/>
                  <a:pt x="4018" y="263872"/>
                  <a:pt x="8930" y="258961"/>
                </a:cubicBezTo>
                <a:lnTo>
                  <a:pt x="53578" y="214313"/>
                </a:lnTo>
                <a:lnTo>
                  <a:pt x="53857" y="214592"/>
                </a:lnTo>
                <a:cubicBezTo>
                  <a:pt x="54248" y="213866"/>
                  <a:pt x="54750" y="213196"/>
                  <a:pt x="55364" y="212582"/>
                </a:cubicBezTo>
                <a:lnTo>
                  <a:pt x="142875" y="125016"/>
                </a:lnTo>
                <a:cubicBezTo>
                  <a:pt x="147786" y="120104"/>
                  <a:pt x="147786" y="112068"/>
                  <a:pt x="142875" y="107156"/>
                </a:cubicBezTo>
                <a:cubicBezTo>
                  <a:pt x="137964" y="102245"/>
                  <a:pt x="129927" y="102245"/>
                  <a:pt x="125016" y="107156"/>
                </a:cubicBezTo>
                <a:lnTo>
                  <a:pt x="50062" y="182054"/>
                </a:lnTo>
                <a:cubicBezTo>
                  <a:pt x="45095" y="187021"/>
                  <a:pt x="36668" y="184510"/>
                  <a:pt x="36109" y="177478"/>
                </a:cubicBezTo>
                <a:cubicBezTo>
                  <a:pt x="33710" y="147786"/>
                  <a:pt x="41300" y="108775"/>
                  <a:pt x="76628" y="73447"/>
                </a:cubicBezTo>
                <a:cubicBezTo>
                  <a:pt x="127471" y="22603"/>
                  <a:pt x="218498" y="3851"/>
                  <a:pt x="265212" y="56"/>
                </a:cubicBezTo>
                <a:close/>
              </a:path>
            </a:pathLst>
          </a:custGeom>
          <a:solidFill>
            <a:srgbClr val="4A6C8C"/>
          </a:solidFill>
          <a:ln/>
        </p:spPr>
      </p:sp>
      <p:sp>
        <p:nvSpPr>
          <p:cNvPr id="8" name="Text 6"/>
          <p:cNvSpPr/>
          <p:nvPr/>
        </p:nvSpPr>
        <p:spPr>
          <a:xfrm>
            <a:off x="495300" y="2257425"/>
            <a:ext cx="3476625"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Logistic / Ridge</a:t>
            </a:r>
            <a:endParaRPr lang="en-US" sz="1600" dirty="0"/>
          </a:p>
        </p:txBody>
      </p:sp>
      <p:sp>
        <p:nvSpPr>
          <p:cNvPr id="9" name="Text 7"/>
          <p:cNvSpPr/>
          <p:nvPr/>
        </p:nvSpPr>
        <p:spPr>
          <a:xfrm>
            <a:off x="504825" y="2524125"/>
            <a:ext cx="3457575" cy="228600"/>
          </a:xfrm>
          <a:prstGeom prst="rect">
            <a:avLst/>
          </a:prstGeom>
          <a:noFill/>
          <a:ln/>
        </p:spPr>
        <p:txBody>
          <a:bodyPr wrap="square" lIns="0" tIns="0" rIns="0" bIns="0" rtlCol="0" anchor="ctr"/>
          <a:lstStyle/>
          <a:p>
            <a:pPr algn="ctr">
              <a:lnSpc>
                <a:spcPct val="130000"/>
              </a:lnSpc>
            </a:pPr>
            <a:r>
              <a:rPr lang="en-US" sz="1200" dirty="0">
                <a:solidFill>
                  <a:srgbClr val="8D99AE"/>
                </a:solidFill>
                <a:latin typeface="Liter" pitchFamily="34" charset="0"/>
                <a:ea typeface="Liter" pitchFamily="34" charset="-122"/>
                <a:cs typeface="Liter" pitchFamily="34" charset="-120"/>
              </a:rPr>
              <a:t>Basit Modeller</a:t>
            </a:r>
            <a:endParaRPr lang="en-US" sz="1600" dirty="0"/>
          </a:p>
        </p:txBody>
      </p:sp>
      <p:sp>
        <p:nvSpPr>
          <p:cNvPr id="10" name="Shape 8"/>
          <p:cNvSpPr/>
          <p:nvPr/>
        </p:nvSpPr>
        <p:spPr>
          <a:xfrm>
            <a:off x="542925" y="2914650"/>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11" name="Text 9"/>
          <p:cNvSpPr/>
          <p:nvPr/>
        </p:nvSpPr>
        <p:spPr>
          <a:xfrm>
            <a:off x="619125" y="2990850"/>
            <a:ext cx="94297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Performance</a:t>
            </a:r>
            <a:endParaRPr lang="en-US" sz="1600" dirty="0"/>
          </a:p>
        </p:txBody>
      </p:sp>
      <p:sp>
        <p:nvSpPr>
          <p:cNvPr id="12" name="Text 10"/>
          <p:cNvSpPr/>
          <p:nvPr/>
        </p:nvSpPr>
        <p:spPr>
          <a:xfrm>
            <a:off x="2932212" y="2990850"/>
            <a:ext cx="990600" cy="228600"/>
          </a:xfrm>
          <a:prstGeom prst="rect">
            <a:avLst/>
          </a:prstGeom>
          <a:noFill/>
          <a:ln/>
        </p:spPr>
        <p:txBody>
          <a:bodyPr wrap="square" lIns="0" tIns="0" rIns="0" bIns="0" rtlCol="0" anchor="ctr"/>
          <a:lstStyle/>
          <a:p>
            <a:pPr>
              <a:lnSpc>
                <a:spcPct val="130000"/>
              </a:lnSpc>
            </a:pPr>
            <a:r>
              <a:rPr lang="en-US" sz="1200" b="1" dirty="0">
                <a:solidFill>
                  <a:srgbClr val="8D99AE"/>
                </a:solidFill>
                <a:latin typeface="Liter" pitchFamily="34" charset="0"/>
                <a:ea typeface="Liter" pitchFamily="34" charset="-122"/>
                <a:cs typeface="Liter" pitchFamily="34" charset="-120"/>
              </a:rPr>
              <a:t>Low–Medium</a:t>
            </a:r>
            <a:endParaRPr lang="en-US" sz="1600" dirty="0"/>
          </a:p>
        </p:txBody>
      </p:sp>
      <p:sp>
        <p:nvSpPr>
          <p:cNvPr id="13" name="Shape 11"/>
          <p:cNvSpPr/>
          <p:nvPr/>
        </p:nvSpPr>
        <p:spPr>
          <a:xfrm>
            <a:off x="619125" y="3257550"/>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14" name="Shape 12"/>
          <p:cNvSpPr/>
          <p:nvPr/>
        </p:nvSpPr>
        <p:spPr>
          <a:xfrm>
            <a:off x="619125" y="3257550"/>
            <a:ext cx="1295400" cy="76200"/>
          </a:xfrm>
          <a:custGeom>
            <a:avLst/>
            <a:gdLst/>
            <a:ahLst/>
            <a:cxnLst/>
            <a:rect l="l" t="t" r="r" b="b"/>
            <a:pathLst>
              <a:path w="1295400" h="76200">
                <a:moveTo>
                  <a:pt x="38100" y="0"/>
                </a:moveTo>
                <a:lnTo>
                  <a:pt x="1257300" y="0"/>
                </a:lnTo>
                <a:cubicBezTo>
                  <a:pt x="1278328" y="0"/>
                  <a:pt x="1295400" y="17072"/>
                  <a:pt x="1295400" y="38100"/>
                </a:cubicBezTo>
                <a:lnTo>
                  <a:pt x="1295400" y="38100"/>
                </a:lnTo>
                <a:cubicBezTo>
                  <a:pt x="1295400" y="59128"/>
                  <a:pt x="1278328" y="76200"/>
                  <a:pt x="1257300" y="76200"/>
                </a:cubicBezTo>
                <a:lnTo>
                  <a:pt x="38100" y="76200"/>
                </a:lnTo>
                <a:cubicBezTo>
                  <a:pt x="17072" y="76200"/>
                  <a:pt x="0" y="59128"/>
                  <a:pt x="0" y="38100"/>
                </a:cubicBezTo>
                <a:lnTo>
                  <a:pt x="0" y="38100"/>
                </a:lnTo>
                <a:cubicBezTo>
                  <a:pt x="0" y="17072"/>
                  <a:pt x="17072" y="0"/>
                  <a:pt x="38100" y="0"/>
                </a:cubicBezTo>
                <a:close/>
              </a:path>
            </a:pathLst>
          </a:custGeom>
          <a:solidFill>
            <a:srgbClr val="8D99AE"/>
          </a:solidFill>
          <a:ln/>
        </p:spPr>
      </p:sp>
      <p:sp>
        <p:nvSpPr>
          <p:cNvPr id="15" name="Shape 13"/>
          <p:cNvSpPr/>
          <p:nvPr/>
        </p:nvSpPr>
        <p:spPr>
          <a:xfrm>
            <a:off x="542925" y="3486150"/>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16" name="Text 14"/>
          <p:cNvSpPr/>
          <p:nvPr/>
        </p:nvSpPr>
        <p:spPr>
          <a:xfrm>
            <a:off x="619125" y="3562350"/>
            <a:ext cx="84772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Complexity</a:t>
            </a:r>
            <a:endParaRPr lang="en-US" sz="1600" dirty="0"/>
          </a:p>
        </p:txBody>
      </p:sp>
      <p:sp>
        <p:nvSpPr>
          <p:cNvPr id="17" name="Text 15"/>
          <p:cNvSpPr/>
          <p:nvPr/>
        </p:nvSpPr>
        <p:spPr>
          <a:xfrm>
            <a:off x="3565922" y="3562350"/>
            <a:ext cx="361950" cy="228600"/>
          </a:xfrm>
          <a:prstGeom prst="rect">
            <a:avLst/>
          </a:prstGeom>
          <a:noFill/>
          <a:ln/>
        </p:spPr>
        <p:txBody>
          <a:bodyPr wrap="square" lIns="0" tIns="0" rIns="0" bIns="0" rtlCol="0" anchor="ctr"/>
          <a:lstStyle/>
          <a:p>
            <a:pPr>
              <a:lnSpc>
                <a:spcPct val="130000"/>
              </a:lnSpc>
            </a:pPr>
            <a:r>
              <a:rPr lang="en-US" sz="1200" b="1" dirty="0">
                <a:solidFill>
                  <a:srgbClr val="4A6C8C"/>
                </a:solidFill>
                <a:latin typeface="Liter" pitchFamily="34" charset="0"/>
                <a:ea typeface="Liter" pitchFamily="34" charset="-122"/>
                <a:cs typeface="Liter" pitchFamily="34" charset="-120"/>
              </a:rPr>
              <a:t>Low</a:t>
            </a:r>
            <a:endParaRPr lang="en-US" sz="1600" dirty="0"/>
          </a:p>
        </p:txBody>
      </p:sp>
      <p:sp>
        <p:nvSpPr>
          <p:cNvPr id="18" name="Shape 16"/>
          <p:cNvSpPr/>
          <p:nvPr/>
        </p:nvSpPr>
        <p:spPr>
          <a:xfrm>
            <a:off x="619125" y="3829050"/>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19" name="Shape 17"/>
          <p:cNvSpPr/>
          <p:nvPr/>
        </p:nvSpPr>
        <p:spPr>
          <a:xfrm>
            <a:off x="619125" y="3829050"/>
            <a:ext cx="809625" cy="76200"/>
          </a:xfrm>
          <a:custGeom>
            <a:avLst/>
            <a:gdLst/>
            <a:ahLst/>
            <a:cxnLst/>
            <a:rect l="l" t="t" r="r" b="b"/>
            <a:pathLst>
              <a:path w="809625" h="76200">
                <a:moveTo>
                  <a:pt x="38100" y="0"/>
                </a:moveTo>
                <a:lnTo>
                  <a:pt x="771525" y="0"/>
                </a:lnTo>
                <a:cubicBezTo>
                  <a:pt x="792553" y="0"/>
                  <a:pt x="809625" y="17072"/>
                  <a:pt x="809625" y="38100"/>
                </a:cubicBezTo>
                <a:lnTo>
                  <a:pt x="809625" y="38100"/>
                </a:lnTo>
                <a:cubicBezTo>
                  <a:pt x="809625" y="59128"/>
                  <a:pt x="792553" y="76200"/>
                  <a:pt x="771525" y="76200"/>
                </a:cubicBezTo>
                <a:lnTo>
                  <a:pt x="38100" y="76200"/>
                </a:lnTo>
                <a:cubicBezTo>
                  <a:pt x="17072" y="76200"/>
                  <a:pt x="0" y="59128"/>
                  <a:pt x="0" y="38100"/>
                </a:cubicBezTo>
                <a:lnTo>
                  <a:pt x="0" y="38100"/>
                </a:lnTo>
                <a:cubicBezTo>
                  <a:pt x="0" y="17072"/>
                  <a:pt x="17072" y="0"/>
                  <a:pt x="38100" y="0"/>
                </a:cubicBezTo>
                <a:close/>
              </a:path>
            </a:pathLst>
          </a:custGeom>
          <a:solidFill>
            <a:srgbClr val="4A6C8C"/>
          </a:solidFill>
          <a:ln/>
        </p:spPr>
      </p:sp>
      <p:sp>
        <p:nvSpPr>
          <p:cNvPr id="20" name="Shape 18"/>
          <p:cNvSpPr/>
          <p:nvPr/>
        </p:nvSpPr>
        <p:spPr>
          <a:xfrm>
            <a:off x="542925" y="4057650"/>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21" name="Text 19"/>
          <p:cNvSpPr/>
          <p:nvPr/>
        </p:nvSpPr>
        <p:spPr>
          <a:xfrm>
            <a:off x="619125" y="4133850"/>
            <a:ext cx="1066800"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Interpretability</a:t>
            </a:r>
            <a:endParaRPr lang="en-US" sz="1600" dirty="0"/>
          </a:p>
        </p:txBody>
      </p:sp>
      <p:sp>
        <p:nvSpPr>
          <p:cNvPr id="22" name="Text 20"/>
          <p:cNvSpPr/>
          <p:nvPr/>
        </p:nvSpPr>
        <p:spPr>
          <a:xfrm>
            <a:off x="3531691" y="4133850"/>
            <a:ext cx="400050" cy="228600"/>
          </a:xfrm>
          <a:prstGeom prst="rect">
            <a:avLst/>
          </a:prstGeom>
          <a:noFill/>
          <a:ln/>
        </p:spPr>
        <p:txBody>
          <a:bodyPr wrap="square" lIns="0" tIns="0" rIns="0" bIns="0" rtlCol="0" anchor="ctr"/>
          <a:lstStyle/>
          <a:p>
            <a:pPr>
              <a:lnSpc>
                <a:spcPct val="130000"/>
              </a:lnSpc>
            </a:pPr>
            <a:r>
              <a:rPr lang="en-US" sz="1200" b="1" dirty="0">
                <a:solidFill>
                  <a:srgbClr val="D4A373"/>
                </a:solidFill>
                <a:latin typeface="Liter" pitchFamily="34" charset="0"/>
                <a:ea typeface="Liter" pitchFamily="34" charset="-122"/>
                <a:cs typeface="Liter" pitchFamily="34" charset="-120"/>
              </a:rPr>
              <a:t>High</a:t>
            </a:r>
            <a:endParaRPr lang="en-US" sz="1600" dirty="0"/>
          </a:p>
        </p:txBody>
      </p:sp>
      <p:sp>
        <p:nvSpPr>
          <p:cNvPr id="23" name="Shape 21"/>
          <p:cNvSpPr/>
          <p:nvPr/>
        </p:nvSpPr>
        <p:spPr>
          <a:xfrm>
            <a:off x="619125" y="4400550"/>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24" name="Shape 22"/>
          <p:cNvSpPr/>
          <p:nvPr/>
        </p:nvSpPr>
        <p:spPr>
          <a:xfrm>
            <a:off x="619125" y="4400550"/>
            <a:ext cx="2905125" cy="76200"/>
          </a:xfrm>
          <a:custGeom>
            <a:avLst/>
            <a:gdLst/>
            <a:ahLst/>
            <a:cxnLst/>
            <a:rect l="l" t="t" r="r" b="b"/>
            <a:pathLst>
              <a:path w="2905125" h="76200">
                <a:moveTo>
                  <a:pt x="38100" y="0"/>
                </a:moveTo>
                <a:lnTo>
                  <a:pt x="2867025" y="0"/>
                </a:lnTo>
                <a:cubicBezTo>
                  <a:pt x="2888053" y="0"/>
                  <a:pt x="2905125" y="17072"/>
                  <a:pt x="2905125" y="38100"/>
                </a:cubicBezTo>
                <a:lnTo>
                  <a:pt x="2905125" y="38100"/>
                </a:lnTo>
                <a:cubicBezTo>
                  <a:pt x="2905125" y="59128"/>
                  <a:pt x="2888053" y="76200"/>
                  <a:pt x="2867025" y="76200"/>
                </a:cubicBezTo>
                <a:lnTo>
                  <a:pt x="38100" y="76200"/>
                </a:lnTo>
                <a:cubicBezTo>
                  <a:pt x="17072" y="76200"/>
                  <a:pt x="0" y="59128"/>
                  <a:pt x="0" y="38100"/>
                </a:cubicBezTo>
                <a:lnTo>
                  <a:pt x="0" y="38100"/>
                </a:lnTo>
                <a:cubicBezTo>
                  <a:pt x="0" y="17072"/>
                  <a:pt x="17072" y="0"/>
                  <a:pt x="38100" y="0"/>
                </a:cubicBezTo>
                <a:close/>
              </a:path>
            </a:pathLst>
          </a:custGeom>
          <a:solidFill>
            <a:srgbClr val="D4A373"/>
          </a:solidFill>
          <a:ln/>
        </p:spPr>
      </p:sp>
      <p:sp>
        <p:nvSpPr>
          <p:cNvPr id="25" name="Shape 23"/>
          <p:cNvSpPr/>
          <p:nvPr/>
        </p:nvSpPr>
        <p:spPr>
          <a:xfrm>
            <a:off x="542925" y="4629150"/>
            <a:ext cx="3381375" cy="609600"/>
          </a:xfrm>
          <a:custGeom>
            <a:avLst/>
            <a:gdLst/>
            <a:ahLst/>
            <a:cxnLst/>
            <a:rect l="l" t="t" r="r" b="b"/>
            <a:pathLst>
              <a:path w="3381375" h="609600">
                <a:moveTo>
                  <a:pt x="76200" y="0"/>
                </a:moveTo>
                <a:lnTo>
                  <a:pt x="3305175" y="0"/>
                </a:lnTo>
                <a:cubicBezTo>
                  <a:pt x="3347231" y="0"/>
                  <a:pt x="3381375" y="34144"/>
                  <a:pt x="3381375" y="76200"/>
                </a:cubicBezTo>
                <a:lnTo>
                  <a:pt x="3381375" y="533400"/>
                </a:lnTo>
                <a:cubicBezTo>
                  <a:pt x="3381375" y="575456"/>
                  <a:pt x="3347231" y="609600"/>
                  <a:pt x="3305175" y="609600"/>
                </a:cubicBezTo>
                <a:lnTo>
                  <a:pt x="76200" y="609600"/>
                </a:lnTo>
                <a:cubicBezTo>
                  <a:pt x="34144" y="609600"/>
                  <a:pt x="0" y="575456"/>
                  <a:pt x="0" y="533400"/>
                </a:cubicBezTo>
                <a:lnTo>
                  <a:pt x="0" y="76200"/>
                </a:lnTo>
                <a:cubicBezTo>
                  <a:pt x="0" y="34144"/>
                  <a:pt x="34144" y="0"/>
                  <a:pt x="76200" y="0"/>
                </a:cubicBezTo>
                <a:close/>
              </a:path>
            </a:pathLst>
          </a:custGeom>
          <a:solidFill>
            <a:srgbClr val="4A6C8C">
              <a:alpha val="20000"/>
            </a:srgbClr>
          </a:solidFill>
          <a:ln/>
        </p:spPr>
      </p:sp>
      <p:sp>
        <p:nvSpPr>
          <p:cNvPr id="26" name="Text 24"/>
          <p:cNvSpPr/>
          <p:nvPr/>
        </p:nvSpPr>
        <p:spPr>
          <a:xfrm>
            <a:off x="619125" y="4705350"/>
            <a:ext cx="32956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Overfitting | Aşırı Öğrenme</a:t>
            </a:r>
            <a:endParaRPr lang="en-US" sz="1600" dirty="0"/>
          </a:p>
        </p:txBody>
      </p:sp>
      <p:sp>
        <p:nvSpPr>
          <p:cNvPr id="27" name="Text 25"/>
          <p:cNvSpPr/>
          <p:nvPr/>
        </p:nvSpPr>
        <p:spPr>
          <a:xfrm>
            <a:off x="619125" y="4933950"/>
            <a:ext cx="3305175" cy="228600"/>
          </a:xfrm>
          <a:prstGeom prst="rect">
            <a:avLst/>
          </a:prstGeom>
          <a:noFill/>
          <a:ln/>
        </p:spPr>
        <p:txBody>
          <a:bodyPr wrap="square" lIns="0" tIns="0" rIns="0" bIns="0" rtlCol="0" anchor="ctr"/>
          <a:lstStyle/>
          <a:p>
            <a:pPr>
              <a:lnSpc>
                <a:spcPct val="130000"/>
              </a:lnSpc>
            </a:pPr>
            <a:r>
              <a:rPr lang="en-US" sz="1200" b="1" dirty="0">
                <a:solidFill>
                  <a:srgbClr val="4A6C8C"/>
                </a:solidFill>
                <a:latin typeface="Liter" pitchFamily="34" charset="0"/>
                <a:ea typeface="Liter" pitchFamily="34" charset="-122"/>
                <a:cs typeface="Liter" pitchFamily="34" charset="-120"/>
              </a:rPr>
              <a:t>None | Yok</a:t>
            </a:r>
            <a:endParaRPr lang="en-US" sz="1600" dirty="0"/>
          </a:p>
        </p:txBody>
      </p:sp>
      <p:sp>
        <p:nvSpPr>
          <p:cNvPr id="28" name="Shape 26"/>
          <p:cNvSpPr/>
          <p:nvPr/>
        </p:nvSpPr>
        <p:spPr>
          <a:xfrm>
            <a:off x="542925" y="5362575"/>
            <a:ext cx="3381375" cy="952500"/>
          </a:xfrm>
          <a:custGeom>
            <a:avLst/>
            <a:gdLst/>
            <a:ahLst/>
            <a:cxnLst/>
            <a:rect l="l" t="t" r="r" b="b"/>
            <a:pathLst>
              <a:path w="3381375" h="952500">
                <a:moveTo>
                  <a:pt x="76200" y="0"/>
                </a:moveTo>
                <a:lnTo>
                  <a:pt x="3305175" y="0"/>
                </a:lnTo>
                <a:cubicBezTo>
                  <a:pt x="3347231" y="0"/>
                  <a:pt x="3381375" y="34144"/>
                  <a:pt x="3381375" y="76200"/>
                </a:cubicBezTo>
                <a:lnTo>
                  <a:pt x="3381375" y="876300"/>
                </a:lnTo>
                <a:cubicBezTo>
                  <a:pt x="3381375" y="918356"/>
                  <a:pt x="3347231" y="952500"/>
                  <a:pt x="3305175" y="952500"/>
                </a:cubicBezTo>
                <a:lnTo>
                  <a:pt x="76200" y="952500"/>
                </a:lnTo>
                <a:cubicBezTo>
                  <a:pt x="34144" y="952500"/>
                  <a:pt x="0" y="918356"/>
                  <a:pt x="0" y="876300"/>
                </a:cubicBezTo>
                <a:lnTo>
                  <a:pt x="0" y="76200"/>
                </a:lnTo>
                <a:cubicBezTo>
                  <a:pt x="0" y="34144"/>
                  <a:pt x="34144" y="0"/>
                  <a:pt x="76200" y="0"/>
                </a:cubicBezTo>
                <a:close/>
              </a:path>
            </a:pathLst>
          </a:custGeom>
          <a:solidFill>
            <a:srgbClr val="4A6C8C">
              <a:alpha val="20000"/>
            </a:srgbClr>
          </a:solidFill>
          <a:ln/>
        </p:spPr>
      </p:sp>
      <p:sp>
        <p:nvSpPr>
          <p:cNvPr id="29" name="Text 27"/>
          <p:cNvSpPr/>
          <p:nvPr/>
        </p:nvSpPr>
        <p:spPr>
          <a:xfrm>
            <a:off x="623888" y="5476875"/>
            <a:ext cx="3219450" cy="381000"/>
          </a:xfrm>
          <a:prstGeom prst="rect">
            <a:avLst/>
          </a:prstGeom>
          <a:noFill/>
          <a:ln/>
        </p:spPr>
        <p:txBody>
          <a:bodyPr wrap="square" lIns="0" tIns="0" rIns="0" bIns="0" rtlCol="0" anchor="ctr"/>
          <a:lstStyle/>
          <a:p>
            <a:pPr algn="ctr">
              <a:lnSpc>
                <a:spcPct val="120000"/>
              </a:lnSpc>
            </a:pPr>
            <a:r>
              <a:rPr lang="en-US" sz="1050" dirty="0">
                <a:solidFill>
                  <a:srgbClr val="EDF2F4"/>
                </a:solidFill>
                <a:latin typeface="Liter" pitchFamily="34" charset="0"/>
                <a:ea typeface="Liter" pitchFamily="34" charset="-122"/>
                <a:cs typeface="Liter" pitchFamily="34" charset="-120"/>
              </a:rPr>
              <a:t>Best when interpretability matters. Stable, no overfitting.</a:t>
            </a:r>
            <a:endParaRPr lang="en-US" sz="1600" dirty="0"/>
          </a:p>
        </p:txBody>
      </p:sp>
      <p:sp>
        <p:nvSpPr>
          <p:cNvPr id="30" name="Text 28"/>
          <p:cNvSpPr/>
          <p:nvPr/>
        </p:nvSpPr>
        <p:spPr>
          <a:xfrm>
            <a:off x="628650" y="5895975"/>
            <a:ext cx="3209925"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Liter" pitchFamily="34" charset="0"/>
                <a:ea typeface="Liter" pitchFamily="34" charset="-122"/>
                <a:cs typeface="Liter" pitchFamily="34" charset="-120"/>
              </a:rPr>
              <a:t>Yorumlanabilirlik önemli olduğunda en iyi. Stabil, aşırı öğrenme yok.</a:t>
            </a:r>
            <a:endParaRPr lang="en-US" sz="1600" dirty="0"/>
          </a:p>
        </p:txBody>
      </p:sp>
      <p:sp>
        <p:nvSpPr>
          <p:cNvPr id="31" name="Shape 29"/>
          <p:cNvSpPr/>
          <p:nvPr/>
        </p:nvSpPr>
        <p:spPr>
          <a:xfrm>
            <a:off x="4246513" y="1376363"/>
            <a:ext cx="3695700" cy="5095875"/>
          </a:xfrm>
          <a:custGeom>
            <a:avLst/>
            <a:gdLst/>
            <a:ahLst/>
            <a:cxnLst/>
            <a:rect l="l" t="t" r="r" b="b"/>
            <a:pathLst>
              <a:path w="3695700" h="5095875">
                <a:moveTo>
                  <a:pt x="114308" y="0"/>
                </a:moveTo>
                <a:lnTo>
                  <a:pt x="3581392" y="0"/>
                </a:lnTo>
                <a:cubicBezTo>
                  <a:pt x="3644523" y="0"/>
                  <a:pt x="3695700" y="51177"/>
                  <a:pt x="3695700" y="114308"/>
                </a:cubicBezTo>
                <a:lnTo>
                  <a:pt x="3695700" y="4981567"/>
                </a:lnTo>
                <a:cubicBezTo>
                  <a:pt x="3695700" y="5044698"/>
                  <a:pt x="3644523" y="5095875"/>
                  <a:pt x="3581392" y="5095875"/>
                </a:cubicBezTo>
                <a:lnTo>
                  <a:pt x="114308" y="5095875"/>
                </a:lnTo>
                <a:cubicBezTo>
                  <a:pt x="51177" y="5095875"/>
                  <a:pt x="0" y="5044698"/>
                  <a:pt x="0" y="4981567"/>
                </a:cubicBezTo>
                <a:lnTo>
                  <a:pt x="0" y="114308"/>
                </a:lnTo>
                <a:cubicBezTo>
                  <a:pt x="0" y="51220"/>
                  <a:pt x="51220" y="0"/>
                  <a:pt x="114308" y="0"/>
                </a:cubicBezTo>
                <a:close/>
              </a:path>
            </a:pathLst>
          </a:custGeom>
          <a:gradFill rotWithShape="1" flip="none">
            <a:gsLst>
              <a:gs pos="0">
                <a:srgbClr val="8D99AE">
                  <a:alpha val="30000"/>
                </a:srgbClr>
              </a:gs>
              <a:gs pos="100000">
                <a:srgbClr val="1A1D21">
                  <a:alpha val="60000"/>
                </a:srgbClr>
              </a:gs>
            </a:gsLst>
            <a:lin ang="2700000" scaled="1"/>
          </a:gradFill>
          <a:ln w="12700">
            <a:solidFill>
              <a:srgbClr val="8D99AE">
                <a:alpha val="50196"/>
              </a:srgbClr>
            </a:solidFill>
            <a:prstDash val="solid"/>
          </a:ln>
        </p:spPr>
      </p:sp>
      <p:sp>
        <p:nvSpPr>
          <p:cNvPr id="32" name="Shape 30"/>
          <p:cNvSpPr/>
          <p:nvPr/>
        </p:nvSpPr>
        <p:spPr>
          <a:xfrm>
            <a:off x="5791051" y="1533525"/>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D99AE">
              <a:alpha val="30196"/>
            </a:srgbClr>
          </a:solidFill>
          <a:ln/>
        </p:spPr>
      </p:sp>
      <p:sp>
        <p:nvSpPr>
          <p:cNvPr id="33" name="Shape 31"/>
          <p:cNvSpPr/>
          <p:nvPr/>
        </p:nvSpPr>
        <p:spPr>
          <a:xfrm>
            <a:off x="5973217" y="1695450"/>
            <a:ext cx="250031" cy="285750"/>
          </a:xfrm>
          <a:custGeom>
            <a:avLst/>
            <a:gdLst/>
            <a:ahLst/>
            <a:cxnLst/>
            <a:rect l="l" t="t" r="r" b="b"/>
            <a:pathLst>
              <a:path w="250031" h="285750">
                <a:moveTo>
                  <a:pt x="125016" y="-17859"/>
                </a:moveTo>
                <a:cubicBezTo>
                  <a:pt x="128922" y="-17859"/>
                  <a:pt x="132662" y="-16129"/>
                  <a:pt x="135229" y="-13115"/>
                </a:cubicBezTo>
                <a:lnTo>
                  <a:pt x="211131" y="76181"/>
                </a:lnTo>
                <a:cubicBezTo>
                  <a:pt x="214536" y="80144"/>
                  <a:pt x="215261" y="85725"/>
                  <a:pt x="213085" y="90469"/>
                </a:cubicBezTo>
                <a:cubicBezTo>
                  <a:pt x="210908" y="95213"/>
                  <a:pt x="206164" y="98227"/>
                  <a:pt x="200918" y="98227"/>
                </a:cubicBezTo>
                <a:lnTo>
                  <a:pt x="187021" y="98227"/>
                </a:lnTo>
                <a:lnTo>
                  <a:pt x="228991" y="147619"/>
                </a:lnTo>
                <a:cubicBezTo>
                  <a:pt x="232395" y="151581"/>
                  <a:pt x="233121" y="157163"/>
                  <a:pt x="230944" y="161906"/>
                </a:cubicBezTo>
                <a:cubicBezTo>
                  <a:pt x="228767" y="166650"/>
                  <a:pt x="224024" y="169664"/>
                  <a:pt x="218777" y="169664"/>
                </a:cubicBezTo>
                <a:lnTo>
                  <a:pt x="197290" y="169664"/>
                </a:lnTo>
                <a:lnTo>
                  <a:pt x="246850" y="227986"/>
                </a:lnTo>
                <a:cubicBezTo>
                  <a:pt x="250254" y="231949"/>
                  <a:pt x="250980" y="237530"/>
                  <a:pt x="248803" y="242274"/>
                </a:cubicBezTo>
                <a:cubicBezTo>
                  <a:pt x="246627" y="247017"/>
                  <a:pt x="241883" y="250031"/>
                  <a:pt x="236637" y="250031"/>
                </a:cubicBezTo>
                <a:lnTo>
                  <a:pt x="142875" y="250031"/>
                </a:lnTo>
                <a:lnTo>
                  <a:pt x="142875" y="285750"/>
                </a:lnTo>
                <a:cubicBezTo>
                  <a:pt x="142875" y="295628"/>
                  <a:pt x="134894" y="303609"/>
                  <a:pt x="125016" y="303609"/>
                </a:cubicBezTo>
                <a:cubicBezTo>
                  <a:pt x="115137" y="303609"/>
                  <a:pt x="107156" y="295628"/>
                  <a:pt x="107156" y="285750"/>
                </a:cubicBezTo>
                <a:lnTo>
                  <a:pt x="107156" y="250031"/>
                </a:lnTo>
                <a:lnTo>
                  <a:pt x="13395" y="250031"/>
                </a:lnTo>
                <a:cubicBezTo>
                  <a:pt x="8148" y="250031"/>
                  <a:pt x="3404" y="247017"/>
                  <a:pt x="1228" y="242274"/>
                </a:cubicBezTo>
                <a:cubicBezTo>
                  <a:pt x="-949" y="237530"/>
                  <a:pt x="-223" y="231949"/>
                  <a:pt x="3181" y="227986"/>
                </a:cubicBezTo>
                <a:lnTo>
                  <a:pt x="52741" y="169664"/>
                </a:lnTo>
                <a:lnTo>
                  <a:pt x="31254" y="169664"/>
                </a:lnTo>
                <a:cubicBezTo>
                  <a:pt x="26008" y="169664"/>
                  <a:pt x="21264" y="166650"/>
                  <a:pt x="19087" y="161906"/>
                </a:cubicBezTo>
                <a:cubicBezTo>
                  <a:pt x="16911" y="157163"/>
                  <a:pt x="17636" y="151581"/>
                  <a:pt x="21041" y="147619"/>
                </a:cubicBezTo>
                <a:lnTo>
                  <a:pt x="63010" y="98227"/>
                </a:lnTo>
                <a:lnTo>
                  <a:pt x="49113" y="98227"/>
                </a:lnTo>
                <a:cubicBezTo>
                  <a:pt x="43867" y="98227"/>
                  <a:pt x="39123" y="95213"/>
                  <a:pt x="36947" y="90469"/>
                </a:cubicBezTo>
                <a:cubicBezTo>
                  <a:pt x="34770" y="85725"/>
                  <a:pt x="35496" y="80144"/>
                  <a:pt x="38900" y="76181"/>
                </a:cubicBezTo>
                <a:lnTo>
                  <a:pt x="114802" y="-13115"/>
                </a:lnTo>
                <a:cubicBezTo>
                  <a:pt x="117370" y="-16129"/>
                  <a:pt x="121109" y="-17859"/>
                  <a:pt x="125016" y="-17859"/>
                </a:cubicBezTo>
                <a:close/>
              </a:path>
            </a:pathLst>
          </a:custGeom>
          <a:solidFill>
            <a:srgbClr val="8D99AE"/>
          </a:solidFill>
          <a:ln/>
        </p:spPr>
      </p:sp>
      <p:sp>
        <p:nvSpPr>
          <p:cNvPr id="34" name="Text 32"/>
          <p:cNvSpPr/>
          <p:nvPr/>
        </p:nvSpPr>
        <p:spPr>
          <a:xfrm>
            <a:off x="4356050" y="2257425"/>
            <a:ext cx="3476625"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Random Forest</a:t>
            </a:r>
            <a:endParaRPr lang="en-US" sz="1600" dirty="0"/>
          </a:p>
        </p:txBody>
      </p:sp>
      <p:sp>
        <p:nvSpPr>
          <p:cNvPr id="35" name="Text 33"/>
          <p:cNvSpPr/>
          <p:nvPr/>
        </p:nvSpPr>
        <p:spPr>
          <a:xfrm>
            <a:off x="4365575" y="2524125"/>
            <a:ext cx="3457575" cy="228600"/>
          </a:xfrm>
          <a:prstGeom prst="rect">
            <a:avLst/>
          </a:prstGeom>
          <a:noFill/>
          <a:ln/>
        </p:spPr>
        <p:txBody>
          <a:bodyPr wrap="square" lIns="0" tIns="0" rIns="0" bIns="0" rtlCol="0" anchor="ctr"/>
          <a:lstStyle/>
          <a:p>
            <a:pPr algn="ctr">
              <a:lnSpc>
                <a:spcPct val="130000"/>
              </a:lnSpc>
            </a:pPr>
            <a:r>
              <a:rPr lang="en-US" sz="1200" dirty="0">
                <a:solidFill>
                  <a:srgbClr val="8D99AE"/>
                </a:solidFill>
                <a:latin typeface="Liter" pitchFamily="34" charset="0"/>
                <a:ea typeface="Liter" pitchFamily="34" charset="-122"/>
                <a:cs typeface="Liter" pitchFamily="34" charset="-120"/>
              </a:rPr>
              <a:t>Orta Karmaşıklık</a:t>
            </a:r>
            <a:endParaRPr lang="en-US" sz="1600" dirty="0"/>
          </a:p>
        </p:txBody>
      </p:sp>
      <p:sp>
        <p:nvSpPr>
          <p:cNvPr id="36" name="Shape 34"/>
          <p:cNvSpPr/>
          <p:nvPr/>
        </p:nvSpPr>
        <p:spPr>
          <a:xfrm>
            <a:off x="4403675" y="2905125"/>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37" name="Text 35"/>
          <p:cNvSpPr/>
          <p:nvPr/>
        </p:nvSpPr>
        <p:spPr>
          <a:xfrm>
            <a:off x="4479875" y="2981325"/>
            <a:ext cx="94297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Performance</a:t>
            </a:r>
            <a:endParaRPr lang="en-US" sz="1600" dirty="0"/>
          </a:p>
        </p:txBody>
      </p:sp>
      <p:sp>
        <p:nvSpPr>
          <p:cNvPr id="38" name="Text 36"/>
          <p:cNvSpPr/>
          <p:nvPr/>
        </p:nvSpPr>
        <p:spPr>
          <a:xfrm>
            <a:off x="7392442" y="2981325"/>
            <a:ext cx="400050" cy="228600"/>
          </a:xfrm>
          <a:prstGeom prst="rect">
            <a:avLst/>
          </a:prstGeom>
          <a:noFill/>
          <a:ln/>
        </p:spPr>
        <p:txBody>
          <a:bodyPr wrap="square" lIns="0" tIns="0" rIns="0" bIns="0" rtlCol="0" anchor="ctr"/>
          <a:lstStyle/>
          <a:p>
            <a:pPr>
              <a:lnSpc>
                <a:spcPct val="130000"/>
              </a:lnSpc>
            </a:pPr>
            <a:r>
              <a:rPr lang="en-US" sz="1200" b="1" dirty="0">
                <a:solidFill>
                  <a:srgbClr val="D4A373"/>
                </a:solidFill>
                <a:latin typeface="Liter" pitchFamily="34" charset="0"/>
                <a:ea typeface="Liter" pitchFamily="34" charset="-122"/>
                <a:cs typeface="Liter" pitchFamily="34" charset="-120"/>
              </a:rPr>
              <a:t>High</a:t>
            </a:r>
            <a:endParaRPr lang="en-US" sz="1600" dirty="0"/>
          </a:p>
        </p:txBody>
      </p:sp>
      <p:sp>
        <p:nvSpPr>
          <p:cNvPr id="39" name="Shape 37"/>
          <p:cNvSpPr/>
          <p:nvPr/>
        </p:nvSpPr>
        <p:spPr>
          <a:xfrm>
            <a:off x="4479875" y="3248025"/>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40" name="Shape 38"/>
          <p:cNvSpPr/>
          <p:nvPr/>
        </p:nvSpPr>
        <p:spPr>
          <a:xfrm>
            <a:off x="4479875" y="3248025"/>
            <a:ext cx="2743200" cy="76200"/>
          </a:xfrm>
          <a:custGeom>
            <a:avLst/>
            <a:gdLst/>
            <a:ahLst/>
            <a:cxnLst/>
            <a:rect l="l" t="t" r="r" b="b"/>
            <a:pathLst>
              <a:path w="2743200" h="76200">
                <a:moveTo>
                  <a:pt x="38100" y="0"/>
                </a:moveTo>
                <a:lnTo>
                  <a:pt x="2705100" y="0"/>
                </a:lnTo>
                <a:cubicBezTo>
                  <a:pt x="2726128" y="0"/>
                  <a:pt x="2743200" y="17072"/>
                  <a:pt x="2743200" y="38100"/>
                </a:cubicBezTo>
                <a:lnTo>
                  <a:pt x="2743200" y="38100"/>
                </a:lnTo>
                <a:cubicBezTo>
                  <a:pt x="2743200" y="59128"/>
                  <a:pt x="2726128" y="76200"/>
                  <a:pt x="2705100" y="76200"/>
                </a:cubicBezTo>
                <a:lnTo>
                  <a:pt x="38100" y="76200"/>
                </a:lnTo>
                <a:cubicBezTo>
                  <a:pt x="17072" y="76200"/>
                  <a:pt x="0" y="59128"/>
                  <a:pt x="0" y="38100"/>
                </a:cubicBezTo>
                <a:lnTo>
                  <a:pt x="0" y="38100"/>
                </a:lnTo>
                <a:cubicBezTo>
                  <a:pt x="0" y="17072"/>
                  <a:pt x="17072" y="0"/>
                  <a:pt x="38100" y="0"/>
                </a:cubicBezTo>
                <a:close/>
              </a:path>
            </a:pathLst>
          </a:custGeom>
          <a:solidFill>
            <a:srgbClr val="D4A373"/>
          </a:solidFill>
          <a:ln/>
        </p:spPr>
      </p:sp>
      <p:sp>
        <p:nvSpPr>
          <p:cNvPr id="41" name="Shape 39"/>
          <p:cNvSpPr/>
          <p:nvPr/>
        </p:nvSpPr>
        <p:spPr>
          <a:xfrm>
            <a:off x="4403675" y="3476625"/>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42" name="Text 40"/>
          <p:cNvSpPr/>
          <p:nvPr/>
        </p:nvSpPr>
        <p:spPr>
          <a:xfrm>
            <a:off x="4479875" y="3552825"/>
            <a:ext cx="84772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Complexity</a:t>
            </a:r>
            <a:endParaRPr lang="en-US" sz="1600" dirty="0"/>
          </a:p>
        </p:txBody>
      </p:sp>
      <p:sp>
        <p:nvSpPr>
          <p:cNvPr id="43" name="Text 41"/>
          <p:cNvSpPr/>
          <p:nvPr/>
        </p:nvSpPr>
        <p:spPr>
          <a:xfrm>
            <a:off x="6758732" y="3552825"/>
            <a:ext cx="1028700" cy="228600"/>
          </a:xfrm>
          <a:prstGeom prst="rect">
            <a:avLst/>
          </a:prstGeom>
          <a:noFill/>
          <a:ln/>
        </p:spPr>
        <p:txBody>
          <a:bodyPr wrap="square" lIns="0" tIns="0" rIns="0" bIns="0" rtlCol="0" anchor="ctr"/>
          <a:lstStyle/>
          <a:p>
            <a:pPr>
              <a:lnSpc>
                <a:spcPct val="130000"/>
              </a:lnSpc>
            </a:pPr>
            <a:r>
              <a:rPr lang="en-US" sz="1200" b="1" dirty="0">
                <a:solidFill>
                  <a:srgbClr val="8D99AE"/>
                </a:solidFill>
                <a:latin typeface="Liter" pitchFamily="34" charset="0"/>
                <a:ea typeface="Liter" pitchFamily="34" charset="-122"/>
                <a:cs typeface="Liter" pitchFamily="34" charset="-120"/>
              </a:rPr>
              <a:t>Medium–High</a:t>
            </a:r>
            <a:endParaRPr lang="en-US" sz="1600" dirty="0"/>
          </a:p>
        </p:txBody>
      </p:sp>
      <p:sp>
        <p:nvSpPr>
          <p:cNvPr id="44" name="Shape 42"/>
          <p:cNvSpPr/>
          <p:nvPr/>
        </p:nvSpPr>
        <p:spPr>
          <a:xfrm>
            <a:off x="4479875" y="3819525"/>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45" name="Shape 43"/>
          <p:cNvSpPr/>
          <p:nvPr/>
        </p:nvSpPr>
        <p:spPr>
          <a:xfrm>
            <a:off x="4479875" y="3819525"/>
            <a:ext cx="2105025" cy="76200"/>
          </a:xfrm>
          <a:custGeom>
            <a:avLst/>
            <a:gdLst/>
            <a:ahLst/>
            <a:cxnLst/>
            <a:rect l="l" t="t" r="r" b="b"/>
            <a:pathLst>
              <a:path w="2105025" h="76200">
                <a:moveTo>
                  <a:pt x="38100" y="0"/>
                </a:moveTo>
                <a:lnTo>
                  <a:pt x="2066925" y="0"/>
                </a:lnTo>
                <a:cubicBezTo>
                  <a:pt x="2087953" y="0"/>
                  <a:pt x="2105025" y="17072"/>
                  <a:pt x="2105025" y="38100"/>
                </a:cubicBezTo>
                <a:lnTo>
                  <a:pt x="2105025" y="38100"/>
                </a:lnTo>
                <a:cubicBezTo>
                  <a:pt x="2105025" y="59128"/>
                  <a:pt x="2087953" y="76200"/>
                  <a:pt x="2066925" y="76200"/>
                </a:cubicBezTo>
                <a:lnTo>
                  <a:pt x="38100" y="76200"/>
                </a:lnTo>
                <a:cubicBezTo>
                  <a:pt x="17072" y="76200"/>
                  <a:pt x="0" y="59128"/>
                  <a:pt x="0" y="38100"/>
                </a:cubicBezTo>
                <a:lnTo>
                  <a:pt x="0" y="38100"/>
                </a:lnTo>
                <a:cubicBezTo>
                  <a:pt x="0" y="17072"/>
                  <a:pt x="17072" y="0"/>
                  <a:pt x="38100" y="0"/>
                </a:cubicBezTo>
                <a:close/>
              </a:path>
            </a:pathLst>
          </a:custGeom>
          <a:solidFill>
            <a:srgbClr val="8D99AE"/>
          </a:solidFill>
          <a:ln/>
        </p:spPr>
      </p:sp>
      <p:sp>
        <p:nvSpPr>
          <p:cNvPr id="46" name="Shape 44"/>
          <p:cNvSpPr/>
          <p:nvPr/>
        </p:nvSpPr>
        <p:spPr>
          <a:xfrm>
            <a:off x="4403675" y="4048125"/>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47" name="Text 45"/>
          <p:cNvSpPr/>
          <p:nvPr/>
        </p:nvSpPr>
        <p:spPr>
          <a:xfrm>
            <a:off x="4479875" y="4124325"/>
            <a:ext cx="1066800"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Interpretability</a:t>
            </a:r>
            <a:endParaRPr lang="en-US" sz="1600" dirty="0"/>
          </a:p>
        </p:txBody>
      </p:sp>
      <p:sp>
        <p:nvSpPr>
          <p:cNvPr id="48" name="Text 46"/>
          <p:cNvSpPr/>
          <p:nvPr/>
        </p:nvSpPr>
        <p:spPr>
          <a:xfrm>
            <a:off x="7426672" y="4124325"/>
            <a:ext cx="361950" cy="228600"/>
          </a:xfrm>
          <a:prstGeom prst="rect">
            <a:avLst/>
          </a:prstGeom>
          <a:noFill/>
          <a:ln/>
        </p:spPr>
        <p:txBody>
          <a:bodyPr wrap="square" lIns="0" tIns="0" rIns="0" bIns="0" rtlCol="0" anchor="ctr"/>
          <a:lstStyle/>
          <a:p>
            <a:pPr>
              <a:lnSpc>
                <a:spcPct val="130000"/>
              </a:lnSpc>
            </a:pPr>
            <a:r>
              <a:rPr lang="en-US" sz="1200" b="1" dirty="0">
                <a:solidFill>
                  <a:srgbClr val="8D99AE"/>
                </a:solidFill>
                <a:latin typeface="Liter" pitchFamily="34" charset="0"/>
                <a:ea typeface="Liter" pitchFamily="34" charset="-122"/>
                <a:cs typeface="Liter" pitchFamily="34" charset="-120"/>
              </a:rPr>
              <a:t>Low</a:t>
            </a:r>
            <a:endParaRPr lang="en-US" sz="1600" dirty="0"/>
          </a:p>
        </p:txBody>
      </p:sp>
      <p:sp>
        <p:nvSpPr>
          <p:cNvPr id="49" name="Shape 47"/>
          <p:cNvSpPr/>
          <p:nvPr/>
        </p:nvSpPr>
        <p:spPr>
          <a:xfrm>
            <a:off x="4479875" y="4391025"/>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50" name="Shape 48"/>
          <p:cNvSpPr/>
          <p:nvPr/>
        </p:nvSpPr>
        <p:spPr>
          <a:xfrm>
            <a:off x="4479875" y="4391025"/>
            <a:ext cx="971550" cy="76200"/>
          </a:xfrm>
          <a:custGeom>
            <a:avLst/>
            <a:gdLst/>
            <a:ahLst/>
            <a:cxnLst/>
            <a:rect l="l" t="t" r="r" b="b"/>
            <a:pathLst>
              <a:path w="971550" h="76200">
                <a:moveTo>
                  <a:pt x="38100" y="0"/>
                </a:moveTo>
                <a:lnTo>
                  <a:pt x="933450" y="0"/>
                </a:lnTo>
                <a:cubicBezTo>
                  <a:pt x="954478" y="0"/>
                  <a:pt x="971550" y="17072"/>
                  <a:pt x="971550" y="38100"/>
                </a:cubicBezTo>
                <a:lnTo>
                  <a:pt x="971550" y="38100"/>
                </a:lnTo>
                <a:cubicBezTo>
                  <a:pt x="971550" y="59128"/>
                  <a:pt x="954478" y="76200"/>
                  <a:pt x="933450" y="76200"/>
                </a:cubicBezTo>
                <a:lnTo>
                  <a:pt x="38100" y="76200"/>
                </a:lnTo>
                <a:cubicBezTo>
                  <a:pt x="17072" y="76200"/>
                  <a:pt x="0" y="59128"/>
                  <a:pt x="0" y="38100"/>
                </a:cubicBezTo>
                <a:lnTo>
                  <a:pt x="0" y="38100"/>
                </a:lnTo>
                <a:cubicBezTo>
                  <a:pt x="0" y="17072"/>
                  <a:pt x="17072" y="0"/>
                  <a:pt x="38100" y="0"/>
                </a:cubicBezTo>
                <a:close/>
              </a:path>
            </a:pathLst>
          </a:custGeom>
          <a:solidFill>
            <a:srgbClr val="8D99AE"/>
          </a:solidFill>
          <a:ln/>
        </p:spPr>
      </p:sp>
      <p:sp>
        <p:nvSpPr>
          <p:cNvPr id="51" name="Shape 49"/>
          <p:cNvSpPr/>
          <p:nvPr/>
        </p:nvSpPr>
        <p:spPr>
          <a:xfrm>
            <a:off x="4408438" y="4624388"/>
            <a:ext cx="3371850" cy="619125"/>
          </a:xfrm>
          <a:custGeom>
            <a:avLst/>
            <a:gdLst/>
            <a:ahLst/>
            <a:cxnLst/>
            <a:rect l="l" t="t" r="r" b="b"/>
            <a:pathLst>
              <a:path w="3371850" h="619125">
                <a:moveTo>
                  <a:pt x="76202" y="0"/>
                </a:moveTo>
                <a:lnTo>
                  <a:pt x="3295648" y="0"/>
                </a:lnTo>
                <a:cubicBezTo>
                  <a:pt x="3337733" y="0"/>
                  <a:pt x="3371850" y="34117"/>
                  <a:pt x="3371850" y="76202"/>
                </a:cubicBezTo>
                <a:lnTo>
                  <a:pt x="3371850" y="542923"/>
                </a:lnTo>
                <a:cubicBezTo>
                  <a:pt x="3371850" y="585008"/>
                  <a:pt x="3337733" y="619125"/>
                  <a:pt x="3295648" y="619125"/>
                </a:cubicBezTo>
                <a:lnTo>
                  <a:pt x="76202" y="619125"/>
                </a:lnTo>
                <a:cubicBezTo>
                  <a:pt x="34117" y="619125"/>
                  <a:pt x="0" y="585008"/>
                  <a:pt x="0" y="542923"/>
                </a:cubicBezTo>
                <a:lnTo>
                  <a:pt x="0" y="76202"/>
                </a:lnTo>
                <a:cubicBezTo>
                  <a:pt x="0" y="34117"/>
                  <a:pt x="34117" y="0"/>
                  <a:pt x="76202" y="0"/>
                </a:cubicBezTo>
                <a:close/>
              </a:path>
            </a:pathLst>
          </a:custGeom>
          <a:solidFill>
            <a:srgbClr val="FB2C36">
              <a:alpha val="20000"/>
            </a:srgbClr>
          </a:solidFill>
          <a:ln w="12700">
            <a:solidFill>
              <a:srgbClr val="FB2C36">
                <a:alpha val="50196"/>
              </a:srgbClr>
            </a:solidFill>
            <a:prstDash val="solid"/>
          </a:ln>
        </p:spPr>
      </p:sp>
      <p:sp>
        <p:nvSpPr>
          <p:cNvPr id="52" name="Text 50"/>
          <p:cNvSpPr/>
          <p:nvPr/>
        </p:nvSpPr>
        <p:spPr>
          <a:xfrm>
            <a:off x="4489400" y="4705350"/>
            <a:ext cx="327660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Overfitting | Aşırı Öğrenme</a:t>
            </a:r>
            <a:endParaRPr lang="en-US" sz="1600" dirty="0"/>
          </a:p>
        </p:txBody>
      </p:sp>
      <p:sp>
        <p:nvSpPr>
          <p:cNvPr id="53" name="Text 51"/>
          <p:cNvSpPr/>
          <p:nvPr/>
        </p:nvSpPr>
        <p:spPr>
          <a:xfrm>
            <a:off x="4489400" y="4933950"/>
            <a:ext cx="3286125" cy="228600"/>
          </a:xfrm>
          <a:prstGeom prst="rect">
            <a:avLst/>
          </a:prstGeom>
          <a:noFill/>
          <a:ln/>
        </p:spPr>
        <p:txBody>
          <a:bodyPr wrap="square" lIns="0" tIns="0" rIns="0" bIns="0" rtlCol="0" anchor="ctr"/>
          <a:lstStyle/>
          <a:p>
            <a:pPr>
              <a:lnSpc>
                <a:spcPct val="130000"/>
              </a:lnSpc>
            </a:pPr>
            <a:r>
              <a:rPr lang="en-US" sz="1200" b="1" dirty="0">
                <a:solidFill>
                  <a:srgbClr val="FF6467"/>
                </a:solidFill>
                <a:latin typeface="Liter" pitchFamily="34" charset="0"/>
                <a:ea typeface="Liter" pitchFamily="34" charset="-122"/>
                <a:cs typeface="Liter" pitchFamily="34" charset="-120"/>
              </a:rPr>
              <a:t>Moderate–High</a:t>
            </a:r>
            <a:endParaRPr lang="en-US" sz="1600" dirty="0"/>
          </a:p>
        </p:txBody>
      </p:sp>
      <p:sp>
        <p:nvSpPr>
          <p:cNvPr id="54" name="Shape 52"/>
          <p:cNvSpPr/>
          <p:nvPr/>
        </p:nvSpPr>
        <p:spPr>
          <a:xfrm>
            <a:off x="4403675" y="5362575"/>
            <a:ext cx="3381375" cy="952500"/>
          </a:xfrm>
          <a:custGeom>
            <a:avLst/>
            <a:gdLst/>
            <a:ahLst/>
            <a:cxnLst/>
            <a:rect l="l" t="t" r="r" b="b"/>
            <a:pathLst>
              <a:path w="3381375" h="952500">
                <a:moveTo>
                  <a:pt x="76200" y="0"/>
                </a:moveTo>
                <a:lnTo>
                  <a:pt x="3305175" y="0"/>
                </a:lnTo>
                <a:cubicBezTo>
                  <a:pt x="3347231" y="0"/>
                  <a:pt x="3381375" y="34144"/>
                  <a:pt x="3381375" y="76200"/>
                </a:cubicBezTo>
                <a:lnTo>
                  <a:pt x="3381375" y="876300"/>
                </a:lnTo>
                <a:cubicBezTo>
                  <a:pt x="3381375" y="918356"/>
                  <a:pt x="3347231" y="952500"/>
                  <a:pt x="3305175" y="952500"/>
                </a:cubicBezTo>
                <a:lnTo>
                  <a:pt x="76200" y="952500"/>
                </a:lnTo>
                <a:cubicBezTo>
                  <a:pt x="34144" y="952500"/>
                  <a:pt x="0" y="918356"/>
                  <a:pt x="0" y="876300"/>
                </a:cubicBezTo>
                <a:lnTo>
                  <a:pt x="0" y="76200"/>
                </a:lnTo>
                <a:cubicBezTo>
                  <a:pt x="0" y="34144"/>
                  <a:pt x="34144" y="0"/>
                  <a:pt x="76200" y="0"/>
                </a:cubicBezTo>
                <a:close/>
              </a:path>
            </a:pathLst>
          </a:custGeom>
          <a:solidFill>
            <a:srgbClr val="8D99AE">
              <a:alpha val="20000"/>
            </a:srgbClr>
          </a:solidFill>
          <a:ln/>
        </p:spPr>
      </p:sp>
      <p:sp>
        <p:nvSpPr>
          <p:cNvPr id="55" name="Text 53"/>
          <p:cNvSpPr/>
          <p:nvPr/>
        </p:nvSpPr>
        <p:spPr>
          <a:xfrm>
            <a:off x="4484638" y="5476875"/>
            <a:ext cx="3219450" cy="381000"/>
          </a:xfrm>
          <a:prstGeom prst="rect">
            <a:avLst/>
          </a:prstGeom>
          <a:noFill/>
          <a:ln/>
        </p:spPr>
        <p:txBody>
          <a:bodyPr wrap="square" lIns="0" tIns="0" rIns="0" bIns="0" rtlCol="0" anchor="ctr"/>
          <a:lstStyle/>
          <a:p>
            <a:pPr algn="ctr">
              <a:lnSpc>
                <a:spcPct val="120000"/>
              </a:lnSpc>
            </a:pPr>
            <a:r>
              <a:rPr lang="en-US" sz="1050" dirty="0">
                <a:solidFill>
                  <a:srgbClr val="EDF2F4"/>
                </a:solidFill>
                <a:latin typeface="Liter" pitchFamily="34" charset="0"/>
                <a:ea typeface="Liter" pitchFamily="34" charset="-122"/>
                <a:cs typeface="Liter" pitchFamily="34" charset="-120"/>
              </a:rPr>
              <a:t>High performance in classification, but overfitted in regression (gap=0.13).</a:t>
            </a:r>
            <a:endParaRPr lang="en-US" sz="1600" dirty="0"/>
          </a:p>
        </p:txBody>
      </p:sp>
      <p:sp>
        <p:nvSpPr>
          <p:cNvPr id="56" name="Text 54"/>
          <p:cNvSpPr/>
          <p:nvPr/>
        </p:nvSpPr>
        <p:spPr>
          <a:xfrm>
            <a:off x="4489400" y="5895975"/>
            <a:ext cx="3209925"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Liter" pitchFamily="34" charset="0"/>
                <a:ea typeface="Liter" pitchFamily="34" charset="-122"/>
                <a:cs typeface="Liter" pitchFamily="34" charset="-120"/>
              </a:rPr>
              <a:t>Sınıflandırmada yüksek performans, ama regresyonda aşırı öğrendi.</a:t>
            </a:r>
            <a:endParaRPr lang="en-US" sz="1600" dirty="0"/>
          </a:p>
        </p:txBody>
      </p:sp>
      <p:sp>
        <p:nvSpPr>
          <p:cNvPr id="57" name="Shape 55"/>
          <p:cNvSpPr/>
          <p:nvPr/>
        </p:nvSpPr>
        <p:spPr>
          <a:xfrm>
            <a:off x="8107263" y="1376363"/>
            <a:ext cx="3695700" cy="5095875"/>
          </a:xfrm>
          <a:custGeom>
            <a:avLst/>
            <a:gdLst/>
            <a:ahLst/>
            <a:cxnLst/>
            <a:rect l="l" t="t" r="r" b="b"/>
            <a:pathLst>
              <a:path w="3695700" h="5095875">
                <a:moveTo>
                  <a:pt x="114308" y="0"/>
                </a:moveTo>
                <a:lnTo>
                  <a:pt x="3581392" y="0"/>
                </a:lnTo>
                <a:cubicBezTo>
                  <a:pt x="3644523" y="0"/>
                  <a:pt x="3695700" y="51177"/>
                  <a:pt x="3695700" y="114308"/>
                </a:cubicBezTo>
                <a:lnTo>
                  <a:pt x="3695700" y="4981567"/>
                </a:lnTo>
                <a:cubicBezTo>
                  <a:pt x="3695700" y="5044698"/>
                  <a:pt x="3644523" y="5095875"/>
                  <a:pt x="3581392" y="5095875"/>
                </a:cubicBezTo>
                <a:lnTo>
                  <a:pt x="114308" y="5095875"/>
                </a:lnTo>
                <a:cubicBezTo>
                  <a:pt x="51177" y="5095875"/>
                  <a:pt x="0" y="5044698"/>
                  <a:pt x="0" y="4981567"/>
                </a:cubicBezTo>
                <a:lnTo>
                  <a:pt x="0" y="114308"/>
                </a:lnTo>
                <a:cubicBezTo>
                  <a:pt x="0" y="51220"/>
                  <a:pt x="51220" y="0"/>
                  <a:pt x="114308" y="0"/>
                </a:cubicBezTo>
                <a:close/>
              </a:path>
            </a:pathLst>
          </a:custGeom>
          <a:gradFill rotWithShape="1" flip="none">
            <a:gsLst>
              <a:gs pos="0">
                <a:srgbClr val="D4A373">
                  <a:alpha val="30000"/>
                </a:srgbClr>
              </a:gs>
              <a:gs pos="100000">
                <a:srgbClr val="1A1D21">
                  <a:alpha val="60000"/>
                </a:srgbClr>
              </a:gs>
            </a:gsLst>
            <a:lin ang="2700000" scaled="1"/>
          </a:gradFill>
          <a:ln w="12700">
            <a:solidFill>
              <a:srgbClr val="D4A373">
                <a:alpha val="50196"/>
              </a:srgbClr>
            </a:solidFill>
            <a:prstDash val="solid"/>
          </a:ln>
        </p:spPr>
      </p:sp>
      <p:sp>
        <p:nvSpPr>
          <p:cNvPr id="58" name="Shape 56"/>
          <p:cNvSpPr/>
          <p:nvPr/>
        </p:nvSpPr>
        <p:spPr>
          <a:xfrm>
            <a:off x="9651950" y="1533525"/>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D4A373">
              <a:alpha val="30196"/>
            </a:srgbClr>
          </a:solidFill>
          <a:ln/>
        </p:spPr>
      </p:sp>
      <p:sp>
        <p:nvSpPr>
          <p:cNvPr id="59" name="Shape 57"/>
          <p:cNvSpPr/>
          <p:nvPr/>
        </p:nvSpPr>
        <p:spPr>
          <a:xfrm>
            <a:off x="9816257" y="1695450"/>
            <a:ext cx="285750" cy="285750"/>
          </a:xfrm>
          <a:custGeom>
            <a:avLst/>
            <a:gdLst/>
            <a:ahLst/>
            <a:cxnLst/>
            <a:rect l="l" t="t" r="r" b="b"/>
            <a:pathLst>
              <a:path w="285750" h="285750">
                <a:moveTo>
                  <a:pt x="71438" y="178594"/>
                </a:moveTo>
                <a:lnTo>
                  <a:pt x="13674" y="178594"/>
                </a:lnTo>
                <a:cubicBezTo>
                  <a:pt x="-223" y="178594"/>
                  <a:pt x="-8762" y="163469"/>
                  <a:pt x="-1619" y="151526"/>
                </a:cubicBezTo>
                <a:lnTo>
                  <a:pt x="27905" y="102301"/>
                </a:lnTo>
                <a:cubicBezTo>
                  <a:pt x="32761" y="94208"/>
                  <a:pt x="41467" y="89297"/>
                  <a:pt x="50899" y="89297"/>
                </a:cubicBezTo>
                <a:lnTo>
                  <a:pt x="103919" y="89297"/>
                </a:lnTo>
                <a:cubicBezTo>
                  <a:pt x="146391" y="17357"/>
                  <a:pt x="209736" y="13729"/>
                  <a:pt x="252096" y="19924"/>
                </a:cubicBezTo>
                <a:cubicBezTo>
                  <a:pt x="259240" y="20985"/>
                  <a:pt x="264821" y="26566"/>
                  <a:pt x="265826" y="33654"/>
                </a:cubicBezTo>
                <a:cubicBezTo>
                  <a:pt x="272021" y="76014"/>
                  <a:pt x="268393" y="139359"/>
                  <a:pt x="196453" y="181831"/>
                </a:cubicBezTo>
                <a:lnTo>
                  <a:pt x="196453" y="234851"/>
                </a:lnTo>
                <a:cubicBezTo>
                  <a:pt x="196453" y="244283"/>
                  <a:pt x="191542" y="252989"/>
                  <a:pt x="183449" y="257845"/>
                </a:cubicBezTo>
                <a:lnTo>
                  <a:pt x="134224" y="287369"/>
                </a:lnTo>
                <a:cubicBezTo>
                  <a:pt x="122337" y="294512"/>
                  <a:pt x="107156" y="285917"/>
                  <a:pt x="107156" y="272076"/>
                </a:cubicBezTo>
                <a:lnTo>
                  <a:pt x="107156" y="214313"/>
                </a:lnTo>
                <a:cubicBezTo>
                  <a:pt x="107156" y="194611"/>
                  <a:pt x="91139" y="178594"/>
                  <a:pt x="71438" y="178594"/>
                </a:cubicBezTo>
                <a:lnTo>
                  <a:pt x="71382" y="178594"/>
                </a:lnTo>
                <a:close/>
                <a:moveTo>
                  <a:pt x="223242" y="89297"/>
                </a:moveTo>
                <a:cubicBezTo>
                  <a:pt x="223242" y="74512"/>
                  <a:pt x="211238" y="62508"/>
                  <a:pt x="196453" y="62508"/>
                </a:cubicBezTo>
                <a:cubicBezTo>
                  <a:pt x="181668" y="62508"/>
                  <a:pt x="169664" y="74512"/>
                  <a:pt x="169664" y="89297"/>
                </a:cubicBezTo>
                <a:cubicBezTo>
                  <a:pt x="169664" y="104082"/>
                  <a:pt x="181668" y="116086"/>
                  <a:pt x="196453" y="116086"/>
                </a:cubicBezTo>
                <a:cubicBezTo>
                  <a:pt x="211238" y="116086"/>
                  <a:pt x="223242" y="104082"/>
                  <a:pt x="223242" y="89297"/>
                </a:cubicBezTo>
                <a:close/>
              </a:path>
            </a:pathLst>
          </a:custGeom>
          <a:solidFill>
            <a:srgbClr val="D4A373"/>
          </a:solidFill>
          <a:ln/>
        </p:spPr>
      </p:sp>
      <p:sp>
        <p:nvSpPr>
          <p:cNvPr id="60" name="Text 58"/>
          <p:cNvSpPr/>
          <p:nvPr/>
        </p:nvSpPr>
        <p:spPr>
          <a:xfrm>
            <a:off x="8216801" y="2257425"/>
            <a:ext cx="3476625"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HGB</a:t>
            </a:r>
            <a:endParaRPr lang="en-US" sz="1600" dirty="0"/>
          </a:p>
        </p:txBody>
      </p:sp>
      <p:sp>
        <p:nvSpPr>
          <p:cNvPr id="61" name="Text 59"/>
          <p:cNvSpPr/>
          <p:nvPr/>
        </p:nvSpPr>
        <p:spPr>
          <a:xfrm>
            <a:off x="8226326" y="2524125"/>
            <a:ext cx="3457575" cy="228600"/>
          </a:xfrm>
          <a:prstGeom prst="rect">
            <a:avLst/>
          </a:prstGeom>
          <a:noFill/>
          <a:ln/>
        </p:spPr>
        <p:txBody>
          <a:bodyPr wrap="square" lIns="0" tIns="0" rIns="0" bIns="0" rtlCol="0" anchor="ctr"/>
          <a:lstStyle/>
          <a:p>
            <a:pPr algn="ctr">
              <a:lnSpc>
                <a:spcPct val="130000"/>
              </a:lnSpc>
            </a:pPr>
            <a:r>
              <a:rPr lang="en-US" sz="1200" dirty="0">
                <a:solidFill>
                  <a:srgbClr val="8D99AE"/>
                </a:solidFill>
                <a:latin typeface="Liter" pitchFamily="34" charset="0"/>
                <a:ea typeface="Liter" pitchFamily="34" charset="-122"/>
                <a:cs typeface="Liter" pitchFamily="34" charset="-120"/>
              </a:rPr>
              <a:t>Gelişmiş Model</a:t>
            </a:r>
            <a:endParaRPr lang="en-US" sz="1600" dirty="0"/>
          </a:p>
        </p:txBody>
      </p:sp>
      <p:sp>
        <p:nvSpPr>
          <p:cNvPr id="62" name="Shape 60"/>
          <p:cNvSpPr/>
          <p:nvPr/>
        </p:nvSpPr>
        <p:spPr>
          <a:xfrm>
            <a:off x="8264426" y="2914650"/>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63" name="Text 61"/>
          <p:cNvSpPr/>
          <p:nvPr/>
        </p:nvSpPr>
        <p:spPr>
          <a:xfrm>
            <a:off x="8340626" y="2990850"/>
            <a:ext cx="94297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Performance</a:t>
            </a:r>
            <a:endParaRPr lang="en-US" sz="1600" dirty="0"/>
          </a:p>
        </p:txBody>
      </p:sp>
      <p:sp>
        <p:nvSpPr>
          <p:cNvPr id="64" name="Text 62"/>
          <p:cNvSpPr/>
          <p:nvPr/>
        </p:nvSpPr>
        <p:spPr>
          <a:xfrm>
            <a:off x="11045428" y="2990850"/>
            <a:ext cx="600075" cy="228600"/>
          </a:xfrm>
          <a:prstGeom prst="rect">
            <a:avLst/>
          </a:prstGeom>
          <a:noFill/>
          <a:ln/>
        </p:spPr>
        <p:txBody>
          <a:bodyPr wrap="square" lIns="0" tIns="0" rIns="0" bIns="0" rtlCol="0" anchor="ctr"/>
          <a:lstStyle/>
          <a:p>
            <a:pPr>
              <a:lnSpc>
                <a:spcPct val="130000"/>
              </a:lnSpc>
            </a:pPr>
            <a:r>
              <a:rPr lang="en-US" sz="1200" b="1" dirty="0">
                <a:solidFill>
                  <a:srgbClr val="D4A373"/>
                </a:solidFill>
                <a:latin typeface="Liter" pitchFamily="34" charset="0"/>
                <a:ea typeface="Liter" pitchFamily="34" charset="-122"/>
                <a:cs typeface="Liter" pitchFamily="34" charset="-120"/>
              </a:rPr>
              <a:t>Highest</a:t>
            </a:r>
            <a:endParaRPr lang="en-US" sz="1600" dirty="0"/>
          </a:p>
        </p:txBody>
      </p:sp>
      <p:sp>
        <p:nvSpPr>
          <p:cNvPr id="65" name="Shape 63"/>
          <p:cNvSpPr/>
          <p:nvPr/>
        </p:nvSpPr>
        <p:spPr>
          <a:xfrm>
            <a:off x="8340626" y="3257550"/>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66" name="Shape 64"/>
          <p:cNvSpPr/>
          <p:nvPr/>
        </p:nvSpPr>
        <p:spPr>
          <a:xfrm>
            <a:off x="8340626" y="3257550"/>
            <a:ext cx="3067050" cy="76200"/>
          </a:xfrm>
          <a:custGeom>
            <a:avLst/>
            <a:gdLst/>
            <a:ahLst/>
            <a:cxnLst/>
            <a:rect l="l" t="t" r="r" b="b"/>
            <a:pathLst>
              <a:path w="3067050" h="76200">
                <a:moveTo>
                  <a:pt x="38100" y="0"/>
                </a:moveTo>
                <a:lnTo>
                  <a:pt x="3028950" y="0"/>
                </a:lnTo>
                <a:cubicBezTo>
                  <a:pt x="3049978" y="0"/>
                  <a:pt x="3067050" y="17072"/>
                  <a:pt x="3067050" y="38100"/>
                </a:cubicBezTo>
                <a:lnTo>
                  <a:pt x="3067050" y="38100"/>
                </a:lnTo>
                <a:cubicBezTo>
                  <a:pt x="3067050" y="59128"/>
                  <a:pt x="3049978" y="76200"/>
                  <a:pt x="3028950" y="76200"/>
                </a:cubicBezTo>
                <a:lnTo>
                  <a:pt x="38100" y="76200"/>
                </a:lnTo>
                <a:cubicBezTo>
                  <a:pt x="17072" y="76200"/>
                  <a:pt x="0" y="59128"/>
                  <a:pt x="0" y="38100"/>
                </a:cubicBezTo>
                <a:lnTo>
                  <a:pt x="0" y="38100"/>
                </a:lnTo>
                <a:cubicBezTo>
                  <a:pt x="0" y="17072"/>
                  <a:pt x="17072" y="0"/>
                  <a:pt x="38100" y="0"/>
                </a:cubicBezTo>
                <a:close/>
              </a:path>
            </a:pathLst>
          </a:custGeom>
          <a:solidFill>
            <a:srgbClr val="D4A373"/>
          </a:solidFill>
          <a:ln/>
        </p:spPr>
      </p:sp>
      <p:sp>
        <p:nvSpPr>
          <p:cNvPr id="67" name="Shape 65"/>
          <p:cNvSpPr/>
          <p:nvPr/>
        </p:nvSpPr>
        <p:spPr>
          <a:xfrm>
            <a:off x="8264426" y="3486150"/>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68" name="Text 66"/>
          <p:cNvSpPr/>
          <p:nvPr/>
        </p:nvSpPr>
        <p:spPr>
          <a:xfrm>
            <a:off x="8340626" y="3562350"/>
            <a:ext cx="84772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Complexity</a:t>
            </a:r>
            <a:endParaRPr lang="en-US" sz="1600" dirty="0"/>
          </a:p>
        </p:txBody>
      </p:sp>
      <p:sp>
        <p:nvSpPr>
          <p:cNvPr id="69" name="Text 67"/>
          <p:cNvSpPr/>
          <p:nvPr/>
        </p:nvSpPr>
        <p:spPr>
          <a:xfrm>
            <a:off x="11253341" y="3562350"/>
            <a:ext cx="400050" cy="228600"/>
          </a:xfrm>
          <a:prstGeom prst="rect">
            <a:avLst/>
          </a:prstGeom>
          <a:noFill/>
          <a:ln/>
        </p:spPr>
        <p:txBody>
          <a:bodyPr wrap="square" lIns="0" tIns="0" rIns="0" bIns="0" rtlCol="0" anchor="ctr"/>
          <a:lstStyle/>
          <a:p>
            <a:pPr>
              <a:lnSpc>
                <a:spcPct val="130000"/>
              </a:lnSpc>
            </a:pPr>
            <a:r>
              <a:rPr lang="en-US" sz="1200" b="1" dirty="0">
                <a:solidFill>
                  <a:srgbClr val="D4A373"/>
                </a:solidFill>
                <a:latin typeface="Liter" pitchFamily="34" charset="0"/>
                <a:ea typeface="Liter" pitchFamily="34" charset="-122"/>
                <a:cs typeface="Liter" pitchFamily="34" charset="-120"/>
              </a:rPr>
              <a:t>High</a:t>
            </a:r>
            <a:endParaRPr lang="en-US" sz="1600" dirty="0"/>
          </a:p>
        </p:txBody>
      </p:sp>
      <p:sp>
        <p:nvSpPr>
          <p:cNvPr id="70" name="Shape 68"/>
          <p:cNvSpPr/>
          <p:nvPr/>
        </p:nvSpPr>
        <p:spPr>
          <a:xfrm>
            <a:off x="8340626" y="3829050"/>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71" name="Shape 69"/>
          <p:cNvSpPr/>
          <p:nvPr/>
        </p:nvSpPr>
        <p:spPr>
          <a:xfrm>
            <a:off x="8340626" y="3829050"/>
            <a:ext cx="2743200" cy="76200"/>
          </a:xfrm>
          <a:custGeom>
            <a:avLst/>
            <a:gdLst/>
            <a:ahLst/>
            <a:cxnLst/>
            <a:rect l="l" t="t" r="r" b="b"/>
            <a:pathLst>
              <a:path w="2743200" h="76200">
                <a:moveTo>
                  <a:pt x="38100" y="0"/>
                </a:moveTo>
                <a:lnTo>
                  <a:pt x="2705100" y="0"/>
                </a:lnTo>
                <a:cubicBezTo>
                  <a:pt x="2726128" y="0"/>
                  <a:pt x="2743200" y="17072"/>
                  <a:pt x="2743200" y="38100"/>
                </a:cubicBezTo>
                <a:lnTo>
                  <a:pt x="2743200" y="38100"/>
                </a:lnTo>
                <a:cubicBezTo>
                  <a:pt x="2743200" y="59128"/>
                  <a:pt x="2726128" y="76200"/>
                  <a:pt x="2705100" y="76200"/>
                </a:cubicBezTo>
                <a:lnTo>
                  <a:pt x="38100" y="76200"/>
                </a:lnTo>
                <a:cubicBezTo>
                  <a:pt x="17072" y="76200"/>
                  <a:pt x="0" y="59128"/>
                  <a:pt x="0" y="38100"/>
                </a:cubicBezTo>
                <a:lnTo>
                  <a:pt x="0" y="38100"/>
                </a:lnTo>
                <a:cubicBezTo>
                  <a:pt x="0" y="17072"/>
                  <a:pt x="17072" y="0"/>
                  <a:pt x="38100" y="0"/>
                </a:cubicBezTo>
                <a:close/>
              </a:path>
            </a:pathLst>
          </a:custGeom>
          <a:solidFill>
            <a:srgbClr val="D4A373"/>
          </a:solidFill>
          <a:ln/>
        </p:spPr>
      </p:sp>
      <p:sp>
        <p:nvSpPr>
          <p:cNvPr id="72" name="Shape 70"/>
          <p:cNvSpPr/>
          <p:nvPr/>
        </p:nvSpPr>
        <p:spPr>
          <a:xfrm>
            <a:off x="8264426" y="4057650"/>
            <a:ext cx="3381375" cy="495300"/>
          </a:xfrm>
          <a:custGeom>
            <a:avLst/>
            <a:gdLst/>
            <a:ahLst/>
            <a:cxnLst/>
            <a:rect l="l" t="t" r="r" b="b"/>
            <a:pathLst>
              <a:path w="3381375" h="495300">
                <a:moveTo>
                  <a:pt x="76202" y="0"/>
                </a:moveTo>
                <a:lnTo>
                  <a:pt x="3305173" y="0"/>
                </a:lnTo>
                <a:cubicBezTo>
                  <a:pt x="3347258" y="0"/>
                  <a:pt x="3381375" y="34117"/>
                  <a:pt x="3381375" y="76202"/>
                </a:cubicBezTo>
                <a:lnTo>
                  <a:pt x="3381375" y="419098"/>
                </a:lnTo>
                <a:cubicBezTo>
                  <a:pt x="3381375" y="461183"/>
                  <a:pt x="3347258" y="495300"/>
                  <a:pt x="3305173" y="495300"/>
                </a:cubicBezTo>
                <a:lnTo>
                  <a:pt x="76202" y="495300"/>
                </a:lnTo>
                <a:cubicBezTo>
                  <a:pt x="34117" y="495300"/>
                  <a:pt x="0" y="461183"/>
                  <a:pt x="0" y="419098"/>
                </a:cubicBezTo>
                <a:lnTo>
                  <a:pt x="0" y="76202"/>
                </a:lnTo>
                <a:cubicBezTo>
                  <a:pt x="0" y="34117"/>
                  <a:pt x="34117" y="0"/>
                  <a:pt x="76202" y="0"/>
                </a:cubicBezTo>
                <a:close/>
              </a:path>
            </a:pathLst>
          </a:custGeom>
          <a:solidFill>
            <a:srgbClr val="1A1D21">
              <a:alpha val="60000"/>
            </a:srgbClr>
          </a:solidFill>
          <a:ln/>
        </p:spPr>
      </p:sp>
      <p:sp>
        <p:nvSpPr>
          <p:cNvPr id="73" name="Text 71"/>
          <p:cNvSpPr/>
          <p:nvPr/>
        </p:nvSpPr>
        <p:spPr>
          <a:xfrm>
            <a:off x="8340626" y="4133850"/>
            <a:ext cx="1066800"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Liter" pitchFamily="34" charset="0"/>
                <a:ea typeface="Liter" pitchFamily="34" charset="-122"/>
                <a:cs typeface="Liter" pitchFamily="34" charset="-120"/>
              </a:rPr>
              <a:t>Interpretability</a:t>
            </a:r>
            <a:endParaRPr lang="en-US" sz="1600" dirty="0"/>
          </a:p>
        </p:txBody>
      </p:sp>
      <p:sp>
        <p:nvSpPr>
          <p:cNvPr id="74" name="Text 72"/>
          <p:cNvSpPr/>
          <p:nvPr/>
        </p:nvSpPr>
        <p:spPr>
          <a:xfrm>
            <a:off x="10942439" y="4133850"/>
            <a:ext cx="704850" cy="228600"/>
          </a:xfrm>
          <a:prstGeom prst="rect">
            <a:avLst/>
          </a:prstGeom>
          <a:noFill/>
          <a:ln/>
        </p:spPr>
        <p:txBody>
          <a:bodyPr wrap="square" lIns="0" tIns="0" rIns="0" bIns="0" rtlCol="0" anchor="ctr"/>
          <a:lstStyle/>
          <a:p>
            <a:pPr>
              <a:lnSpc>
                <a:spcPct val="130000"/>
              </a:lnSpc>
            </a:pPr>
            <a:r>
              <a:rPr lang="en-US" sz="1200" b="1" dirty="0">
                <a:solidFill>
                  <a:srgbClr val="FF6467"/>
                </a:solidFill>
                <a:latin typeface="Liter" pitchFamily="34" charset="0"/>
                <a:ea typeface="Liter" pitchFamily="34" charset="-122"/>
                <a:cs typeface="Liter" pitchFamily="34" charset="-120"/>
              </a:rPr>
              <a:t>Very Low</a:t>
            </a:r>
            <a:endParaRPr lang="en-US" sz="1600" dirty="0"/>
          </a:p>
        </p:txBody>
      </p:sp>
      <p:sp>
        <p:nvSpPr>
          <p:cNvPr id="75" name="Shape 73"/>
          <p:cNvSpPr/>
          <p:nvPr/>
        </p:nvSpPr>
        <p:spPr>
          <a:xfrm>
            <a:off x="8340626" y="4400550"/>
            <a:ext cx="3228975" cy="76200"/>
          </a:xfrm>
          <a:custGeom>
            <a:avLst/>
            <a:gdLst/>
            <a:ahLst/>
            <a:cxnLst/>
            <a:rect l="l" t="t" r="r" b="b"/>
            <a:pathLst>
              <a:path w="3228975" h="76200">
                <a:moveTo>
                  <a:pt x="38100" y="0"/>
                </a:moveTo>
                <a:lnTo>
                  <a:pt x="3190875" y="0"/>
                </a:lnTo>
                <a:cubicBezTo>
                  <a:pt x="3211903" y="0"/>
                  <a:pt x="3228975" y="17072"/>
                  <a:pt x="3228975" y="38100"/>
                </a:cubicBezTo>
                <a:lnTo>
                  <a:pt x="3228975" y="38100"/>
                </a:lnTo>
                <a:cubicBezTo>
                  <a:pt x="3228975" y="59128"/>
                  <a:pt x="3211903" y="76200"/>
                  <a:pt x="3190875" y="76200"/>
                </a:cubicBezTo>
                <a:lnTo>
                  <a:pt x="38100" y="76200"/>
                </a:lnTo>
                <a:cubicBezTo>
                  <a:pt x="17072" y="76200"/>
                  <a:pt x="0" y="59128"/>
                  <a:pt x="0" y="38100"/>
                </a:cubicBezTo>
                <a:lnTo>
                  <a:pt x="0" y="38100"/>
                </a:lnTo>
                <a:cubicBezTo>
                  <a:pt x="0" y="17072"/>
                  <a:pt x="17072" y="0"/>
                  <a:pt x="38100" y="0"/>
                </a:cubicBezTo>
                <a:close/>
              </a:path>
            </a:pathLst>
          </a:custGeom>
          <a:solidFill>
            <a:srgbClr val="1A1D21"/>
          </a:solidFill>
          <a:ln/>
        </p:spPr>
      </p:sp>
      <p:sp>
        <p:nvSpPr>
          <p:cNvPr id="76" name="Shape 74"/>
          <p:cNvSpPr/>
          <p:nvPr/>
        </p:nvSpPr>
        <p:spPr>
          <a:xfrm>
            <a:off x="8340626" y="4400550"/>
            <a:ext cx="485775" cy="76200"/>
          </a:xfrm>
          <a:custGeom>
            <a:avLst/>
            <a:gdLst/>
            <a:ahLst/>
            <a:cxnLst/>
            <a:rect l="l" t="t" r="r" b="b"/>
            <a:pathLst>
              <a:path w="485775" h="76200">
                <a:moveTo>
                  <a:pt x="38100" y="0"/>
                </a:moveTo>
                <a:lnTo>
                  <a:pt x="447675" y="0"/>
                </a:lnTo>
                <a:cubicBezTo>
                  <a:pt x="468703" y="0"/>
                  <a:pt x="485775" y="17072"/>
                  <a:pt x="485775" y="38100"/>
                </a:cubicBezTo>
                <a:lnTo>
                  <a:pt x="485775" y="38100"/>
                </a:lnTo>
                <a:cubicBezTo>
                  <a:pt x="485775" y="59128"/>
                  <a:pt x="468703" y="76200"/>
                  <a:pt x="447675" y="76200"/>
                </a:cubicBezTo>
                <a:lnTo>
                  <a:pt x="38100" y="76200"/>
                </a:lnTo>
                <a:cubicBezTo>
                  <a:pt x="17072" y="76200"/>
                  <a:pt x="0" y="59128"/>
                  <a:pt x="0" y="38100"/>
                </a:cubicBezTo>
                <a:lnTo>
                  <a:pt x="0" y="38100"/>
                </a:lnTo>
                <a:cubicBezTo>
                  <a:pt x="0" y="17072"/>
                  <a:pt x="17072" y="0"/>
                  <a:pt x="38100" y="0"/>
                </a:cubicBezTo>
                <a:close/>
              </a:path>
            </a:pathLst>
          </a:custGeom>
          <a:solidFill>
            <a:srgbClr val="FF6467"/>
          </a:solidFill>
          <a:ln/>
        </p:spPr>
      </p:sp>
      <p:sp>
        <p:nvSpPr>
          <p:cNvPr id="77" name="Shape 75"/>
          <p:cNvSpPr/>
          <p:nvPr/>
        </p:nvSpPr>
        <p:spPr>
          <a:xfrm>
            <a:off x="8264426" y="4629150"/>
            <a:ext cx="3381375" cy="609600"/>
          </a:xfrm>
          <a:custGeom>
            <a:avLst/>
            <a:gdLst/>
            <a:ahLst/>
            <a:cxnLst/>
            <a:rect l="l" t="t" r="r" b="b"/>
            <a:pathLst>
              <a:path w="3381375" h="609600">
                <a:moveTo>
                  <a:pt x="76200" y="0"/>
                </a:moveTo>
                <a:lnTo>
                  <a:pt x="3305175" y="0"/>
                </a:lnTo>
                <a:cubicBezTo>
                  <a:pt x="3347231" y="0"/>
                  <a:pt x="3381375" y="34144"/>
                  <a:pt x="3381375" y="76200"/>
                </a:cubicBezTo>
                <a:lnTo>
                  <a:pt x="3381375" y="533400"/>
                </a:lnTo>
                <a:cubicBezTo>
                  <a:pt x="3381375" y="575456"/>
                  <a:pt x="3347231" y="609600"/>
                  <a:pt x="3305175" y="609600"/>
                </a:cubicBezTo>
                <a:lnTo>
                  <a:pt x="76200" y="609600"/>
                </a:lnTo>
                <a:cubicBezTo>
                  <a:pt x="34144" y="609600"/>
                  <a:pt x="0" y="575456"/>
                  <a:pt x="0" y="533400"/>
                </a:cubicBezTo>
                <a:lnTo>
                  <a:pt x="0" y="76200"/>
                </a:lnTo>
                <a:cubicBezTo>
                  <a:pt x="0" y="34144"/>
                  <a:pt x="34144" y="0"/>
                  <a:pt x="76200" y="0"/>
                </a:cubicBezTo>
                <a:close/>
              </a:path>
            </a:pathLst>
          </a:custGeom>
          <a:solidFill>
            <a:srgbClr val="4A6C8C">
              <a:alpha val="20000"/>
            </a:srgbClr>
          </a:solidFill>
          <a:ln/>
        </p:spPr>
      </p:sp>
      <p:sp>
        <p:nvSpPr>
          <p:cNvPr id="78" name="Text 76"/>
          <p:cNvSpPr/>
          <p:nvPr/>
        </p:nvSpPr>
        <p:spPr>
          <a:xfrm>
            <a:off x="8340626" y="4705350"/>
            <a:ext cx="32956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Liter" pitchFamily="34" charset="0"/>
                <a:ea typeface="Liter" pitchFamily="34" charset="-122"/>
                <a:cs typeface="Liter" pitchFamily="34" charset="-120"/>
              </a:rPr>
              <a:t>Overfitting | Aşırı Öğrenme</a:t>
            </a:r>
            <a:endParaRPr lang="en-US" sz="1600" dirty="0"/>
          </a:p>
        </p:txBody>
      </p:sp>
      <p:sp>
        <p:nvSpPr>
          <p:cNvPr id="79" name="Text 77"/>
          <p:cNvSpPr/>
          <p:nvPr/>
        </p:nvSpPr>
        <p:spPr>
          <a:xfrm>
            <a:off x="8340626" y="4933950"/>
            <a:ext cx="3305175" cy="228600"/>
          </a:xfrm>
          <a:prstGeom prst="rect">
            <a:avLst/>
          </a:prstGeom>
          <a:noFill/>
          <a:ln/>
        </p:spPr>
        <p:txBody>
          <a:bodyPr wrap="square" lIns="0" tIns="0" rIns="0" bIns="0" rtlCol="0" anchor="ctr"/>
          <a:lstStyle/>
          <a:p>
            <a:pPr>
              <a:lnSpc>
                <a:spcPct val="130000"/>
              </a:lnSpc>
            </a:pPr>
            <a:r>
              <a:rPr lang="en-US" sz="1200" b="1" dirty="0">
                <a:solidFill>
                  <a:srgbClr val="4A6C8C"/>
                </a:solidFill>
                <a:latin typeface="Liter" pitchFamily="34" charset="0"/>
                <a:ea typeface="Liter" pitchFamily="34" charset="-122"/>
                <a:cs typeface="Liter" pitchFamily="34" charset="-120"/>
              </a:rPr>
              <a:t>Controlled | Kontrollü</a:t>
            </a:r>
            <a:endParaRPr lang="en-US" sz="1600" dirty="0"/>
          </a:p>
        </p:txBody>
      </p:sp>
      <p:sp>
        <p:nvSpPr>
          <p:cNvPr id="80" name="Shape 78"/>
          <p:cNvSpPr/>
          <p:nvPr/>
        </p:nvSpPr>
        <p:spPr>
          <a:xfrm>
            <a:off x="8264426" y="5362575"/>
            <a:ext cx="3381375" cy="952500"/>
          </a:xfrm>
          <a:custGeom>
            <a:avLst/>
            <a:gdLst/>
            <a:ahLst/>
            <a:cxnLst/>
            <a:rect l="l" t="t" r="r" b="b"/>
            <a:pathLst>
              <a:path w="3381375" h="952500">
                <a:moveTo>
                  <a:pt x="76200" y="0"/>
                </a:moveTo>
                <a:lnTo>
                  <a:pt x="3305175" y="0"/>
                </a:lnTo>
                <a:cubicBezTo>
                  <a:pt x="3347231" y="0"/>
                  <a:pt x="3381375" y="34144"/>
                  <a:pt x="3381375" y="76200"/>
                </a:cubicBezTo>
                <a:lnTo>
                  <a:pt x="3381375" y="876300"/>
                </a:lnTo>
                <a:cubicBezTo>
                  <a:pt x="3381375" y="918356"/>
                  <a:pt x="3347231" y="952500"/>
                  <a:pt x="3305175" y="952500"/>
                </a:cubicBezTo>
                <a:lnTo>
                  <a:pt x="76200" y="952500"/>
                </a:lnTo>
                <a:cubicBezTo>
                  <a:pt x="34144" y="952500"/>
                  <a:pt x="0" y="918356"/>
                  <a:pt x="0" y="876300"/>
                </a:cubicBezTo>
                <a:lnTo>
                  <a:pt x="0" y="76200"/>
                </a:lnTo>
                <a:cubicBezTo>
                  <a:pt x="0" y="34144"/>
                  <a:pt x="34144" y="0"/>
                  <a:pt x="76200" y="0"/>
                </a:cubicBezTo>
                <a:close/>
              </a:path>
            </a:pathLst>
          </a:custGeom>
          <a:solidFill>
            <a:srgbClr val="D4A373">
              <a:alpha val="20000"/>
            </a:srgbClr>
          </a:solidFill>
          <a:ln/>
        </p:spPr>
      </p:sp>
      <p:sp>
        <p:nvSpPr>
          <p:cNvPr id="81" name="Text 79"/>
          <p:cNvSpPr/>
          <p:nvPr/>
        </p:nvSpPr>
        <p:spPr>
          <a:xfrm>
            <a:off x="8345388" y="5476875"/>
            <a:ext cx="3219450" cy="381000"/>
          </a:xfrm>
          <a:prstGeom prst="rect">
            <a:avLst/>
          </a:prstGeom>
          <a:noFill/>
          <a:ln/>
        </p:spPr>
        <p:txBody>
          <a:bodyPr wrap="square" lIns="0" tIns="0" rIns="0" bIns="0" rtlCol="0" anchor="ctr"/>
          <a:lstStyle/>
          <a:p>
            <a:pPr algn="ctr">
              <a:lnSpc>
                <a:spcPct val="120000"/>
              </a:lnSpc>
            </a:pPr>
            <a:r>
              <a:rPr lang="en-US" sz="1050" dirty="0">
                <a:solidFill>
                  <a:srgbClr val="EDF2F4"/>
                </a:solidFill>
                <a:latin typeface="Liter" pitchFamily="34" charset="0"/>
                <a:ea typeface="Liter" pitchFamily="34" charset="-122"/>
                <a:cs typeface="Liter" pitchFamily="34" charset="-120"/>
              </a:rPr>
              <a:t>Best classification performance (ROC-AUC 0.917). Black-box but generalizes well.</a:t>
            </a:r>
            <a:endParaRPr lang="en-US" sz="1600" dirty="0"/>
          </a:p>
        </p:txBody>
      </p:sp>
      <p:sp>
        <p:nvSpPr>
          <p:cNvPr id="82" name="Text 80"/>
          <p:cNvSpPr/>
          <p:nvPr/>
        </p:nvSpPr>
        <p:spPr>
          <a:xfrm>
            <a:off x="8350151" y="5895975"/>
            <a:ext cx="3209925"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Liter" pitchFamily="34" charset="0"/>
                <a:ea typeface="Liter" pitchFamily="34" charset="-122"/>
                <a:cs typeface="Liter" pitchFamily="34" charset="-120"/>
              </a:rPr>
              <a:t>En iyi sınıflandırma performansı. Kara kutu ama iyi genelleme yapar.</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p:bgPr>
    </p:bg>
    <p:spTree>
      <p:nvGrpSpPr>
        <p:cNvPr id="1" name=""/>
        <p:cNvGrpSpPr/>
        <p:nvPr/>
      </p:nvGrpSpPr>
      <p:grpSpPr>
        <a:xfrm>
          <a:off x="0" y="0"/>
          <a:ext cx="0" cy="0"/>
          <a:chOff x="0" y="0"/>
          <a:chExt cx="0" cy="0"/>
        </a:xfrm>
      </p:grpSpPr>
      <p:pic>
        <p:nvPicPr>
          <p:cNvPr id="2" name="Image 0" descr="https://kimi-web-img.moonshot.cn/img/thumbs.dreamstime.com/efd4d55d3e20c379434fa792fb043e55190a3d5e.jpg">    </p:cNvPr>
          <p:cNvPicPr>
            <a:picLocks noChangeAspect="1"/>
          </p:cNvPicPr>
          <p:nvPr/>
        </p:nvPicPr>
        <p:blipFill>
          <a:blip r:embed="rId1">
            <a:alphaModFix amt="20000"/>
          </a:blip>
          <a:srcRect l="111" r="111"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1D21">
                  <a:alpha val="90000"/>
                </a:srgbClr>
              </a:gs>
              <a:gs pos="50000">
                <a:srgbClr val="4A6C8C">
                  <a:alpha val="50000"/>
                </a:srgbClr>
              </a:gs>
              <a:gs pos="100000">
                <a:srgbClr val="1A1D21">
                  <a:alpha val="95000"/>
                </a:srgbClr>
              </a:gs>
            </a:gsLst>
            <a:lin ang="2700000" scaled="1"/>
          </a:gradFill>
          <a:ln/>
        </p:spPr>
      </p:sp>
      <p:sp>
        <p:nvSpPr>
          <p:cNvPr id="4" name="Shape 1"/>
          <p:cNvSpPr/>
          <p:nvPr/>
        </p:nvSpPr>
        <p:spPr>
          <a:xfrm>
            <a:off x="362857" y="-158750"/>
            <a:ext cx="72571" cy="435429"/>
          </a:xfrm>
          <a:custGeom>
            <a:avLst/>
            <a:gdLst/>
            <a:ahLst/>
            <a:cxnLst/>
            <a:rect l="l" t="t" r="r" b="b"/>
            <a:pathLst>
              <a:path w="72571" h="435429">
                <a:moveTo>
                  <a:pt x="0" y="0"/>
                </a:moveTo>
                <a:lnTo>
                  <a:pt x="72571" y="0"/>
                </a:lnTo>
                <a:lnTo>
                  <a:pt x="72571" y="435429"/>
                </a:lnTo>
                <a:lnTo>
                  <a:pt x="0" y="435429"/>
                </a:lnTo>
                <a:lnTo>
                  <a:pt x="0" y="0"/>
                </a:lnTo>
                <a:close/>
              </a:path>
            </a:pathLst>
          </a:custGeom>
          <a:solidFill>
            <a:srgbClr val="D4A373"/>
          </a:solidFill>
          <a:ln/>
        </p:spPr>
      </p:sp>
      <p:sp>
        <p:nvSpPr>
          <p:cNvPr id="5" name="Text 2"/>
          <p:cNvSpPr/>
          <p:nvPr/>
        </p:nvSpPr>
        <p:spPr>
          <a:xfrm>
            <a:off x="544286" y="-158750"/>
            <a:ext cx="3184071" cy="435429"/>
          </a:xfrm>
          <a:prstGeom prst="rect">
            <a:avLst/>
          </a:prstGeom>
          <a:noFill/>
          <a:ln/>
        </p:spPr>
        <p:txBody>
          <a:bodyPr wrap="square" lIns="0" tIns="0" rIns="0" bIns="0" rtlCol="0" anchor="ctr"/>
          <a:lstStyle/>
          <a:p>
            <a:pPr>
              <a:lnSpc>
                <a:spcPct val="80000"/>
              </a:lnSpc>
            </a:pPr>
            <a:r>
              <a:rPr lang="en-US" sz="3429" b="1" dirty="0">
                <a:solidFill>
                  <a:srgbClr val="EDF2F4"/>
                </a:solidFill>
                <a:latin typeface="Liter" pitchFamily="34" charset="0"/>
                <a:ea typeface="Liter" pitchFamily="34" charset="-122"/>
                <a:cs typeface="Liter" pitchFamily="34" charset="-120"/>
              </a:rPr>
              <a:t>Key Takeaways</a:t>
            </a:r>
            <a:endParaRPr lang="en-US" sz="1600" dirty="0"/>
          </a:p>
        </p:txBody>
      </p:sp>
      <p:sp>
        <p:nvSpPr>
          <p:cNvPr id="6" name="Text 3"/>
          <p:cNvSpPr/>
          <p:nvPr/>
        </p:nvSpPr>
        <p:spPr>
          <a:xfrm>
            <a:off x="544286" y="349250"/>
            <a:ext cx="11420929" cy="326571"/>
          </a:xfrm>
          <a:prstGeom prst="rect">
            <a:avLst/>
          </a:prstGeom>
          <a:noFill/>
          <a:ln/>
        </p:spPr>
        <p:txBody>
          <a:bodyPr wrap="square" lIns="0" tIns="0" rIns="0" bIns="0" rtlCol="0" anchor="ctr"/>
          <a:lstStyle/>
          <a:p>
            <a:pPr>
              <a:lnSpc>
                <a:spcPct val="100000"/>
              </a:lnSpc>
            </a:pPr>
            <a:r>
              <a:rPr lang="en-US" sz="2143" dirty="0">
                <a:solidFill>
                  <a:srgbClr val="8D99AE"/>
                </a:solidFill>
                <a:latin typeface="Liter" pitchFamily="34" charset="0"/>
                <a:ea typeface="Liter" pitchFamily="34" charset="-122"/>
                <a:cs typeface="Liter" pitchFamily="34" charset="-120"/>
              </a:rPr>
              <a:t>Temel Çıkarımlar</a:t>
            </a:r>
            <a:endParaRPr lang="en-US" sz="1600" dirty="0"/>
          </a:p>
        </p:txBody>
      </p:sp>
      <p:sp>
        <p:nvSpPr>
          <p:cNvPr id="7" name="Shape 4"/>
          <p:cNvSpPr/>
          <p:nvPr/>
        </p:nvSpPr>
        <p:spPr>
          <a:xfrm>
            <a:off x="367393" y="898071"/>
            <a:ext cx="11457214" cy="1905000"/>
          </a:xfrm>
          <a:custGeom>
            <a:avLst/>
            <a:gdLst/>
            <a:ahLst/>
            <a:cxnLst/>
            <a:rect l="l" t="t" r="r" b="b"/>
            <a:pathLst>
              <a:path w="11457214" h="1905000">
                <a:moveTo>
                  <a:pt x="108852" y="0"/>
                </a:moveTo>
                <a:lnTo>
                  <a:pt x="11348363" y="0"/>
                </a:lnTo>
                <a:cubicBezTo>
                  <a:pt x="11408480" y="0"/>
                  <a:pt x="11457214" y="48735"/>
                  <a:pt x="11457214" y="108852"/>
                </a:cubicBezTo>
                <a:lnTo>
                  <a:pt x="11457214" y="1796148"/>
                </a:lnTo>
                <a:cubicBezTo>
                  <a:pt x="11457214" y="1856265"/>
                  <a:pt x="11408480" y="1905000"/>
                  <a:pt x="11348363" y="1905000"/>
                </a:cubicBezTo>
                <a:lnTo>
                  <a:pt x="108852" y="1905000"/>
                </a:lnTo>
                <a:cubicBezTo>
                  <a:pt x="48735" y="1905000"/>
                  <a:pt x="0" y="1856265"/>
                  <a:pt x="0" y="1796148"/>
                </a:cubicBezTo>
                <a:lnTo>
                  <a:pt x="0" y="108852"/>
                </a:lnTo>
                <a:cubicBezTo>
                  <a:pt x="0" y="48775"/>
                  <a:pt x="48775" y="0"/>
                  <a:pt x="108852" y="0"/>
                </a:cubicBezTo>
                <a:close/>
              </a:path>
            </a:pathLst>
          </a:custGeom>
          <a:gradFill rotWithShape="1" flip="none">
            <a:gsLst>
              <a:gs pos="0">
                <a:srgbClr val="4A6C8C">
                  <a:alpha val="30000"/>
                </a:srgbClr>
              </a:gs>
              <a:gs pos="100000">
                <a:srgbClr val="1A1D21">
                  <a:alpha val="60000"/>
                </a:srgbClr>
              </a:gs>
            </a:gsLst>
            <a:lin ang="2700000" scaled="1"/>
          </a:gradFill>
          <a:ln w="12700">
            <a:solidFill>
              <a:srgbClr val="4A6C8C">
                <a:alpha val="50196"/>
              </a:srgbClr>
            </a:solidFill>
            <a:prstDash val="solid"/>
          </a:ln>
        </p:spPr>
      </p:sp>
      <p:sp>
        <p:nvSpPr>
          <p:cNvPr id="8" name="Shape 5"/>
          <p:cNvSpPr/>
          <p:nvPr/>
        </p:nvSpPr>
        <p:spPr>
          <a:xfrm>
            <a:off x="616857" y="1156607"/>
            <a:ext cx="489857" cy="435429"/>
          </a:xfrm>
          <a:custGeom>
            <a:avLst/>
            <a:gdLst/>
            <a:ahLst/>
            <a:cxnLst/>
            <a:rect l="l" t="t" r="r" b="b"/>
            <a:pathLst>
              <a:path w="489857" h="435429">
                <a:moveTo>
                  <a:pt x="263213" y="-16073"/>
                </a:moveTo>
                <a:cubicBezTo>
                  <a:pt x="259726" y="-22877"/>
                  <a:pt x="252668" y="-27214"/>
                  <a:pt x="245014" y="-27214"/>
                </a:cubicBezTo>
                <a:cubicBezTo>
                  <a:pt x="237360" y="-27214"/>
                  <a:pt x="230301" y="-22877"/>
                  <a:pt x="226814" y="-16073"/>
                </a:cubicBezTo>
                <a:lnTo>
                  <a:pt x="164221" y="106561"/>
                </a:lnTo>
                <a:lnTo>
                  <a:pt x="28235" y="128162"/>
                </a:lnTo>
                <a:cubicBezTo>
                  <a:pt x="20666" y="129353"/>
                  <a:pt x="14373" y="134711"/>
                  <a:pt x="11991" y="142025"/>
                </a:cubicBezTo>
                <a:cubicBezTo>
                  <a:pt x="9610" y="149338"/>
                  <a:pt x="11566" y="157333"/>
                  <a:pt x="16924" y="162775"/>
                </a:cubicBezTo>
                <a:lnTo>
                  <a:pt x="114215" y="260152"/>
                </a:lnTo>
                <a:lnTo>
                  <a:pt x="92784" y="396138"/>
                </a:lnTo>
                <a:cubicBezTo>
                  <a:pt x="91593" y="403707"/>
                  <a:pt x="94740" y="411361"/>
                  <a:pt x="100948" y="415868"/>
                </a:cubicBezTo>
                <a:cubicBezTo>
                  <a:pt x="107156" y="420376"/>
                  <a:pt x="115321" y="421056"/>
                  <a:pt x="122209" y="417569"/>
                </a:cubicBezTo>
                <a:lnTo>
                  <a:pt x="245014" y="355146"/>
                </a:lnTo>
                <a:lnTo>
                  <a:pt x="367733" y="417569"/>
                </a:lnTo>
                <a:cubicBezTo>
                  <a:pt x="374537" y="421056"/>
                  <a:pt x="382786" y="420376"/>
                  <a:pt x="388994" y="415868"/>
                </a:cubicBezTo>
                <a:cubicBezTo>
                  <a:pt x="395202" y="411361"/>
                  <a:pt x="398349" y="403792"/>
                  <a:pt x="397158" y="396138"/>
                </a:cubicBezTo>
                <a:lnTo>
                  <a:pt x="375642" y="260152"/>
                </a:lnTo>
                <a:lnTo>
                  <a:pt x="472933" y="162775"/>
                </a:lnTo>
                <a:cubicBezTo>
                  <a:pt x="478376" y="157333"/>
                  <a:pt x="480247" y="149338"/>
                  <a:pt x="477866" y="142025"/>
                </a:cubicBezTo>
                <a:cubicBezTo>
                  <a:pt x="475485" y="134711"/>
                  <a:pt x="469276" y="129353"/>
                  <a:pt x="461622" y="128162"/>
                </a:cubicBezTo>
                <a:lnTo>
                  <a:pt x="325721" y="106561"/>
                </a:lnTo>
                <a:lnTo>
                  <a:pt x="263213" y="-16073"/>
                </a:lnTo>
                <a:close/>
              </a:path>
            </a:pathLst>
          </a:custGeom>
          <a:solidFill>
            <a:srgbClr val="D4A373"/>
          </a:solidFill>
          <a:ln/>
        </p:spPr>
      </p:sp>
      <p:sp>
        <p:nvSpPr>
          <p:cNvPr id="9" name="Text 6"/>
          <p:cNvSpPr/>
          <p:nvPr/>
        </p:nvSpPr>
        <p:spPr>
          <a:xfrm>
            <a:off x="1315357" y="1120321"/>
            <a:ext cx="5143500" cy="290286"/>
          </a:xfrm>
          <a:prstGeom prst="rect">
            <a:avLst/>
          </a:prstGeom>
          <a:noFill/>
          <a:ln/>
        </p:spPr>
        <p:txBody>
          <a:bodyPr wrap="square" lIns="0" tIns="0" rIns="0" bIns="0" rtlCol="0" anchor="ctr"/>
          <a:lstStyle/>
          <a:p>
            <a:pPr>
              <a:lnSpc>
                <a:spcPct val="110000"/>
              </a:lnSpc>
            </a:pPr>
            <a:r>
              <a:rPr lang="en-US" sz="1714" b="1" dirty="0">
                <a:solidFill>
                  <a:srgbClr val="EDF2F4"/>
                </a:solidFill>
                <a:latin typeface="Liter" pitchFamily="34" charset="0"/>
                <a:ea typeface="Liter" pitchFamily="34" charset="-122"/>
                <a:cs typeface="Liter" pitchFamily="34" charset="-120"/>
              </a:rPr>
              <a:t>Main Message | Ana Mesaj</a:t>
            </a:r>
            <a:endParaRPr lang="en-US" sz="1600" dirty="0"/>
          </a:p>
        </p:txBody>
      </p:sp>
      <p:sp>
        <p:nvSpPr>
          <p:cNvPr id="10" name="Text 7"/>
          <p:cNvSpPr/>
          <p:nvPr/>
        </p:nvSpPr>
        <p:spPr>
          <a:xfrm>
            <a:off x="1315357" y="1519464"/>
            <a:ext cx="5116286" cy="1061357"/>
          </a:xfrm>
          <a:prstGeom prst="rect">
            <a:avLst/>
          </a:prstGeom>
          <a:noFill/>
          <a:ln/>
        </p:spPr>
        <p:txBody>
          <a:bodyPr wrap="square" lIns="0" tIns="0" rIns="0" bIns="0" rtlCol="0" anchor="ctr"/>
          <a:lstStyle/>
          <a:p>
            <a:pPr>
              <a:lnSpc>
                <a:spcPct val="140000"/>
              </a:lnSpc>
            </a:pPr>
            <a:r>
              <a:rPr lang="en-US" sz="1286" dirty="0">
                <a:solidFill>
                  <a:srgbClr val="EDF2F4"/>
                </a:solidFill>
                <a:latin typeface="Liter" pitchFamily="34" charset="0"/>
                <a:ea typeface="Liter" pitchFamily="34" charset="-122"/>
                <a:cs typeface="Liter" pitchFamily="34" charset="-120"/>
              </a:rPr>
              <a:t>Complex model doesn't always mean better. A simple model like Ridge can deliver the right results with the right data. HGB is very successful in classification but hard to explain why it made a decision. Ridge is more interpretable.</a:t>
            </a:r>
            <a:endParaRPr lang="en-US" sz="1600" dirty="0"/>
          </a:p>
        </p:txBody>
      </p:sp>
      <p:sp>
        <p:nvSpPr>
          <p:cNvPr id="11" name="Text 8"/>
          <p:cNvSpPr/>
          <p:nvPr/>
        </p:nvSpPr>
        <p:spPr>
          <a:xfrm>
            <a:off x="6567714" y="1519464"/>
            <a:ext cx="5116286" cy="798286"/>
          </a:xfrm>
          <a:prstGeom prst="rect">
            <a:avLst/>
          </a:prstGeom>
          <a:noFill/>
          <a:ln/>
        </p:spPr>
        <p:txBody>
          <a:bodyPr wrap="square" lIns="0" tIns="0" rIns="0" bIns="0" rtlCol="0" anchor="ctr"/>
          <a:lstStyle/>
          <a:p>
            <a:pPr>
              <a:lnSpc>
                <a:spcPct val="140000"/>
              </a:lnSpc>
            </a:pPr>
            <a:r>
              <a:rPr lang="en-US" sz="1286" dirty="0">
                <a:solidFill>
                  <a:srgbClr val="EDF2F4"/>
                </a:solidFill>
                <a:latin typeface="Liter" pitchFamily="34" charset="0"/>
                <a:ea typeface="Liter" pitchFamily="34" charset="-122"/>
                <a:cs typeface="Liter" pitchFamily="34" charset="-120"/>
              </a:rPr>
              <a:t>Karmaşık model her zaman iyi demek değil. Ridge gibi basit bir model, doğru veriyle doğru sonucu verebiliyor. HGB classification'da çok başarılı ama neden o kararı verdi açıklamak zor. Ridge ise daha anlaşılır.</a:t>
            </a:r>
            <a:endParaRPr lang="en-US" sz="1600" dirty="0"/>
          </a:p>
        </p:txBody>
      </p:sp>
      <p:sp>
        <p:nvSpPr>
          <p:cNvPr id="12" name="Shape 9"/>
          <p:cNvSpPr/>
          <p:nvPr/>
        </p:nvSpPr>
        <p:spPr>
          <a:xfrm>
            <a:off x="367393" y="2993571"/>
            <a:ext cx="5633357" cy="2911929"/>
          </a:xfrm>
          <a:custGeom>
            <a:avLst/>
            <a:gdLst/>
            <a:ahLst/>
            <a:cxnLst/>
            <a:rect l="l" t="t" r="r" b="b"/>
            <a:pathLst>
              <a:path w="5633357" h="2911929">
                <a:moveTo>
                  <a:pt x="108848" y="0"/>
                </a:moveTo>
                <a:lnTo>
                  <a:pt x="5524509" y="0"/>
                </a:lnTo>
                <a:cubicBezTo>
                  <a:pt x="5584624" y="0"/>
                  <a:pt x="5633357" y="48733"/>
                  <a:pt x="5633357" y="108848"/>
                </a:cubicBezTo>
                <a:lnTo>
                  <a:pt x="5633357" y="2803081"/>
                </a:lnTo>
                <a:cubicBezTo>
                  <a:pt x="5633357" y="2863196"/>
                  <a:pt x="5584624" y="2911929"/>
                  <a:pt x="5524509" y="2911929"/>
                </a:cubicBezTo>
                <a:lnTo>
                  <a:pt x="108848" y="2911929"/>
                </a:lnTo>
                <a:cubicBezTo>
                  <a:pt x="48733" y="2911929"/>
                  <a:pt x="0" y="2863196"/>
                  <a:pt x="0" y="2803081"/>
                </a:cubicBezTo>
                <a:lnTo>
                  <a:pt x="0" y="108848"/>
                </a:lnTo>
                <a:cubicBezTo>
                  <a:pt x="0" y="48773"/>
                  <a:pt x="48773" y="0"/>
                  <a:pt x="108848" y="0"/>
                </a:cubicBezTo>
                <a:close/>
              </a:path>
            </a:pathLst>
          </a:custGeom>
          <a:gradFill rotWithShape="1" flip="none">
            <a:gsLst>
              <a:gs pos="0">
                <a:srgbClr val="D4A373">
                  <a:alpha val="30000"/>
                </a:srgbClr>
              </a:gs>
              <a:gs pos="100000">
                <a:srgbClr val="1A1D21">
                  <a:alpha val="60000"/>
                </a:srgbClr>
              </a:gs>
            </a:gsLst>
            <a:lin ang="2700000" scaled="1"/>
          </a:gradFill>
          <a:ln w="12700">
            <a:solidFill>
              <a:srgbClr val="D4A373">
                <a:alpha val="50196"/>
              </a:srgbClr>
            </a:solidFill>
            <a:prstDash val="solid"/>
          </a:ln>
        </p:spPr>
      </p:sp>
      <p:sp>
        <p:nvSpPr>
          <p:cNvPr id="13" name="Shape 10"/>
          <p:cNvSpPr/>
          <p:nvPr/>
        </p:nvSpPr>
        <p:spPr>
          <a:xfrm>
            <a:off x="589643" y="3188607"/>
            <a:ext cx="272143" cy="272143"/>
          </a:xfrm>
          <a:custGeom>
            <a:avLst/>
            <a:gdLst/>
            <a:ahLst/>
            <a:cxnLst/>
            <a:rect l="l" t="t" r="r" b="b"/>
            <a:pathLst>
              <a:path w="272143" h="272143">
                <a:moveTo>
                  <a:pt x="238125" y="136071"/>
                </a:moveTo>
                <a:cubicBezTo>
                  <a:pt x="238125" y="79747"/>
                  <a:pt x="192396" y="34018"/>
                  <a:pt x="136071" y="34018"/>
                </a:cubicBezTo>
                <a:cubicBezTo>
                  <a:pt x="79747" y="34018"/>
                  <a:pt x="34018" y="79747"/>
                  <a:pt x="34018" y="136071"/>
                </a:cubicBezTo>
                <a:cubicBezTo>
                  <a:pt x="34018" y="192396"/>
                  <a:pt x="79747" y="238125"/>
                  <a:pt x="136071" y="238125"/>
                </a:cubicBezTo>
                <a:cubicBezTo>
                  <a:pt x="192396" y="238125"/>
                  <a:pt x="238125" y="192396"/>
                  <a:pt x="238125" y="136071"/>
                </a:cubicBezTo>
                <a:close/>
                <a:moveTo>
                  <a:pt x="0" y="136071"/>
                </a:moveTo>
                <a:cubicBezTo>
                  <a:pt x="0" y="60972"/>
                  <a:pt x="60972" y="0"/>
                  <a:pt x="136071" y="0"/>
                </a:cubicBezTo>
                <a:cubicBezTo>
                  <a:pt x="211171" y="0"/>
                  <a:pt x="272143" y="60972"/>
                  <a:pt x="272143" y="136071"/>
                </a:cubicBezTo>
                <a:cubicBezTo>
                  <a:pt x="272143" y="211171"/>
                  <a:pt x="211171" y="272143"/>
                  <a:pt x="136071" y="272143"/>
                </a:cubicBezTo>
                <a:cubicBezTo>
                  <a:pt x="60972" y="272143"/>
                  <a:pt x="0" y="211171"/>
                  <a:pt x="0" y="136071"/>
                </a:cubicBezTo>
                <a:close/>
                <a:moveTo>
                  <a:pt x="136071" y="178594"/>
                </a:moveTo>
                <a:cubicBezTo>
                  <a:pt x="159540" y="178594"/>
                  <a:pt x="178594" y="159540"/>
                  <a:pt x="178594" y="136071"/>
                </a:cubicBezTo>
                <a:cubicBezTo>
                  <a:pt x="178594" y="112603"/>
                  <a:pt x="159540" y="93549"/>
                  <a:pt x="136071" y="93549"/>
                </a:cubicBezTo>
                <a:cubicBezTo>
                  <a:pt x="112603" y="93549"/>
                  <a:pt x="93549" y="112603"/>
                  <a:pt x="93549" y="136071"/>
                </a:cubicBezTo>
                <a:cubicBezTo>
                  <a:pt x="93549" y="159540"/>
                  <a:pt x="112603" y="178594"/>
                  <a:pt x="136071" y="178594"/>
                </a:cubicBezTo>
                <a:close/>
                <a:moveTo>
                  <a:pt x="136071" y="59531"/>
                </a:moveTo>
                <a:cubicBezTo>
                  <a:pt x="178315" y="59531"/>
                  <a:pt x="212612" y="93828"/>
                  <a:pt x="212612" y="136071"/>
                </a:cubicBezTo>
                <a:cubicBezTo>
                  <a:pt x="212612" y="178315"/>
                  <a:pt x="178315" y="212612"/>
                  <a:pt x="136071" y="212612"/>
                </a:cubicBezTo>
                <a:cubicBezTo>
                  <a:pt x="93828" y="212612"/>
                  <a:pt x="59531" y="178315"/>
                  <a:pt x="59531" y="136071"/>
                </a:cubicBezTo>
                <a:cubicBezTo>
                  <a:pt x="59531" y="93828"/>
                  <a:pt x="93828" y="59531"/>
                  <a:pt x="136071" y="59531"/>
                </a:cubicBezTo>
                <a:close/>
                <a:moveTo>
                  <a:pt x="119062" y="136071"/>
                </a:moveTo>
                <a:cubicBezTo>
                  <a:pt x="119062" y="126684"/>
                  <a:pt x="126684" y="119062"/>
                  <a:pt x="136071" y="119062"/>
                </a:cubicBezTo>
                <a:cubicBezTo>
                  <a:pt x="145459" y="119062"/>
                  <a:pt x="153080" y="126684"/>
                  <a:pt x="153080" y="136071"/>
                </a:cubicBezTo>
                <a:cubicBezTo>
                  <a:pt x="153080" y="145459"/>
                  <a:pt x="145459" y="153080"/>
                  <a:pt x="136071" y="153080"/>
                </a:cubicBezTo>
                <a:cubicBezTo>
                  <a:pt x="126684" y="153080"/>
                  <a:pt x="119062" y="145459"/>
                  <a:pt x="119062" y="136071"/>
                </a:cubicBezTo>
                <a:close/>
              </a:path>
            </a:pathLst>
          </a:custGeom>
          <a:solidFill>
            <a:srgbClr val="D4A373"/>
          </a:solidFill>
          <a:ln/>
        </p:spPr>
      </p:sp>
      <p:sp>
        <p:nvSpPr>
          <p:cNvPr id="14" name="Text 11"/>
          <p:cNvSpPr/>
          <p:nvPr/>
        </p:nvSpPr>
        <p:spPr>
          <a:xfrm>
            <a:off x="1002393" y="3179536"/>
            <a:ext cx="2204357" cy="290286"/>
          </a:xfrm>
          <a:prstGeom prst="rect">
            <a:avLst/>
          </a:prstGeom>
          <a:noFill/>
          <a:ln/>
        </p:spPr>
        <p:txBody>
          <a:bodyPr wrap="square" lIns="0" tIns="0" rIns="0" bIns="0" rtlCol="0" anchor="ctr"/>
          <a:lstStyle/>
          <a:p>
            <a:pPr>
              <a:lnSpc>
                <a:spcPct val="110000"/>
              </a:lnSpc>
            </a:pPr>
            <a:r>
              <a:rPr lang="en-US" sz="1714" b="1" dirty="0">
                <a:solidFill>
                  <a:srgbClr val="EDF2F4"/>
                </a:solidFill>
                <a:latin typeface="Liter" pitchFamily="34" charset="0"/>
                <a:ea typeface="Liter" pitchFamily="34" charset="-122"/>
                <a:cs typeface="Liter" pitchFamily="34" charset="-120"/>
              </a:rPr>
              <a:t>Classification (Churn)</a:t>
            </a:r>
            <a:endParaRPr lang="en-US" sz="1600" dirty="0"/>
          </a:p>
        </p:txBody>
      </p:sp>
      <p:sp>
        <p:nvSpPr>
          <p:cNvPr id="15" name="Shape 12"/>
          <p:cNvSpPr/>
          <p:nvPr/>
        </p:nvSpPr>
        <p:spPr>
          <a:xfrm>
            <a:off x="553357" y="3614964"/>
            <a:ext cx="5261429" cy="725714"/>
          </a:xfrm>
          <a:custGeom>
            <a:avLst/>
            <a:gdLst/>
            <a:ahLst/>
            <a:cxnLst/>
            <a:rect l="l" t="t" r="r" b="b"/>
            <a:pathLst>
              <a:path w="5261429" h="725714">
                <a:moveTo>
                  <a:pt x="72571" y="0"/>
                </a:moveTo>
                <a:lnTo>
                  <a:pt x="5188857" y="0"/>
                </a:lnTo>
                <a:cubicBezTo>
                  <a:pt x="5228937" y="0"/>
                  <a:pt x="5261429" y="32491"/>
                  <a:pt x="5261429" y="72571"/>
                </a:cubicBezTo>
                <a:lnTo>
                  <a:pt x="5261429" y="653143"/>
                </a:lnTo>
                <a:cubicBezTo>
                  <a:pt x="5261429" y="693223"/>
                  <a:pt x="5228937" y="725714"/>
                  <a:pt x="5188857" y="725714"/>
                </a:cubicBezTo>
                <a:lnTo>
                  <a:pt x="72571" y="725714"/>
                </a:lnTo>
                <a:cubicBezTo>
                  <a:pt x="32491" y="725714"/>
                  <a:pt x="0" y="693223"/>
                  <a:pt x="0" y="653143"/>
                </a:cubicBezTo>
                <a:lnTo>
                  <a:pt x="0" y="72571"/>
                </a:lnTo>
                <a:cubicBezTo>
                  <a:pt x="0" y="32518"/>
                  <a:pt x="32518" y="0"/>
                  <a:pt x="72571" y="0"/>
                </a:cubicBezTo>
                <a:close/>
              </a:path>
            </a:pathLst>
          </a:custGeom>
          <a:solidFill>
            <a:srgbClr val="1A1D21">
              <a:alpha val="60000"/>
            </a:srgbClr>
          </a:solidFill>
          <a:ln/>
        </p:spPr>
      </p:sp>
      <p:sp>
        <p:nvSpPr>
          <p:cNvPr id="16" name="Text 13"/>
          <p:cNvSpPr/>
          <p:nvPr/>
        </p:nvSpPr>
        <p:spPr>
          <a:xfrm>
            <a:off x="662214" y="3723821"/>
            <a:ext cx="5116286" cy="217714"/>
          </a:xfrm>
          <a:prstGeom prst="rect">
            <a:avLst/>
          </a:prstGeom>
          <a:noFill/>
          <a:ln/>
        </p:spPr>
        <p:txBody>
          <a:bodyPr wrap="square" lIns="0" tIns="0" rIns="0" bIns="0" rtlCol="0" anchor="ctr"/>
          <a:lstStyle/>
          <a:p>
            <a:pPr>
              <a:lnSpc>
                <a:spcPct val="120000"/>
              </a:lnSpc>
            </a:pPr>
            <a:r>
              <a:rPr lang="en-US" sz="1143" dirty="0">
                <a:solidFill>
                  <a:srgbClr val="8D99AE"/>
                </a:solidFill>
                <a:latin typeface="Liter" pitchFamily="34" charset="0"/>
                <a:ea typeface="Liter" pitchFamily="34" charset="-122"/>
                <a:cs typeface="Liter" pitchFamily="34" charset="-120"/>
              </a:rPr>
              <a:t>Best Model | En İyi Model</a:t>
            </a:r>
            <a:endParaRPr lang="en-US" sz="1600" dirty="0"/>
          </a:p>
        </p:txBody>
      </p:sp>
      <p:sp>
        <p:nvSpPr>
          <p:cNvPr id="17" name="Text 14"/>
          <p:cNvSpPr/>
          <p:nvPr/>
        </p:nvSpPr>
        <p:spPr>
          <a:xfrm>
            <a:off x="662214" y="3977821"/>
            <a:ext cx="5134429" cy="254000"/>
          </a:xfrm>
          <a:prstGeom prst="rect">
            <a:avLst/>
          </a:prstGeom>
          <a:noFill/>
          <a:ln/>
        </p:spPr>
        <p:txBody>
          <a:bodyPr wrap="square" lIns="0" tIns="0" rIns="0" bIns="0" rtlCol="0" anchor="ctr"/>
          <a:lstStyle/>
          <a:p>
            <a:pPr>
              <a:lnSpc>
                <a:spcPct val="120000"/>
              </a:lnSpc>
            </a:pPr>
            <a:r>
              <a:rPr lang="en-US" sz="1429" b="1" dirty="0">
                <a:solidFill>
                  <a:srgbClr val="D4A373"/>
                </a:solidFill>
                <a:latin typeface="Liter" pitchFamily="34" charset="0"/>
                <a:ea typeface="Liter" pitchFamily="34" charset="-122"/>
                <a:cs typeface="Liter" pitchFamily="34" charset="-120"/>
              </a:rPr>
              <a:t>HGB</a:t>
            </a:r>
            <a:endParaRPr lang="en-US" sz="1600" dirty="0"/>
          </a:p>
        </p:txBody>
      </p:sp>
      <p:sp>
        <p:nvSpPr>
          <p:cNvPr id="18" name="Shape 15"/>
          <p:cNvSpPr/>
          <p:nvPr/>
        </p:nvSpPr>
        <p:spPr>
          <a:xfrm>
            <a:off x="553357" y="4449536"/>
            <a:ext cx="5261429" cy="725714"/>
          </a:xfrm>
          <a:custGeom>
            <a:avLst/>
            <a:gdLst/>
            <a:ahLst/>
            <a:cxnLst/>
            <a:rect l="l" t="t" r="r" b="b"/>
            <a:pathLst>
              <a:path w="5261429" h="725714">
                <a:moveTo>
                  <a:pt x="72571" y="0"/>
                </a:moveTo>
                <a:lnTo>
                  <a:pt x="5188857" y="0"/>
                </a:lnTo>
                <a:cubicBezTo>
                  <a:pt x="5228937" y="0"/>
                  <a:pt x="5261429" y="32491"/>
                  <a:pt x="5261429" y="72571"/>
                </a:cubicBezTo>
                <a:lnTo>
                  <a:pt x="5261429" y="653143"/>
                </a:lnTo>
                <a:cubicBezTo>
                  <a:pt x="5261429" y="693223"/>
                  <a:pt x="5228937" y="725714"/>
                  <a:pt x="5188857" y="725714"/>
                </a:cubicBezTo>
                <a:lnTo>
                  <a:pt x="72571" y="725714"/>
                </a:lnTo>
                <a:cubicBezTo>
                  <a:pt x="32491" y="725714"/>
                  <a:pt x="0" y="693223"/>
                  <a:pt x="0" y="653143"/>
                </a:cubicBezTo>
                <a:lnTo>
                  <a:pt x="0" y="72571"/>
                </a:lnTo>
                <a:cubicBezTo>
                  <a:pt x="0" y="32518"/>
                  <a:pt x="32518" y="0"/>
                  <a:pt x="72571" y="0"/>
                </a:cubicBezTo>
                <a:close/>
              </a:path>
            </a:pathLst>
          </a:custGeom>
          <a:solidFill>
            <a:srgbClr val="1A1D21">
              <a:alpha val="60000"/>
            </a:srgbClr>
          </a:solidFill>
          <a:ln/>
        </p:spPr>
      </p:sp>
      <p:sp>
        <p:nvSpPr>
          <p:cNvPr id="19" name="Text 16"/>
          <p:cNvSpPr/>
          <p:nvPr/>
        </p:nvSpPr>
        <p:spPr>
          <a:xfrm>
            <a:off x="662214" y="4558393"/>
            <a:ext cx="5116286" cy="217714"/>
          </a:xfrm>
          <a:prstGeom prst="rect">
            <a:avLst/>
          </a:prstGeom>
          <a:noFill/>
          <a:ln/>
        </p:spPr>
        <p:txBody>
          <a:bodyPr wrap="square" lIns="0" tIns="0" rIns="0" bIns="0" rtlCol="0" anchor="ctr"/>
          <a:lstStyle/>
          <a:p>
            <a:pPr>
              <a:lnSpc>
                <a:spcPct val="120000"/>
              </a:lnSpc>
            </a:pPr>
            <a:r>
              <a:rPr lang="en-US" sz="1143" dirty="0">
                <a:solidFill>
                  <a:srgbClr val="8D99AE"/>
                </a:solidFill>
                <a:latin typeface="Liter" pitchFamily="34" charset="0"/>
                <a:ea typeface="Liter" pitchFamily="34" charset="-122"/>
                <a:cs typeface="Liter" pitchFamily="34" charset="-120"/>
              </a:rPr>
              <a:t>Performance | Performans</a:t>
            </a:r>
            <a:endParaRPr lang="en-US" sz="1600" dirty="0"/>
          </a:p>
        </p:txBody>
      </p:sp>
      <p:sp>
        <p:nvSpPr>
          <p:cNvPr id="20" name="Text 17"/>
          <p:cNvSpPr/>
          <p:nvPr/>
        </p:nvSpPr>
        <p:spPr>
          <a:xfrm>
            <a:off x="662214" y="4812393"/>
            <a:ext cx="5134429" cy="254000"/>
          </a:xfrm>
          <a:prstGeom prst="rect">
            <a:avLst/>
          </a:prstGeom>
          <a:noFill/>
          <a:ln/>
        </p:spPr>
        <p:txBody>
          <a:bodyPr wrap="square" lIns="0" tIns="0" rIns="0" bIns="0" rtlCol="0" anchor="ctr"/>
          <a:lstStyle/>
          <a:p>
            <a:pPr>
              <a:lnSpc>
                <a:spcPct val="120000"/>
              </a:lnSpc>
            </a:pPr>
            <a:r>
              <a:rPr lang="en-US" sz="1429" b="1" dirty="0">
                <a:solidFill>
                  <a:srgbClr val="D4A373"/>
                </a:solidFill>
                <a:latin typeface="Liter" pitchFamily="34" charset="0"/>
                <a:ea typeface="Liter" pitchFamily="34" charset="-122"/>
                <a:cs typeface="Liter" pitchFamily="34" charset="-120"/>
              </a:rPr>
              <a:t>ROC-AUC = 0.917</a:t>
            </a:r>
            <a:endParaRPr lang="en-US" sz="1600" dirty="0"/>
          </a:p>
        </p:txBody>
      </p:sp>
      <p:sp>
        <p:nvSpPr>
          <p:cNvPr id="21" name="Shape 18"/>
          <p:cNvSpPr/>
          <p:nvPr/>
        </p:nvSpPr>
        <p:spPr>
          <a:xfrm>
            <a:off x="553357" y="5284107"/>
            <a:ext cx="5261429" cy="435429"/>
          </a:xfrm>
          <a:custGeom>
            <a:avLst/>
            <a:gdLst/>
            <a:ahLst/>
            <a:cxnLst/>
            <a:rect l="l" t="t" r="r" b="b"/>
            <a:pathLst>
              <a:path w="5261429" h="435429">
                <a:moveTo>
                  <a:pt x="72573" y="0"/>
                </a:moveTo>
                <a:lnTo>
                  <a:pt x="5188856" y="0"/>
                </a:lnTo>
                <a:cubicBezTo>
                  <a:pt x="5228937" y="0"/>
                  <a:pt x="5261429" y="32492"/>
                  <a:pt x="5261429" y="72573"/>
                </a:cubicBezTo>
                <a:lnTo>
                  <a:pt x="5261429" y="362856"/>
                </a:lnTo>
                <a:cubicBezTo>
                  <a:pt x="5261429" y="402937"/>
                  <a:pt x="5228937" y="435429"/>
                  <a:pt x="5188856" y="435429"/>
                </a:cubicBezTo>
                <a:lnTo>
                  <a:pt x="72573" y="435429"/>
                </a:lnTo>
                <a:cubicBezTo>
                  <a:pt x="32492" y="435429"/>
                  <a:pt x="0" y="402937"/>
                  <a:pt x="0" y="362856"/>
                </a:cubicBezTo>
                <a:lnTo>
                  <a:pt x="0" y="72573"/>
                </a:lnTo>
                <a:cubicBezTo>
                  <a:pt x="0" y="32519"/>
                  <a:pt x="32519" y="0"/>
                  <a:pt x="72573" y="0"/>
                </a:cubicBezTo>
                <a:close/>
              </a:path>
            </a:pathLst>
          </a:custGeom>
          <a:solidFill>
            <a:srgbClr val="4A6C8C">
              <a:alpha val="20000"/>
            </a:srgbClr>
          </a:solidFill>
          <a:ln/>
        </p:spPr>
      </p:sp>
      <p:sp>
        <p:nvSpPr>
          <p:cNvPr id="22" name="Shape 19"/>
          <p:cNvSpPr/>
          <p:nvPr/>
        </p:nvSpPr>
        <p:spPr>
          <a:xfrm>
            <a:off x="680357" y="5429250"/>
            <a:ext cx="145143" cy="145143"/>
          </a:xfrm>
          <a:custGeom>
            <a:avLst/>
            <a:gdLst/>
            <a:ahLst/>
            <a:cxnLst/>
            <a:rect l="l" t="t" r="r" b="b"/>
            <a:pathLst>
              <a:path w="145143" h="145143">
                <a:moveTo>
                  <a:pt x="72571" y="145143"/>
                </a:moveTo>
                <a:cubicBezTo>
                  <a:pt x="112625" y="145143"/>
                  <a:pt x="145143" y="112625"/>
                  <a:pt x="145143" y="72571"/>
                </a:cubicBezTo>
                <a:cubicBezTo>
                  <a:pt x="145143" y="32518"/>
                  <a:pt x="112625" y="0"/>
                  <a:pt x="72571" y="0"/>
                </a:cubicBezTo>
                <a:cubicBezTo>
                  <a:pt x="32518" y="0"/>
                  <a:pt x="0" y="32518"/>
                  <a:pt x="0" y="72571"/>
                </a:cubicBezTo>
                <a:cubicBezTo>
                  <a:pt x="0" y="112625"/>
                  <a:pt x="32518" y="145143"/>
                  <a:pt x="72571" y="145143"/>
                </a:cubicBezTo>
                <a:close/>
                <a:moveTo>
                  <a:pt x="96497" y="60297"/>
                </a:moveTo>
                <a:lnTo>
                  <a:pt x="73819" y="96582"/>
                </a:lnTo>
                <a:cubicBezTo>
                  <a:pt x="72628" y="98482"/>
                  <a:pt x="70587" y="99672"/>
                  <a:pt x="68348" y="99786"/>
                </a:cubicBezTo>
                <a:cubicBezTo>
                  <a:pt x="66108" y="99899"/>
                  <a:pt x="63954" y="98879"/>
                  <a:pt x="62621" y="97064"/>
                </a:cubicBezTo>
                <a:lnTo>
                  <a:pt x="49014" y="78921"/>
                </a:lnTo>
                <a:cubicBezTo>
                  <a:pt x="46746" y="75917"/>
                  <a:pt x="47370" y="71664"/>
                  <a:pt x="50375" y="69396"/>
                </a:cubicBezTo>
                <a:cubicBezTo>
                  <a:pt x="53380" y="67129"/>
                  <a:pt x="57632" y="67752"/>
                  <a:pt x="59900" y="70757"/>
                </a:cubicBezTo>
                <a:lnTo>
                  <a:pt x="67554" y="80963"/>
                </a:lnTo>
                <a:lnTo>
                  <a:pt x="84960" y="53096"/>
                </a:lnTo>
                <a:cubicBezTo>
                  <a:pt x="86944" y="49921"/>
                  <a:pt x="91140" y="48929"/>
                  <a:pt x="94343" y="50942"/>
                </a:cubicBezTo>
                <a:cubicBezTo>
                  <a:pt x="97546" y="52954"/>
                  <a:pt x="98510" y="57122"/>
                  <a:pt x="96497" y="60325"/>
                </a:cubicBezTo>
                <a:close/>
              </a:path>
            </a:pathLst>
          </a:custGeom>
          <a:solidFill>
            <a:srgbClr val="4A6C8C"/>
          </a:solidFill>
          <a:ln/>
        </p:spPr>
      </p:sp>
      <p:sp>
        <p:nvSpPr>
          <p:cNvPr id="23" name="Text 20"/>
          <p:cNvSpPr/>
          <p:nvPr/>
        </p:nvSpPr>
        <p:spPr>
          <a:xfrm>
            <a:off x="895480" y="5392964"/>
            <a:ext cx="4883020" cy="217714"/>
          </a:xfrm>
          <a:prstGeom prst="rect">
            <a:avLst/>
          </a:prstGeom>
          <a:noFill/>
          <a:ln/>
        </p:spPr>
        <p:txBody>
          <a:bodyPr wrap="square" lIns="0" tIns="0" rIns="0" bIns="0" rtlCol="0" anchor="ctr"/>
          <a:lstStyle/>
          <a:p>
            <a:pPr>
              <a:lnSpc>
                <a:spcPct val="120000"/>
              </a:lnSpc>
            </a:pPr>
            <a:r>
              <a:rPr lang="en-US" sz="1143" dirty="0">
                <a:solidFill>
                  <a:srgbClr val="EDF2F4"/>
                </a:solidFill>
                <a:latin typeface="Liter" pitchFamily="34" charset="0"/>
                <a:ea typeface="Liter" pitchFamily="34" charset="-122"/>
                <a:cs typeface="Liter" pitchFamily="34" charset="-120"/>
              </a:rPr>
              <a:t>All 3 models generalized well (gap &lt; 0.05)</a:t>
            </a:r>
            <a:endParaRPr lang="en-US" sz="1600" dirty="0"/>
          </a:p>
        </p:txBody>
      </p:sp>
      <p:sp>
        <p:nvSpPr>
          <p:cNvPr id="24" name="Shape 21"/>
          <p:cNvSpPr/>
          <p:nvPr/>
        </p:nvSpPr>
        <p:spPr>
          <a:xfrm>
            <a:off x="6191250" y="2993571"/>
            <a:ext cx="5633357" cy="2911929"/>
          </a:xfrm>
          <a:custGeom>
            <a:avLst/>
            <a:gdLst/>
            <a:ahLst/>
            <a:cxnLst/>
            <a:rect l="l" t="t" r="r" b="b"/>
            <a:pathLst>
              <a:path w="5633357" h="2911929">
                <a:moveTo>
                  <a:pt x="108848" y="0"/>
                </a:moveTo>
                <a:lnTo>
                  <a:pt x="5524509" y="0"/>
                </a:lnTo>
                <a:cubicBezTo>
                  <a:pt x="5584624" y="0"/>
                  <a:pt x="5633357" y="48733"/>
                  <a:pt x="5633357" y="108848"/>
                </a:cubicBezTo>
                <a:lnTo>
                  <a:pt x="5633357" y="2803081"/>
                </a:lnTo>
                <a:cubicBezTo>
                  <a:pt x="5633357" y="2863196"/>
                  <a:pt x="5584624" y="2911929"/>
                  <a:pt x="5524509" y="2911929"/>
                </a:cubicBezTo>
                <a:lnTo>
                  <a:pt x="108848" y="2911929"/>
                </a:lnTo>
                <a:cubicBezTo>
                  <a:pt x="48733" y="2911929"/>
                  <a:pt x="0" y="2863196"/>
                  <a:pt x="0" y="2803081"/>
                </a:cubicBezTo>
                <a:lnTo>
                  <a:pt x="0" y="108848"/>
                </a:lnTo>
                <a:cubicBezTo>
                  <a:pt x="0" y="48773"/>
                  <a:pt x="48773" y="0"/>
                  <a:pt x="108848" y="0"/>
                </a:cubicBezTo>
                <a:close/>
              </a:path>
            </a:pathLst>
          </a:custGeom>
          <a:gradFill rotWithShape="1" flip="none">
            <a:gsLst>
              <a:gs pos="0">
                <a:srgbClr val="4A6C8C">
                  <a:alpha val="30000"/>
                </a:srgbClr>
              </a:gs>
              <a:gs pos="100000">
                <a:srgbClr val="1A1D21">
                  <a:alpha val="60000"/>
                </a:srgbClr>
              </a:gs>
            </a:gsLst>
            <a:lin ang="2700000" scaled="1"/>
          </a:gradFill>
          <a:ln w="12700">
            <a:solidFill>
              <a:srgbClr val="4A6C8C">
                <a:alpha val="50196"/>
              </a:srgbClr>
            </a:solidFill>
            <a:prstDash val="solid"/>
          </a:ln>
        </p:spPr>
      </p:sp>
      <p:sp>
        <p:nvSpPr>
          <p:cNvPr id="25" name="Shape 22"/>
          <p:cNvSpPr/>
          <p:nvPr/>
        </p:nvSpPr>
        <p:spPr>
          <a:xfrm>
            <a:off x="6413500" y="3188607"/>
            <a:ext cx="272143" cy="272143"/>
          </a:xfrm>
          <a:custGeom>
            <a:avLst/>
            <a:gdLst/>
            <a:ahLst/>
            <a:cxnLst/>
            <a:rect l="l" t="t" r="r" b="b"/>
            <a:pathLst>
              <a:path w="272143" h="272143">
                <a:moveTo>
                  <a:pt x="34018" y="34018"/>
                </a:moveTo>
                <a:cubicBezTo>
                  <a:pt x="34018" y="24610"/>
                  <a:pt x="26417" y="17009"/>
                  <a:pt x="17009" y="17009"/>
                </a:cubicBezTo>
                <a:cubicBezTo>
                  <a:pt x="7601" y="17009"/>
                  <a:pt x="0" y="24610"/>
                  <a:pt x="0" y="34018"/>
                </a:cubicBezTo>
                <a:lnTo>
                  <a:pt x="0" y="212612"/>
                </a:lnTo>
                <a:cubicBezTo>
                  <a:pt x="0" y="236105"/>
                  <a:pt x="19029" y="255134"/>
                  <a:pt x="42522" y="255134"/>
                </a:cubicBezTo>
                <a:lnTo>
                  <a:pt x="255134" y="255134"/>
                </a:lnTo>
                <a:cubicBezTo>
                  <a:pt x="264542" y="255134"/>
                  <a:pt x="272143" y="247533"/>
                  <a:pt x="272143" y="238125"/>
                </a:cubicBezTo>
                <a:cubicBezTo>
                  <a:pt x="272143" y="228717"/>
                  <a:pt x="264542" y="221116"/>
                  <a:pt x="255134" y="221116"/>
                </a:cubicBezTo>
                <a:lnTo>
                  <a:pt x="42522" y="221116"/>
                </a:lnTo>
                <a:cubicBezTo>
                  <a:pt x="37845" y="221116"/>
                  <a:pt x="34018" y="217289"/>
                  <a:pt x="34018" y="212612"/>
                </a:cubicBezTo>
                <a:lnTo>
                  <a:pt x="34018" y="34018"/>
                </a:lnTo>
                <a:close/>
                <a:moveTo>
                  <a:pt x="250138" y="80048"/>
                </a:moveTo>
                <a:cubicBezTo>
                  <a:pt x="256782" y="73404"/>
                  <a:pt x="256782" y="62614"/>
                  <a:pt x="250138" y="55970"/>
                </a:cubicBezTo>
                <a:cubicBezTo>
                  <a:pt x="243493" y="49326"/>
                  <a:pt x="232703" y="49326"/>
                  <a:pt x="226059" y="55970"/>
                </a:cubicBezTo>
                <a:lnTo>
                  <a:pt x="170089" y="111993"/>
                </a:lnTo>
                <a:lnTo>
                  <a:pt x="139580" y="81537"/>
                </a:lnTo>
                <a:cubicBezTo>
                  <a:pt x="132935" y="74892"/>
                  <a:pt x="122145" y="74892"/>
                  <a:pt x="115501" y="81537"/>
                </a:cubicBezTo>
                <a:lnTo>
                  <a:pt x="64474" y="132563"/>
                </a:lnTo>
                <a:cubicBezTo>
                  <a:pt x="57830" y="139207"/>
                  <a:pt x="57830" y="149997"/>
                  <a:pt x="64474" y="156642"/>
                </a:cubicBezTo>
                <a:cubicBezTo>
                  <a:pt x="71119" y="163286"/>
                  <a:pt x="81909" y="163286"/>
                  <a:pt x="88553" y="156642"/>
                </a:cubicBezTo>
                <a:lnTo>
                  <a:pt x="127567" y="117627"/>
                </a:lnTo>
                <a:lnTo>
                  <a:pt x="158077" y="148137"/>
                </a:lnTo>
                <a:cubicBezTo>
                  <a:pt x="164721" y="154781"/>
                  <a:pt x="175511" y="154781"/>
                  <a:pt x="182155" y="148137"/>
                </a:cubicBezTo>
                <a:lnTo>
                  <a:pt x="250191" y="80101"/>
                </a:lnTo>
                <a:close/>
              </a:path>
            </a:pathLst>
          </a:custGeom>
          <a:solidFill>
            <a:srgbClr val="4A6C8C"/>
          </a:solidFill>
          <a:ln/>
        </p:spPr>
      </p:sp>
      <p:sp>
        <p:nvSpPr>
          <p:cNvPr id="26" name="Text 23"/>
          <p:cNvSpPr/>
          <p:nvPr/>
        </p:nvSpPr>
        <p:spPr>
          <a:xfrm>
            <a:off x="6826250" y="3179536"/>
            <a:ext cx="2775857" cy="290286"/>
          </a:xfrm>
          <a:prstGeom prst="rect">
            <a:avLst/>
          </a:prstGeom>
          <a:noFill/>
          <a:ln/>
        </p:spPr>
        <p:txBody>
          <a:bodyPr wrap="square" lIns="0" tIns="0" rIns="0" bIns="0" rtlCol="0" anchor="ctr"/>
          <a:lstStyle/>
          <a:p>
            <a:pPr>
              <a:lnSpc>
                <a:spcPct val="110000"/>
              </a:lnSpc>
            </a:pPr>
            <a:r>
              <a:rPr lang="en-US" sz="1714" b="1" dirty="0">
                <a:solidFill>
                  <a:srgbClr val="EDF2F4"/>
                </a:solidFill>
                <a:latin typeface="Liter" pitchFamily="34" charset="0"/>
                <a:ea typeface="Liter" pitchFamily="34" charset="-122"/>
                <a:cs typeface="Liter" pitchFamily="34" charset="-120"/>
              </a:rPr>
              <a:t>Regression (Lifetime Value)</a:t>
            </a:r>
            <a:endParaRPr lang="en-US" sz="1600" dirty="0"/>
          </a:p>
        </p:txBody>
      </p:sp>
      <p:sp>
        <p:nvSpPr>
          <p:cNvPr id="27" name="Shape 24"/>
          <p:cNvSpPr/>
          <p:nvPr/>
        </p:nvSpPr>
        <p:spPr>
          <a:xfrm>
            <a:off x="6377214" y="3614964"/>
            <a:ext cx="5261429" cy="725714"/>
          </a:xfrm>
          <a:custGeom>
            <a:avLst/>
            <a:gdLst/>
            <a:ahLst/>
            <a:cxnLst/>
            <a:rect l="l" t="t" r="r" b="b"/>
            <a:pathLst>
              <a:path w="5261429" h="725714">
                <a:moveTo>
                  <a:pt x="72571" y="0"/>
                </a:moveTo>
                <a:lnTo>
                  <a:pt x="5188857" y="0"/>
                </a:lnTo>
                <a:cubicBezTo>
                  <a:pt x="5228937" y="0"/>
                  <a:pt x="5261429" y="32491"/>
                  <a:pt x="5261429" y="72571"/>
                </a:cubicBezTo>
                <a:lnTo>
                  <a:pt x="5261429" y="653143"/>
                </a:lnTo>
                <a:cubicBezTo>
                  <a:pt x="5261429" y="693223"/>
                  <a:pt x="5228937" y="725714"/>
                  <a:pt x="5188857" y="725714"/>
                </a:cubicBezTo>
                <a:lnTo>
                  <a:pt x="72571" y="725714"/>
                </a:lnTo>
                <a:cubicBezTo>
                  <a:pt x="32491" y="725714"/>
                  <a:pt x="0" y="693223"/>
                  <a:pt x="0" y="653143"/>
                </a:cubicBezTo>
                <a:lnTo>
                  <a:pt x="0" y="72571"/>
                </a:lnTo>
                <a:cubicBezTo>
                  <a:pt x="0" y="32518"/>
                  <a:pt x="32518" y="0"/>
                  <a:pt x="72571" y="0"/>
                </a:cubicBezTo>
                <a:close/>
              </a:path>
            </a:pathLst>
          </a:custGeom>
          <a:solidFill>
            <a:srgbClr val="1A1D21">
              <a:alpha val="60000"/>
            </a:srgbClr>
          </a:solidFill>
          <a:ln/>
        </p:spPr>
      </p:sp>
      <p:sp>
        <p:nvSpPr>
          <p:cNvPr id="28" name="Text 25"/>
          <p:cNvSpPr/>
          <p:nvPr/>
        </p:nvSpPr>
        <p:spPr>
          <a:xfrm>
            <a:off x="6486071" y="3723821"/>
            <a:ext cx="5116286" cy="217714"/>
          </a:xfrm>
          <a:prstGeom prst="rect">
            <a:avLst/>
          </a:prstGeom>
          <a:noFill/>
          <a:ln/>
        </p:spPr>
        <p:txBody>
          <a:bodyPr wrap="square" lIns="0" tIns="0" rIns="0" bIns="0" rtlCol="0" anchor="ctr"/>
          <a:lstStyle/>
          <a:p>
            <a:pPr>
              <a:lnSpc>
                <a:spcPct val="120000"/>
              </a:lnSpc>
            </a:pPr>
            <a:r>
              <a:rPr lang="en-US" sz="1143" dirty="0">
                <a:solidFill>
                  <a:srgbClr val="8D99AE"/>
                </a:solidFill>
                <a:latin typeface="Liter" pitchFamily="34" charset="0"/>
                <a:ea typeface="Liter" pitchFamily="34" charset="-122"/>
                <a:cs typeface="Liter" pitchFamily="34" charset="-120"/>
              </a:rPr>
              <a:t>Best Model | En İyi Model</a:t>
            </a:r>
            <a:endParaRPr lang="en-US" sz="1600" dirty="0"/>
          </a:p>
        </p:txBody>
      </p:sp>
      <p:sp>
        <p:nvSpPr>
          <p:cNvPr id="29" name="Text 26"/>
          <p:cNvSpPr/>
          <p:nvPr/>
        </p:nvSpPr>
        <p:spPr>
          <a:xfrm>
            <a:off x="6486071" y="3977821"/>
            <a:ext cx="5134429" cy="254000"/>
          </a:xfrm>
          <a:prstGeom prst="rect">
            <a:avLst/>
          </a:prstGeom>
          <a:noFill/>
          <a:ln/>
        </p:spPr>
        <p:txBody>
          <a:bodyPr wrap="square" lIns="0" tIns="0" rIns="0" bIns="0" rtlCol="0" anchor="ctr"/>
          <a:lstStyle/>
          <a:p>
            <a:pPr>
              <a:lnSpc>
                <a:spcPct val="120000"/>
              </a:lnSpc>
            </a:pPr>
            <a:r>
              <a:rPr lang="en-US" sz="1429" b="1" dirty="0">
                <a:solidFill>
                  <a:srgbClr val="4A6C8C"/>
                </a:solidFill>
                <a:latin typeface="Liter" pitchFamily="34" charset="0"/>
                <a:ea typeface="Liter" pitchFamily="34" charset="-122"/>
                <a:cs typeface="Liter" pitchFamily="34" charset="-120"/>
              </a:rPr>
              <a:t>Ridge Regression</a:t>
            </a:r>
            <a:endParaRPr lang="en-US" sz="1600" dirty="0"/>
          </a:p>
        </p:txBody>
      </p:sp>
      <p:sp>
        <p:nvSpPr>
          <p:cNvPr id="30" name="Shape 27"/>
          <p:cNvSpPr/>
          <p:nvPr/>
        </p:nvSpPr>
        <p:spPr>
          <a:xfrm>
            <a:off x="6377214" y="4449536"/>
            <a:ext cx="5261429" cy="725714"/>
          </a:xfrm>
          <a:custGeom>
            <a:avLst/>
            <a:gdLst/>
            <a:ahLst/>
            <a:cxnLst/>
            <a:rect l="l" t="t" r="r" b="b"/>
            <a:pathLst>
              <a:path w="5261429" h="725714">
                <a:moveTo>
                  <a:pt x="72571" y="0"/>
                </a:moveTo>
                <a:lnTo>
                  <a:pt x="5188857" y="0"/>
                </a:lnTo>
                <a:cubicBezTo>
                  <a:pt x="5228937" y="0"/>
                  <a:pt x="5261429" y="32491"/>
                  <a:pt x="5261429" y="72571"/>
                </a:cubicBezTo>
                <a:lnTo>
                  <a:pt x="5261429" y="653143"/>
                </a:lnTo>
                <a:cubicBezTo>
                  <a:pt x="5261429" y="693223"/>
                  <a:pt x="5228937" y="725714"/>
                  <a:pt x="5188857" y="725714"/>
                </a:cubicBezTo>
                <a:lnTo>
                  <a:pt x="72571" y="725714"/>
                </a:lnTo>
                <a:cubicBezTo>
                  <a:pt x="32491" y="725714"/>
                  <a:pt x="0" y="693223"/>
                  <a:pt x="0" y="653143"/>
                </a:cubicBezTo>
                <a:lnTo>
                  <a:pt x="0" y="72571"/>
                </a:lnTo>
                <a:cubicBezTo>
                  <a:pt x="0" y="32518"/>
                  <a:pt x="32518" y="0"/>
                  <a:pt x="72571" y="0"/>
                </a:cubicBezTo>
                <a:close/>
              </a:path>
            </a:pathLst>
          </a:custGeom>
          <a:solidFill>
            <a:srgbClr val="1A1D21">
              <a:alpha val="60000"/>
            </a:srgbClr>
          </a:solidFill>
          <a:ln/>
        </p:spPr>
      </p:sp>
      <p:sp>
        <p:nvSpPr>
          <p:cNvPr id="31" name="Text 28"/>
          <p:cNvSpPr/>
          <p:nvPr/>
        </p:nvSpPr>
        <p:spPr>
          <a:xfrm>
            <a:off x="6486071" y="4558393"/>
            <a:ext cx="5116286" cy="217714"/>
          </a:xfrm>
          <a:prstGeom prst="rect">
            <a:avLst/>
          </a:prstGeom>
          <a:noFill/>
          <a:ln/>
        </p:spPr>
        <p:txBody>
          <a:bodyPr wrap="square" lIns="0" tIns="0" rIns="0" bIns="0" rtlCol="0" anchor="ctr"/>
          <a:lstStyle/>
          <a:p>
            <a:pPr>
              <a:lnSpc>
                <a:spcPct val="120000"/>
              </a:lnSpc>
            </a:pPr>
            <a:r>
              <a:rPr lang="en-US" sz="1143" dirty="0">
                <a:solidFill>
                  <a:srgbClr val="8D99AE"/>
                </a:solidFill>
                <a:latin typeface="Liter" pitchFamily="34" charset="0"/>
                <a:ea typeface="Liter" pitchFamily="34" charset="-122"/>
                <a:cs typeface="Liter" pitchFamily="34" charset="-120"/>
              </a:rPr>
              <a:t>Performance | Performans</a:t>
            </a:r>
            <a:endParaRPr lang="en-US" sz="1600" dirty="0"/>
          </a:p>
        </p:txBody>
      </p:sp>
      <p:sp>
        <p:nvSpPr>
          <p:cNvPr id="32" name="Text 29"/>
          <p:cNvSpPr/>
          <p:nvPr/>
        </p:nvSpPr>
        <p:spPr>
          <a:xfrm>
            <a:off x="6486071" y="4812393"/>
            <a:ext cx="5134429" cy="254000"/>
          </a:xfrm>
          <a:prstGeom prst="rect">
            <a:avLst/>
          </a:prstGeom>
          <a:noFill/>
          <a:ln/>
        </p:spPr>
        <p:txBody>
          <a:bodyPr wrap="square" lIns="0" tIns="0" rIns="0" bIns="0" rtlCol="0" anchor="ctr"/>
          <a:lstStyle/>
          <a:p>
            <a:pPr>
              <a:lnSpc>
                <a:spcPct val="120000"/>
              </a:lnSpc>
            </a:pPr>
            <a:r>
              <a:rPr lang="en-US" sz="1429" b="1" dirty="0">
                <a:solidFill>
                  <a:srgbClr val="4A6C8C"/>
                </a:solidFill>
                <a:latin typeface="Liter" pitchFamily="34" charset="0"/>
                <a:ea typeface="Liter" pitchFamily="34" charset="-122"/>
                <a:cs typeface="Liter" pitchFamily="34" charset="-120"/>
              </a:rPr>
              <a:t>R² = 0.371</a:t>
            </a:r>
            <a:endParaRPr lang="en-US" sz="1600" dirty="0"/>
          </a:p>
        </p:txBody>
      </p:sp>
      <p:sp>
        <p:nvSpPr>
          <p:cNvPr id="33" name="Shape 30"/>
          <p:cNvSpPr/>
          <p:nvPr/>
        </p:nvSpPr>
        <p:spPr>
          <a:xfrm>
            <a:off x="6377214" y="5284107"/>
            <a:ext cx="5261429" cy="435429"/>
          </a:xfrm>
          <a:custGeom>
            <a:avLst/>
            <a:gdLst/>
            <a:ahLst/>
            <a:cxnLst/>
            <a:rect l="l" t="t" r="r" b="b"/>
            <a:pathLst>
              <a:path w="5261429" h="435429">
                <a:moveTo>
                  <a:pt x="72573" y="0"/>
                </a:moveTo>
                <a:lnTo>
                  <a:pt x="5188856" y="0"/>
                </a:lnTo>
                <a:cubicBezTo>
                  <a:pt x="5228937" y="0"/>
                  <a:pt x="5261429" y="32492"/>
                  <a:pt x="5261429" y="72573"/>
                </a:cubicBezTo>
                <a:lnTo>
                  <a:pt x="5261429" y="362856"/>
                </a:lnTo>
                <a:cubicBezTo>
                  <a:pt x="5261429" y="402937"/>
                  <a:pt x="5228937" y="435429"/>
                  <a:pt x="5188856" y="435429"/>
                </a:cubicBezTo>
                <a:lnTo>
                  <a:pt x="72573" y="435429"/>
                </a:lnTo>
                <a:cubicBezTo>
                  <a:pt x="32492" y="435429"/>
                  <a:pt x="0" y="402937"/>
                  <a:pt x="0" y="362856"/>
                </a:cubicBezTo>
                <a:lnTo>
                  <a:pt x="0" y="72573"/>
                </a:lnTo>
                <a:cubicBezTo>
                  <a:pt x="0" y="32519"/>
                  <a:pt x="32519" y="0"/>
                  <a:pt x="72573" y="0"/>
                </a:cubicBezTo>
                <a:close/>
              </a:path>
            </a:pathLst>
          </a:custGeom>
          <a:solidFill>
            <a:srgbClr val="D4A373">
              <a:alpha val="20000"/>
            </a:srgbClr>
          </a:solidFill>
          <a:ln/>
        </p:spPr>
      </p:sp>
      <p:sp>
        <p:nvSpPr>
          <p:cNvPr id="34" name="Shape 31"/>
          <p:cNvSpPr/>
          <p:nvPr/>
        </p:nvSpPr>
        <p:spPr>
          <a:xfrm>
            <a:off x="6504214" y="5429250"/>
            <a:ext cx="145143" cy="145143"/>
          </a:xfrm>
          <a:custGeom>
            <a:avLst/>
            <a:gdLst/>
            <a:ahLst/>
            <a:cxnLst/>
            <a:rect l="l" t="t" r="r" b="b"/>
            <a:pathLst>
              <a:path w="145143" h="145143">
                <a:moveTo>
                  <a:pt x="72571" y="145143"/>
                </a:moveTo>
                <a:cubicBezTo>
                  <a:pt x="112625" y="145143"/>
                  <a:pt x="145143" y="112625"/>
                  <a:pt x="145143" y="72571"/>
                </a:cubicBezTo>
                <a:cubicBezTo>
                  <a:pt x="145143" y="32518"/>
                  <a:pt x="112625" y="0"/>
                  <a:pt x="72571" y="0"/>
                </a:cubicBezTo>
                <a:cubicBezTo>
                  <a:pt x="32518" y="0"/>
                  <a:pt x="0" y="32518"/>
                  <a:pt x="0" y="72571"/>
                </a:cubicBezTo>
                <a:cubicBezTo>
                  <a:pt x="0" y="112625"/>
                  <a:pt x="32518" y="145143"/>
                  <a:pt x="72571" y="145143"/>
                </a:cubicBezTo>
                <a:close/>
                <a:moveTo>
                  <a:pt x="63500" y="45357"/>
                </a:moveTo>
                <a:cubicBezTo>
                  <a:pt x="63500" y="40350"/>
                  <a:pt x="67565" y="36286"/>
                  <a:pt x="72571" y="36286"/>
                </a:cubicBezTo>
                <a:cubicBezTo>
                  <a:pt x="77578" y="36286"/>
                  <a:pt x="81643" y="40350"/>
                  <a:pt x="81643" y="45357"/>
                </a:cubicBezTo>
                <a:cubicBezTo>
                  <a:pt x="81643" y="50364"/>
                  <a:pt x="77578" y="54429"/>
                  <a:pt x="72571" y="54429"/>
                </a:cubicBezTo>
                <a:cubicBezTo>
                  <a:pt x="67565" y="54429"/>
                  <a:pt x="63500" y="50364"/>
                  <a:pt x="63500" y="45357"/>
                </a:cubicBezTo>
                <a:close/>
                <a:moveTo>
                  <a:pt x="61232" y="63500"/>
                </a:moveTo>
                <a:lnTo>
                  <a:pt x="74839" y="63500"/>
                </a:lnTo>
                <a:cubicBezTo>
                  <a:pt x="78610" y="63500"/>
                  <a:pt x="81643" y="66533"/>
                  <a:pt x="81643" y="70304"/>
                </a:cubicBezTo>
                <a:lnTo>
                  <a:pt x="81643" y="95250"/>
                </a:lnTo>
                <a:lnTo>
                  <a:pt x="83911" y="95250"/>
                </a:lnTo>
                <a:cubicBezTo>
                  <a:pt x="87681" y="95250"/>
                  <a:pt x="90714" y="98283"/>
                  <a:pt x="90714" y="102054"/>
                </a:cubicBezTo>
                <a:cubicBezTo>
                  <a:pt x="90714" y="105824"/>
                  <a:pt x="87681" y="108857"/>
                  <a:pt x="83911" y="108857"/>
                </a:cubicBezTo>
                <a:lnTo>
                  <a:pt x="61232" y="108857"/>
                </a:lnTo>
                <a:cubicBezTo>
                  <a:pt x="57462" y="108857"/>
                  <a:pt x="54429" y="105824"/>
                  <a:pt x="54429" y="102054"/>
                </a:cubicBezTo>
                <a:cubicBezTo>
                  <a:pt x="54429" y="98283"/>
                  <a:pt x="57462" y="95250"/>
                  <a:pt x="61232" y="95250"/>
                </a:cubicBezTo>
                <a:lnTo>
                  <a:pt x="68036" y="95250"/>
                </a:lnTo>
                <a:lnTo>
                  <a:pt x="68036" y="77107"/>
                </a:lnTo>
                <a:lnTo>
                  <a:pt x="61232" y="77107"/>
                </a:lnTo>
                <a:cubicBezTo>
                  <a:pt x="57462" y="77107"/>
                  <a:pt x="54429" y="74074"/>
                  <a:pt x="54429" y="70304"/>
                </a:cubicBezTo>
                <a:cubicBezTo>
                  <a:pt x="54429" y="66533"/>
                  <a:pt x="57462" y="63500"/>
                  <a:pt x="61232" y="63500"/>
                </a:cubicBezTo>
                <a:close/>
              </a:path>
            </a:pathLst>
          </a:custGeom>
          <a:solidFill>
            <a:srgbClr val="D4A373"/>
          </a:solidFill>
          <a:ln/>
        </p:spPr>
      </p:sp>
      <p:sp>
        <p:nvSpPr>
          <p:cNvPr id="35" name="Text 32"/>
          <p:cNvSpPr/>
          <p:nvPr/>
        </p:nvSpPr>
        <p:spPr>
          <a:xfrm>
            <a:off x="6719337" y="5392964"/>
            <a:ext cx="4883020" cy="217714"/>
          </a:xfrm>
          <a:prstGeom prst="rect">
            <a:avLst/>
          </a:prstGeom>
          <a:noFill/>
          <a:ln/>
        </p:spPr>
        <p:txBody>
          <a:bodyPr wrap="square" lIns="0" tIns="0" rIns="0" bIns="0" rtlCol="0" anchor="ctr"/>
          <a:lstStyle/>
          <a:p>
            <a:pPr>
              <a:lnSpc>
                <a:spcPct val="120000"/>
              </a:lnSpc>
            </a:pPr>
            <a:r>
              <a:rPr lang="en-US" sz="1143" dirty="0">
                <a:solidFill>
                  <a:srgbClr val="EDF2F4"/>
                </a:solidFill>
                <a:latin typeface="Liter" pitchFamily="34" charset="0"/>
                <a:ea typeface="Liter" pitchFamily="34" charset="-122"/>
                <a:cs typeface="Liter" pitchFamily="34" charset="-120"/>
              </a:rPr>
              <a:t>RF overfitted; Ridge &amp; HGB generalized well</a:t>
            </a:r>
            <a:endParaRPr lang="en-US" sz="1600" dirty="0"/>
          </a:p>
        </p:txBody>
      </p:sp>
      <p:sp>
        <p:nvSpPr>
          <p:cNvPr id="36" name="Shape 33"/>
          <p:cNvSpPr/>
          <p:nvPr/>
        </p:nvSpPr>
        <p:spPr>
          <a:xfrm>
            <a:off x="367393" y="6096000"/>
            <a:ext cx="11457214" cy="517071"/>
          </a:xfrm>
          <a:custGeom>
            <a:avLst/>
            <a:gdLst/>
            <a:ahLst/>
            <a:cxnLst/>
            <a:rect l="l" t="t" r="r" b="b"/>
            <a:pathLst>
              <a:path w="11457214" h="517071">
                <a:moveTo>
                  <a:pt x="108859" y="0"/>
                </a:moveTo>
                <a:lnTo>
                  <a:pt x="11348355" y="0"/>
                </a:lnTo>
                <a:cubicBezTo>
                  <a:pt x="11408476" y="0"/>
                  <a:pt x="11457214" y="48738"/>
                  <a:pt x="11457214" y="108859"/>
                </a:cubicBezTo>
                <a:lnTo>
                  <a:pt x="11457214" y="408212"/>
                </a:lnTo>
                <a:cubicBezTo>
                  <a:pt x="11457214" y="468334"/>
                  <a:pt x="11408476" y="517071"/>
                  <a:pt x="11348355" y="517071"/>
                </a:cubicBezTo>
                <a:lnTo>
                  <a:pt x="108859" y="517071"/>
                </a:lnTo>
                <a:cubicBezTo>
                  <a:pt x="48738" y="517071"/>
                  <a:pt x="0" y="468334"/>
                  <a:pt x="0" y="408212"/>
                </a:cubicBezTo>
                <a:lnTo>
                  <a:pt x="0" y="108859"/>
                </a:lnTo>
                <a:cubicBezTo>
                  <a:pt x="0" y="48738"/>
                  <a:pt x="48738" y="0"/>
                  <a:pt x="108859" y="0"/>
                </a:cubicBezTo>
                <a:close/>
              </a:path>
            </a:pathLst>
          </a:custGeom>
          <a:solidFill>
            <a:srgbClr val="4A6C8C">
              <a:alpha val="20000"/>
            </a:srgbClr>
          </a:solidFill>
          <a:ln w="12700">
            <a:solidFill>
              <a:srgbClr val="4A6C8C">
                <a:alpha val="50196"/>
              </a:srgbClr>
            </a:solidFill>
            <a:prstDash val="solid"/>
          </a:ln>
        </p:spPr>
      </p:sp>
      <p:sp>
        <p:nvSpPr>
          <p:cNvPr id="37" name="Shape 34"/>
          <p:cNvSpPr/>
          <p:nvPr/>
        </p:nvSpPr>
        <p:spPr>
          <a:xfrm>
            <a:off x="1967933" y="6281964"/>
            <a:ext cx="181429" cy="145143"/>
          </a:xfrm>
          <a:custGeom>
            <a:avLst/>
            <a:gdLst/>
            <a:ahLst/>
            <a:cxnLst/>
            <a:rect l="l" t="t" r="r" b="b"/>
            <a:pathLst>
              <a:path w="181429" h="145143">
                <a:moveTo>
                  <a:pt x="117900" y="59673"/>
                </a:moveTo>
                <a:cubicBezTo>
                  <a:pt x="121359" y="58738"/>
                  <a:pt x="124987" y="60382"/>
                  <a:pt x="126546" y="63585"/>
                </a:cubicBezTo>
                <a:lnTo>
                  <a:pt x="131819" y="74244"/>
                </a:lnTo>
                <a:cubicBezTo>
                  <a:pt x="134739" y="74641"/>
                  <a:pt x="137602" y="75435"/>
                  <a:pt x="140295" y="76540"/>
                </a:cubicBezTo>
                <a:lnTo>
                  <a:pt x="150217" y="69935"/>
                </a:lnTo>
                <a:cubicBezTo>
                  <a:pt x="153194" y="67951"/>
                  <a:pt x="157134" y="68348"/>
                  <a:pt x="159657" y="70871"/>
                </a:cubicBezTo>
                <a:lnTo>
                  <a:pt x="165100" y="76313"/>
                </a:lnTo>
                <a:cubicBezTo>
                  <a:pt x="167623" y="78836"/>
                  <a:pt x="168020" y="82805"/>
                  <a:pt x="166035" y="85753"/>
                </a:cubicBezTo>
                <a:lnTo>
                  <a:pt x="159430" y="95647"/>
                </a:lnTo>
                <a:cubicBezTo>
                  <a:pt x="159969" y="96979"/>
                  <a:pt x="160451" y="98368"/>
                  <a:pt x="160848" y="99814"/>
                </a:cubicBezTo>
                <a:cubicBezTo>
                  <a:pt x="161245" y="101260"/>
                  <a:pt x="161500" y="102677"/>
                  <a:pt x="161698" y="104123"/>
                </a:cubicBezTo>
                <a:lnTo>
                  <a:pt x="172385" y="109396"/>
                </a:lnTo>
                <a:cubicBezTo>
                  <a:pt x="175589" y="110983"/>
                  <a:pt x="177233" y="114612"/>
                  <a:pt x="176298" y="118042"/>
                </a:cubicBezTo>
                <a:lnTo>
                  <a:pt x="174313" y="125469"/>
                </a:lnTo>
                <a:cubicBezTo>
                  <a:pt x="173378" y="128899"/>
                  <a:pt x="170174" y="131224"/>
                  <a:pt x="166602" y="130997"/>
                </a:cubicBezTo>
                <a:lnTo>
                  <a:pt x="154696" y="130232"/>
                </a:lnTo>
                <a:cubicBezTo>
                  <a:pt x="152910" y="132528"/>
                  <a:pt x="150841" y="134654"/>
                  <a:pt x="148488" y="136468"/>
                </a:cubicBezTo>
                <a:lnTo>
                  <a:pt x="149253" y="148346"/>
                </a:lnTo>
                <a:cubicBezTo>
                  <a:pt x="149480" y="151918"/>
                  <a:pt x="147156" y="155150"/>
                  <a:pt x="143725" y="156057"/>
                </a:cubicBezTo>
                <a:lnTo>
                  <a:pt x="136298" y="158041"/>
                </a:lnTo>
                <a:cubicBezTo>
                  <a:pt x="132840" y="158977"/>
                  <a:pt x="129240" y="157333"/>
                  <a:pt x="127652" y="154129"/>
                </a:cubicBezTo>
                <a:lnTo>
                  <a:pt x="122379" y="143470"/>
                </a:lnTo>
                <a:cubicBezTo>
                  <a:pt x="119459" y="143073"/>
                  <a:pt x="116596" y="142280"/>
                  <a:pt x="113903" y="141174"/>
                </a:cubicBezTo>
                <a:lnTo>
                  <a:pt x="103981" y="147779"/>
                </a:lnTo>
                <a:cubicBezTo>
                  <a:pt x="101005" y="149764"/>
                  <a:pt x="97064" y="149367"/>
                  <a:pt x="94541" y="146844"/>
                </a:cubicBezTo>
                <a:lnTo>
                  <a:pt x="89098" y="141401"/>
                </a:lnTo>
                <a:cubicBezTo>
                  <a:pt x="86575" y="138878"/>
                  <a:pt x="86179" y="134938"/>
                  <a:pt x="88163" y="131961"/>
                </a:cubicBezTo>
                <a:lnTo>
                  <a:pt x="94768" y="122039"/>
                </a:lnTo>
                <a:cubicBezTo>
                  <a:pt x="94229" y="120707"/>
                  <a:pt x="93748" y="119318"/>
                  <a:pt x="93351" y="117872"/>
                </a:cubicBezTo>
                <a:cubicBezTo>
                  <a:pt x="92954" y="116426"/>
                  <a:pt x="92699" y="114980"/>
                  <a:pt x="92500" y="113563"/>
                </a:cubicBezTo>
                <a:lnTo>
                  <a:pt x="81813" y="108290"/>
                </a:lnTo>
                <a:cubicBezTo>
                  <a:pt x="78610" y="106703"/>
                  <a:pt x="76994" y="103074"/>
                  <a:pt x="77901" y="99644"/>
                </a:cubicBezTo>
                <a:lnTo>
                  <a:pt x="79885" y="92217"/>
                </a:lnTo>
                <a:cubicBezTo>
                  <a:pt x="80821" y="88787"/>
                  <a:pt x="84024" y="86462"/>
                  <a:pt x="87596" y="86689"/>
                </a:cubicBezTo>
                <a:lnTo>
                  <a:pt x="99474" y="87454"/>
                </a:lnTo>
                <a:cubicBezTo>
                  <a:pt x="101260" y="85158"/>
                  <a:pt x="103329" y="83032"/>
                  <a:pt x="105682" y="81218"/>
                </a:cubicBezTo>
                <a:lnTo>
                  <a:pt x="104917" y="69368"/>
                </a:lnTo>
                <a:cubicBezTo>
                  <a:pt x="104690" y="65796"/>
                  <a:pt x="107015" y="62565"/>
                  <a:pt x="110445" y="61657"/>
                </a:cubicBezTo>
                <a:lnTo>
                  <a:pt x="117872" y="59673"/>
                </a:lnTo>
                <a:close/>
                <a:moveTo>
                  <a:pt x="127113" y="96384"/>
                </a:moveTo>
                <a:cubicBezTo>
                  <a:pt x="120229" y="96392"/>
                  <a:pt x="114647" y="101987"/>
                  <a:pt x="114654" y="108871"/>
                </a:cubicBezTo>
                <a:cubicBezTo>
                  <a:pt x="114662" y="115755"/>
                  <a:pt x="120258" y="121338"/>
                  <a:pt x="127142" y="121330"/>
                </a:cubicBezTo>
                <a:cubicBezTo>
                  <a:pt x="134026" y="121323"/>
                  <a:pt x="139609" y="115727"/>
                  <a:pt x="139601" y="108843"/>
                </a:cubicBezTo>
                <a:cubicBezTo>
                  <a:pt x="139593" y="101959"/>
                  <a:pt x="133998" y="96376"/>
                  <a:pt x="127113" y="96384"/>
                </a:cubicBezTo>
                <a:close/>
                <a:moveTo>
                  <a:pt x="63755" y="-12898"/>
                </a:moveTo>
                <a:lnTo>
                  <a:pt x="71182" y="-10914"/>
                </a:lnTo>
                <a:cubicBezTo>
                  <a:pt x="74613" y="-9979"/>
                  <a:pt x="76937" y="-6747"/>
                  <a:pt x="76710" y="-3203"/>
                </a:cubicBezTo>
                <a:lnTo>
                  <a:pt x="75945" y="8646"/>
                </a:lnTo>
                <a:cubicBezTo>
                  <a:pt x="78298" y="10460"/>
                  <a:pt x="80367" y="12558"/>
                  <a:pt x="82153" y="14883"/>
                </a:cubicBezTo>
                <a:lnTo>
                  <a:pt x="94059" y="14117"/>
                </a:lnTo>
                <a:cubicBezTo>
                  <a:pt x="97603" y="13891"/>
                  <a:pt x="100835" y="16215"/>
                  <a:pt x="101770" y="19645"/>
                </a:cubicBezTo>
                <a:lnTo>
                  <a:pt x="103754" y="27073"/>
                </a:lnTo>
                <a:cubicBezTo>
                  <a:pt x="104662" y="30503"/>
                  <a:pt x="103046" y="34131"/>
                  <a:pt x="99842" y="35719"/>
                </a:cubicBezTo>
                <a:lnTo>
                  <a:pt x="89155" y="40992"/>
                </a:lnTo>
                <a:cubicBezTo>
                  <a:pt x="88957" y="42437"/>
                  <a:pt x="88673" y="43883"/>
                  <a:pt x="88305" y="45300"/>
                </a:cubicBezTo>
                <a:cubicBezTo>
                  <a:pt x="87936" y="46718"/>
                  <a:pt x="87426" y="48135"/>
                  <a:pt x="86887" y="49468"/>
                </a:cubicBezTo>
                <a:lnTo>
                  <a:pt x="93492" y="59390"/>
                </a:lnTo>
                <a:cubicBezTo>
                  <a:pt x="95477" y="62366"/>
                  <a:pt x="95080" y="66306"/>
                  <a:pt x="92557" y="68829"/>
                </a:cubicBezTo>
                <a:lnTo>
                  <a:pt x="87114" y="74272"/>
                </a:lnTo>
                <a:cubicBezTo>
                  <a:pt x="84591" y="76795"/>
                  <a:pt x="80651" y="77192"/>
                  <a:pt x="77674" y="75208"/>
                </a:cubicBezTo>
                <a:lnTo>
                  <a:pt x="67752" y="68603"/>
                </a:lnTo>
                <a:cubicBezTo>
                  <a:pt x="65059" y="69708"/>
                  <a:pt x="62196" y="70502"/>
                  <a:pt x="59276" y="70899"/>
                </a:cubicBezTo>
                <a:lnTo>
                  <a:pt x="54003" y="81558"/>
                </a:lnTo>
                <a:cubicBezTo>
                  <a:pt x="52416" y="84761"/>
                  <a:pt x="48787" y="86377"/>
                  <a:pt x="45357" y="85470"/>
                </a:cubicBezTo>
                <a:lnTo>
                  <a:pt x="37930" y="83485"/>
                </a:lnTo>
                <a:cubicBezTo>
                  <a:pt x="34471" y="82550"/>
                  <a:pt x="32175" y="79318"/>
                  <a:pt x="32402" y="75775"/>
                </a:cubicBezTo>
                <a:lnTo>
                  <a:pt x="33167" y="63897"/>
                </a:lnTo>
                <a:cubicBezTo>
                  <a:pt x="30815" y="62083"/>
                  <a:pt x="28745" y="59985"/>
                  <a:pt x="26959" y="57660"/>
                </a:cubicBezTo>
                <a:lnTo>
                  <a:pt x="15053" y="58426"/>
                </a:lnTo>
                <a:cubicBezTo>
                  <a:pt x="11509" y="58652"/>
                  <a:pt x="8278" y="56328"/>
                  <a:pt x="7342" y="52898"/>
                </a:cubicBezTo>
                <a:lnTo>
                  <a:pt x="5358" y="45471"/>
                </a:lnTo>
                <a:cubicBezTo>
                  <a:pt x="4451" y="42040"/>
                  <a:pt x="6067" y="38412"/>
                  <a:pt x="9270" y="36824"/>
                </a:cubicBezTo>
                <a:lnTo>
                  <a:pt x="19957" y="31552"/>
                </a:lnTo>
                <a:cubicBezTo>
                  <a:pt x="20156" y="30106"/>
                  <a:pt x="20439" y="28688"/>
                  <a:pt x="20808" y="27243"/>
                </a:cubicBezTo>
                <a:cubicBezTo>
                  <a:pt x="21204" y="25797"/>
                  <a:pt x="21658" y="24408"/>
                  <a:pt x="22225" y="23075"/>
                </a:cubicBezTo>
                <a:lnTo>
                  <a:pt x="15620" y="13182"/>
                </a:lnTo>
                <a:cubicBezTo>
                  <a:pt x="13635" y="10205"/>
                  <a:pt x="14032" y="6265"/>
                  <a:pt x="16555" y="3742"/>
                </a:cubicBezTo>
                <a:lnTo>
                  <a:pt x="21998" y="-1701"/>
                </a:lnTo>
                <a:cubicBezTo>
                  <a:pt x="24521" y="-4224"/>
                  <a:pt x="28462" y="-4621"/>
                  <a:pt x="31438" y="-2636"/>
                </a:cubicBezTo>
                <a:lnTo>
                  <a:pt x="41360" y="3969"/>
                </a:lnTo>
                <a:cubicBezTo>
                  <a:pt x="44053" y="2863"/>
                  <a:pt x="46916" y="2069"/>
                  <a:pt x="49836" y="1673"/>
                </a:cubicBezTo>
                <a:lnTo>
                  <a:pt x="55109" y="-8986"/>
                </a:lnTo>
                <a:cubicBezTo>
                  <a:pt x="56696" y="-12190"/>
                  <a:pt x="60297" y="-13806"/>
                  <a:pt x="63755" y="-12898"/>
                </a:cubicBezTo>
                <a:close/>
                <a:moveTo>
                  <a:pt x="54542" y="23813"/>
                </a:moveTo>
                <a:cubicBezTo>
                  <a:pt x="47658" y="23813"/>
                  <a:pt x="42069" y="29402"/>
                  <a:pt x="42069" y="36286"/>
                </a:cubicBezTo>
                <a:cubicBezTo>
                  <a:pt x="42069" y="43170"/>
                  <a:pt x="47658" y="48759"/>
                  <a:pt x="54542" y="48759"/>
                </a:cubicBezTo>
                <a:cubicBezTo>
                  <a:pt x="61426" y="48759"/>
                  <a:pt x="67015" y="43170"/>
                  <a:pt x="67015" y="36286"/>
                </a:cubicBezTo>
                <a:cubicBezTo>
                  <a:pt x="67015" y="29402"/>
                  <a:pt x="61426" y="23813"/>
                  <a:pt x="54542" y="23813"/>
                </a:cubicBezTo>
                <a:close/>
              </a:path>
            </a:pathLst>
          </a:custGeom>
          <a:solidFill>
            <a:srgbClr val="D4A373"/>
          </a:solidFill>
          <a:ln/>
        </p:spPr>
      </p:sp>
      <p:sp>
        <p:nvSpPr>
          <p:cNvPr id="38" name="Text 35"/>
          <p:cNvSpPr/>
          <p:nvPr/>
        </p:nvSpPr>
        <p:spPr>
          <a:xfrm>
            <a:off x="2221933" y="6245679"/>
            <a:ext cx="1333500" cy="217714"/>
          </a:xfrm>
          <a:prstGeom prst="rect">
            <a:avLst/>
          </a:prstGeom>
          <a:noFill/>
          <a:ln/>
        </p:spPr>
        <p:txBody>
          <a:bodyPr wrap="square" lIns="0" tIns="0" rIns="0" bIns="0" rtlCol="0" anchor="ctr"/>
          <a:lstStyle/>
          <a:p>
            <a:pPr>
              <a:lnSpc>
                <a:spcPct val="120000"/>
              </a:lnSpc>
            </a:pPr>
            <a:r>
              <a:rPr lang="en-US" sz="1143" dirty="0">
                <a:solidFill>
                  <a:srgbClr val="EDF2F4"/>
                </a:solidFill>
                <a:latin typeface="Liter" pitchFamily="34" charset="0"/>
                <a:ea typeface="Liter" pitchFamily="34" charset="-122"/>
                <a:cs typeface="Liter" pitchFamily="34" charset="-120"/>
              </a:rPr>
              <a:t>Full sklearn Pipeline</a:t>
            </a:r>
            <a:endParaRPr lang="en-US" sz="1600" dirty="0"/>
          </a:p>
        </p:txBody>
      </p:sp>
      <p:sp>
        <p:nvSpPr>
          <p:cNvPr id="39" name="Shape 36"/>
          <p:cNvSpPr/>
          <p:nvPr/>
        </p:nvSpPr>
        <p:spPr>
          <a:xfrm>
            <a:off x="3788881" y="6281964"/>
            <a:ext cx="145143" cy="145143"/>
          </a:xfrm>
          <a:custGeom>
            <a:avLst/>
            <a:gdLst/>
            <a:ahLst/>
            <a:cxnLst/>
            <a:rect l="l" t="t" r="r" b="b"/>
            <a:pathLst>
              <a:path w="145143" h="145143">
                <a:moveTo>
                  <a:pt x="117929" y="58964"/>
                </a:moveTo>
                <a:cubicBezTo>
                  <a:pt x="117929" y="71976"/>
                  <a:pt x="113705" y="83996"/>
                  <a:pt x="106589" y="93748"/>
                </a:cubicBezTo>
                <a:lnTo>
                  <a:pt x="142478" y="129665"/>
                </a:lnTo>
                <a:cubicBezTo>
                  <a:pt x="146022" y="133208"/>
                  <a:pt x="146022" y="138963"/>
                  <a:pt x="142478" y="142506"/>
                </a:cubicBezTo>
                <a:cubicBezTo>
                  <a:pt x="138935" y="146050"/>
                  <a:pt x="133180" y="146050"/>
                  <a:pt x="129636" y="142506"/>
                </a:cubicBezTo>
                <a:lnTo>
                  <a:pt x="93748" y="106589"/>
                </a:lnTo>
                <a:cubicBezTo>
                  <a:pt x="83996" y="113705"/>
                  <a:pt x="71976" y="117929"/>
                  <a:pt x="58964" y="117929"/>
                </a:cubicBezTo>
                <a:cubicBezTo>
                  <a:pt x="26392" y="117929"/>
                  <a:pt x="0" y="91536"/>
                  <a:pt x="0" y="58964"/>
                </a:cubicBezTo>
                <a:cubicBezTo>
                  <a:pt x="0" y="26392"/>
                  <a:pt x="26392" y="0"/>
                  <a:pt x="58964" y="0"/>
                </a:cubicBezTo>
                <a:cubicBezTo>
                  <a:pt x="91536" y="0"/>
                  <a:pt x="117929" y="26392"/>
                  <a:pt x="117929" y="58964"/>
                </a:cubicBezTo>
                <a:close/>
                <a:moveTo>
                  <a:pt x="58964" y="99786"/>
                </a:moveTo>
                <a:cubicBezTo>
                  <a:pt x="81494" y="99786"/>
                  <a:pt x="99786" y="81494"/>
                  <a:pt x="99786" y="58964"/>
                </a:cubicBezTo>
                <a:cubicBezTo>
                  <a:pt x="99786" y="36434"/>
                  <a:pt x="81494" y="18143"/>
                  <a:pt x="58964" y="18143"/>
                </a:cubicBezTo>
                <a:cubicBezTo>
                  <a:pt x="36434" y="18143"/>
                  <a:pt x="18143" y="36434"/>
                  <a:pt x="18143" y="58964"/>
                </a:cubicBezTo>
                <a:cubicBezTo>
                  <a:pt x="18143" y="81494"/>
                  <a:pt x="36434" y="99786"/>
                  <a:pt x="58964" y="99786"/>
                </a:cubicBezTo>
                <a:close/>
              </a:path>
            </a:pathLst>
          </a:custGeom>
          <a:solidFill>
            <a:srgbClr val="D4A373"/>
          </a:solidFill>
          <a:ln/>
        </p:spPr>
      </p:sp>
      <p:sp>
        <p:nvSpPr>
          <p:cNvPr id="40" name="Text 37"/>
          <p:cNvSpPr/>
          <p:nvPr/>
        </p:nvSpPr>
        <p:spPr>
          <a:xfrm>
            <a:off x="4024738" y="6245679"/>
            <a:ext cx="988786" cy="217714"/>
          </a:xfrm>
          <a:prstGeom prst="rect">
            <a:avLst/>
          </a:prstGeom>
          <a:noFill/>
          <a:ln/>
        </p:spPr>
        <p:txBody>
          <a:bodyPr wrap="square" lIns="0" tIns="0" rIns="0" bIns="0" rtlCol="0" anchor="ctr"/>
          <a:lstStyle/>
          <a:p>
            <a:pPr>
              <a:lnSpc>
                <a:spcPct val="120000"/>
              </a:lnSpc>
            </a:pPr>
            <a:r>
              <a:rPr lang="en-US" sz="1143" dirty="0">
                <a:solidFill>
                  <a:srgbClr val="EDF2F4"/>
                </a:solidFill>
                <a:latin typeface="Liter" pitchFamily="34" charset="0"/>
                <a:ea typeface="Liter" pitchFamily="34" charset="-122"/>
                <a:cs typeface="Liter" pitchFamily="34" charset="-120"/>
              </a:rPr>
              <a:t>GridSearchCV</a:t>
            </a:r>
            <a:endParaRPr lang="en-US" sz="1600" dirty="0"/>
          </a:p>
        </p:txBody>
      </p:sp>
      <p:sp>
        <p:nvSpPr>
          <p:cNvPr id="41" name="Shape 38"/>
          <p:cNvSpPr/>
          <p:nvPr/>
        </p:nvSpPr>
        <p:spPr>
          <a:xfrm>
            <a:off x="5247396" y="6281964"/>
            <a:ext cx="145143" cy="145143"/>
          </a:xfrm>
          <a:custGeom>
            <a:avLst/>
            <a:gdLst/>
            <a:ahLst/>
            <a:cxnLst/>
            <a:rect l="l" t="t" r="r" b="b"/>
            <a:pathLst>
              <a:path w="145143" h="145143">
                <a:moveTo>
                  <a:pt x="114470" y="9752"/>
                </a:moveTo>
                <a:cubicBezTo>
                  <a:pt x="117872" y="8334"/>
                  <a:pt x="121756" y="9128"/>
                  <a:pt x="124364" y="11708"/>
                </a:cubicBezTo>
                <a:lnTo>
                  <a:pt x="142506" y="29851"/>
                </a:lnTo>
                <a:cubicBezTo>
                  <a:pt x="144207" y="31552"/>
                  <a:pt x="145171" y="33848"/>
                  <a:pt x="145171" y="36257"/>
                </a:cubicBezTo>
                <a:cubicBezTo>
                  <a:pt x="145171" y="38667"/>
                  <a:pt x="144207" y="40963"/>
                  <a:pt x="142506" y="42664"/>
                </a:cubicBezTo>
                <a:lnTo>
                  <a:pt x="124364" y="60807"/>
                </a:lnTo>
                <a:cubicBezTo>
                  <a:pt x="121756" y="63415"/>
                  <a:pt x="117872" y="64180"/>
                  <a:pt x="114470" y="62763"/>
                </a:cubicBezTo>
                <a:cubicBezTo>
                  <a:pt x="111068" y="61346"/>
                  <a:pt x="108857" y="58085"/>
                  <a:pt x="108857" y="54429"/>
                </a:cubicBezTo>
                <a:lnTo>
                  <a:pt x="108857" y="45357"/>
                </a:lnTo>
                <a:lnTo>
                  <a:pt x="99786" y="45357"/>
                </a:lnTo>
                <a:cubicBezTo>
                  <a:pt x="96923" y="45357"/>
                  <a:pt x="94229" y="46690"/>
                  <a:pt x="92529" y="48986"/>
                </a:cubicBezTo>
                <a:lnTo>
                  <a:pt x="83344" y="61232"/>
                </a:lnTo>
                <a:lnTo>
                  <a:pt x="72004" y="46123"/>
                </a:lnTo>
                <a:lnTo>
                  <a:pt x="78014" y="38100"/>
                </a:lnTo>
                <a:cubicBezTo>
                  <a:pt x="83145" y="31240"/>
                  <a:pt x="91225" y="27214"/>
                  <a:pt x="99786" y="27214"/>
                </a:cubicBezTo>
                <a:lnTo>
                  <a:pt x="108857" y="27214"/>
                </a:lnTo>
                <a:lnTo>
                  <a:pt x="108857" y="18143"/>
                </a:lnTo>
                <a:cubicBezTo>
                  <a:pt x="108857" y="14486"/>
                  <a:pt x="111068" y="11169"/>
                  <a:pt x="114470" y="9752"/>
                </a:cubicBezTo>
                <a:close/>
                <a:moveTo>
                  <a:pt x="43656" y="83911"/>
                </a:moveTo>
                <a:lnTo>
                  <a:pt x="54996" y="99020"/>
                </a:lnTo>
                <a:lnTo>
                  <a:pt x="48986" y="107043"/>
                </a:lnTo>
                <a:cubicBezTo>
                  <a:pt x="43855" y="113903"/>
                  <a:pt x="35775" y="117929"/>
                  <a:pt x="27214" y="117929"/>
                </a:cubicBezTo>
                <a:lnTo>
                  <a:pt x="9071" y="117929"/>
                </a:lnTo>
                <a:cubicBezTo>
                  <a:pt x="4054" y="117929"/>
                  <a:pt x="0" y="113875"/>
                  <a:pt x="0" y="108857"/>
                </a:cubicBezTo>
                <a:cubicBezTo>
                  <a:pt x="0" y="103840"/>
                  <a:pt x="4054" y="99786"/>
                  <a:pt x="9071" y="99786"/>
                </a:cubicBezTo>
                <a:lnTo>
                  <a:pt x="27214" y="99786"/>
                </a:lnTo>
                <a:cubicBezTo>
                  <a:pt x="30077" y="99786"/>
                  <a:pt x="32771" y="98453"/>
                  <a:pt x="34471" y="96157"/>
                </a:cubicBezTo>
                <a:lnTo>
                  <a:pt x="43656" y="83911"/>
                </a:lnTo>
                <a:close/>
                <a:moveTo>
                  <a:pt x="124335" y="133407"/>
                </a:moveTo>
                <a:cubicBezTo>
                  <a:pt x="121727" y="136015"/>
                  <a:pt x="117844" y="136780"/>
                  <a:pt x="114442" y="135363"/>
                </a:cubicBezTo>
                <a:cubicBezTo>
                  <a:pt x="111040" y="133945"/>
                  <a:pt x="108857" y="130657"/>
                  <a:pt x="108857" y="127000"/>
                </a:cubicBezTo>
                <a:lnTo>
                  <a:pt x="108857" y="117929"/>
                </a:lnTo>
                <a:lnTo>
                  <a:pt x="99786" y="117929"/>
                </a:lnTo>
                <a:cubicBezTo>
                  <a:pt x="91225" y="117929"/>
                  <a:pt x="83145" y="113903"/>
                  <a:pt x="78014" y="107043"/>
                </a:cubicBezTo>
                <a:lnTo>
                  <a:pt x="34471" y="48986"/>
                </a:lnTo>
                <a:cubicBezTo>
                  <a:pt x="32771" y="46690"/>
                  <a:pt x="30077" y="45357"/>
                  <a:pt x="27214" y="45357"/>
                </a:cubicBezTo>
                <a:lnTo>
                  <a:pt x="9071" y="45357"/>
                </a:lnTo>
                <a:cubicBezTo>
                  <a:pt x="4054" y="45357"/>
                  <a:pt x="0" y="41303"/>
                  <a:pt x="0" y="36286"/>
                </a:cubicBezTo>
                <a:cubicBezTo>
                  <a:pt x="0" y="31268"/>
                  <a:pt x="4054" y="27214"/>
                  <a:pt x="9071" y="27214"/>
                </a:cubicBezTo>
                <a:lnTo>
                  <a:pt x="27214" y="27214"/>
                </a:lnTo>
                <a:cubicBezTo>
                  <a:pt x="35775" y="27214"/>
                  <a:pt x="43855" y="31240"/>
                  <a:pt x="48986" y="38100"/>
                </a:cubicBezTo>
                <a:lnTo>
                  <a:pt x="92529" y="96157"/>
                </a:lnTo>
                <a:cubicBezTo>
                  <a:pt x="94229" y="98453"/>
                  <a:pt x="96923" y="99786"/>
                  <a:pt x="99786" y="99786"/>
                </a:cubicBezTo>
                <a:lnTo>
                  <a:pt x="108857" y="99786"/>
                </a:lnTo>
                <a:lnTo>
                  <a:pt x="108857" y="90714"/>
                </a:lnTo>
                <a:cubicBezTo>
                  <a:pt x="108857" y="87057"/>
                  <a:pt x="111068" y="83741"/>
                  <a:pt x="114470" y="82323"/>
                </a:cubicBezTo>
                <a:cubicBezTo>
                  <a:pt x="117872" y="80906"/>
                  <a:pt x="121756" y="81700"/>
                  <a:pt x="124364" y="84279"/>
                </a:cubicBezTo>
                <a:lnTo>
                  <a:pt x="142506" y="102422"/>
                </a:lnTo>
                <a:cubicBezTo>
                  <a:pt x="144207" y="104123"/>
                  <a:pt x="145171" y="106419"/>
                  <a:pt x="145171" y="108829"/>
                </a:cubicBezTo>
                <a:cubicBezTo>
                  <a:pt x="145171" y="111238"/>
                  <a:pt x="144207" y="113535"/>
                  <a:pt x="142506" y="115235"/>
                </a:cubicBezTo>
                <a:lnTo>
                  <a:pt x="124364" y="133378"/>
                </a:lnTo>
                <a:close/>
              </a:path>
            </a:pathLst>
          </a:custGeom>
          <a:solidFill>
            <a:srgbClr val="D4A373"/>
          </a:solidFill>
          <a:ln/>
        </p:spPr>
      </p:sp>
      <p:sp>
        <p:nvSpPr>
          <p:cNvPr id="42" name="Text 39"/>
          <p:cNvSpPr/>
          <p:nvPr/>
        </p:nvSpPr>
        <p:spPr>
          <a:xfrm>
            <a:off x="5483253" y="6245679"/>
            <a:ext cx="1124857" cy="217714"/>
          </a:xfrm>
          <a:prstGeom prst="rect">
            <a:avLst/>
          </a:prstGeom>
          <a:noFill/>
          <a:ln/>
        </p:spPr>
        <p:txBody>
          <a:bodyPr wrap="square" lIns="0" tIns="0" rIns="0" bIns="0" rtlCol="0" anchor="ctr"/>
          <a:lstStyle/>
          <a:p>
            <a:pPr>
              <a:lnSpc>
                <a:spcPct val="120000"/>
              </a:lnSpc>
            </a:pPr>
            <a:r>
              <a:rPr lang="en-US" sz="1143" dirty="0">
                <a:solidFill>
                  <a:srgbClr val="EDF2F4"/>
                </a:solidFill>
                <a:latin typeface="Liter" pitchFamily="34" charset="0"/>
                <a:ea typeface="Liter" pitchFamily="34" charset="-122"/>
                <a:cs typeface="Liter" pitchFamily="34" charset="-120"/>
              </a:rPr>
              <a:t>Cross-validation</a:t>
            </a:r>
            <a:endParaRPr lang="en-US" sz="1600" dirty="0"/>
          </a:p>
        </p:txBody>
      </p:sp>
      <p:sp>
        <p:nvSpPr>
          <p:cNvPr id="43" name="Shape 40"/>
          <p:cNvSpPr/>
          <p:nvPr/>
        </p:nvSpPr>
        <p:spPr>
          <a:xfrm>
            <a:off x="6841700" y="6281964"/>
            <a:ext cx="145143" cy="145143"/>
          </a:xfrm>
          <a:custGeom>
            <a:avLst/>
            <a:gdLst/>
            <a:ahLst/>
            <a:cxnLst/>
            <a:rect l="l" t="t" r="r" b="b"/>
            <a:pathLst>
              <a:path w="145143" h="145143">
                <a:moveTo>
                  <a:pt x="72571" y="0"/>
                </a:moveTo>
                <a:cubicBezTo>
                  <a:pt x="73875" y="0"/>
                  <a:pt x="75179" y="283"/>
                  <a:pt x="76370" y="822"/>
                </a:cubicBezTo>
                <a:lnTo>
                  <a:pt x="129778" y="23472"/>
                </a:lnTo>
                <a:cubicBezTo>
                  <a:pt x="136015" y="26109"/>
                  <a:pt x="140664" y="32260"/>
                  <a:pt x="140635" y="39688"/>
                </a:cubicBezTo>
                <a:cubicBezTo>
                  <a:pt x="140494" y="67809"/>
                  <a:pt x="128928" y="119261"/>
                  <a:pt x="80084" y="142648"/>
                </a:cubicBezTo>
                <a:cubicBezTo>
                  <a:pt x="75350" y="144916"/>
                  <a:pt x="69850" y="144916"/>
                  <a:pt x="65116" y="142648"/>
                </a:cubicBezTo>
                <a:cubicBezTo>
                  <a:pt x="16244" y="119261"/>
                  <a:pt x="4706" y="67809"/>
                  <a:pt x="4564" y="39688"/>
                </a:cubicBezTo>
                <a:cubicBezTo>
                  <a:pt x="4536" y="32260"/>
                  <a:pt x="9185" y="26109"/>
                  <a:pt x="15421" y="23472"/>
                </a:cubicBezTo>
                <a:lnTo>
                  <a:pt x="68801" y="822"/>
                </a:lnTo>
                <a:cubicBezTo>
                  <a:pt x="69992" y="283"/>
                  <a:pt x="71267" y="0"/>
                  <a:pt x="72571" y="0"/>
                </a:cubicBezTo>
                <a:close/>
                <a:moveTo>
                  <a:pt x="72571" y="18937"/>
                </a:moveTo>
                <a:lnTo>
                  <a:pt x="72571" y="126121"/>
                </a:lnTo>
                <a:cubicBezTo>
                  <a:pt x="111692" y="107185"/>
                  <a:pt x="122209" y="65229"/>
                  <a:pt x="122464" y="40113"/>
                </a:cubicBezTo>
                <a:lnTo>
                  <a:pt x="72571" y="18965"/>
                </a:lnTo>
                <a:lnTo>
                  <a:pt x="72571" y="18965"/>
                </a:lnTo>
                <a:close/>
              </a:path>
            </a:pathLst>
          </a:custGeom>
          <a:solidFill>
            <a:srgbClr val="D4A373"/>
          </a:solidFill>
          <a:ln/>
        </p:spPr>
      </p:sp>
      <p:sp>
        <p:nvSpPr>
          <p:cNvPr id="44" name="Text 41"/>
          <p:cNvSpPr/>
          <p:nvPr/>
        </p:nvSpPr>
        <p:spPr>
          <a:xfrm>
            <a:off x="7077557" y="6245679"/>
            <a:ext cx="1097643" cy="217714"/>
          </a:xfrm>
          <a:prstGeom prst="rect">
            <a:avLst/>
          </a:prstGeom>
          <a:noFill/>
          <a:ln/>
        </p:spPr>
        <p:txBody>
          <a:bodyPr wrap="square" lIns="0" tIns="0" rIns="0" bIns="0" rtlCol="0" anchor="ctr"/>
          <a:lstStyle/>
          <a:p>
            <a:pPr>
              <a:lnSpc>
                <a:spcPct val="120000"/>
              </a:lnSpc>
            </a:pPr>
            <a:r>
              <a:rPr lang="en-US" sz="1143" dirty="0">
                <a:solidFill>
                  <a:srgbClr val="EDF2F4"/>
                </a:solidFill>
                <a:latin typeface="Liter" pitchFamily="34" charset="0"/>
                <a:ea typeface="Liter" pitchFamily="34" charset="-122"/>
                <a:cs typeface="Liter" pitchFamily="34" charset="-120"/>
              </a:rPr>
              <a:t>No data leakage</a:t>
            </a:r>
            <a:endParaRPr lang="en-US" sz="1600" dirty="0"/>
          </a:p>
        </p:txBody>
      </p:sp>
      <p:sp>
        <p:nvSpPr>
          <p:cNvPr id="45" name="Shape 42"/>
          <p:cNvSpPr/>
          <p:nvPr/>
        </p:nvSpPr>
        <p:spPr>
          <a:xfrm>
            <a:off x="8389512" y="6281964"/>
            <a:ext cx="181429" cy="145143"/>
          </a:xfrm>
          <a:custGeom>
            <a:avLst/>
            <a:gdLst/>
            <a:ahLst/>
            <a:cxnLst/>
            <a:rect l="l" t="t" r="r" b="b"/>
            <a:pathLst>
              <a:path w="181429" h="145143">
                <a:moveTo>
                  <a:pt x="108857" y="9071"/>
                </a:moveTo>
                <a:lnTo>
                  <a:pt x="145143" y="9071"/>
                </a:lnTo>
                <a:cubicBezTo>
                  <a:pt x="150160" y="9071"/>
                  <a:pt x="154214" y="13125"/>
                  <a:pt x="154214" y="18143"/>
                </a:cubicBezTo>
                <a:cubicBezTo>
                  <a:pt x="154214" y="23160"/>
                  <a:pt x="150160" y="27214"/>
                  <a:pt x="145143" y="27214"/>
                </a:cubicBezTo>
                <a:lnTo>
                  <a:pt x="112939" y="27214"/>
                </a:lnTo>
                <a:cubicBezTo>
                  <a:pt x="111465" y="34528"/>
                  <a:pt x="106448" y="40566"/>
                  <a:pt x="99786" y="43458"/>
                </a:cubicBezTo>
                <a:lnTo>
                  <a:pt x="99786" y="127000"/>
                </a:lnTo>
                <a:lnTo>
                  <a:pt x="145143" y="127000"/>
                </a:lnTo>
                <a:cubicBezTo>
                  <a:pt x="150160" y="127000"/>
                  <a:pt x="154214" y="131054"/>
                  <a:pt x="154214" y="136071"/>
                </a:cubicBezTo>
                <a:cubicBezTo>
                  <a:pt x="154214" y="141089"/>
                  <a:pt x="150160" y="145143"/>
                  <a:pt x="145143" y="145143"/>
                </a:cubicBezTo>
                <a:lnTo>
                  <a:pt x="36286" y="145143"/>
                </a:lnTo>
                <a:cubicBezTo>
                  <a:pt x="31268" y="145143"/>
                  <a:pt x="27214" y="141089"/>
                  <a:pt x="27214" y="136071"/>
                </a:cubicBezTo>
                <a:cubicBezTo>
                  <a:pt x="27214" y="131054"/>
                  <a:pt x="31268" y="127000"/>
                  <a:pt x="36286" y="127000"/>
                </a:cubicBezTo>
                <a:lnTo>
                  <a:pt x="81643" y="127000"/>
                </a:lnTo>
                <a:lnTo>
                  <a:pt x="81643" y="43458"/>
                </a:lnTo>
                <a:cubicBezTo>
                  <a:pt x="74981" y="40538"/>
                  <a:pt x="69963" y="34500"/>
                  <a:pt x="68489" y="27214"/>
                </a:cubicBezTo>
                <a:lnTo>
                  <a:pt x="36286" y="27214"/>
                </a:lnTo>
                <a:cubicBezTo>
                  <a:pt x="31268" y="27214"/>
                  <a:pt x="27214" y="23160"/>
                  <a:pt x="27214" y="18143"/>
                </a:cubicBezTo>
                <a:cubicBezTo>
                  <a:pt x="27214" y="13125"/>
                  <a:pt x="31268" y="9071"/>
                  <a:pt x="36286" y="9071"/>
                </a:cubicBezTo>
                <a:lnTo>
                  <a:pt x="72571" y="9071"/>
                </a:lnTo>
                <a:cubicBezTo>
                  <a:pt x="76710" y="3572"/>
                  <a:pt x="83287" y="0"/>
                  <a:pt x="90714" y="0"/>
                </a:cubicBezTo>
                <a:cubicBezTo>
                  <a:pt x="98142" y="0"/>
                  <a:pt x="104718" y="3572"/>
                  <a:pt x="108857" y="9071"/>
                </a:cubicBezTo>
                <a:close/>
                <a:moveTo>
                  <a:pt x="124619" y="90714"/>
                </a:moveTo>
                <a:lnTo>
                  <a:pt x="165667" y="90714"/>
                </a:lnTo>
                <a:lnTo>
                  <a:pt x="145143" y="55506"/>
                </a:lnTo>
                <a:lnTo>
                  <a:pt x="124619" y="90714"/>
                </a:lnTo>
                <a:close/>
                <a:moveTo>
                  <a:pt x="145143" y="117929"/>
                </a:moveTo>
                <a:cubicBezTo>
                  <a:pt x="127312" y="117929"/>
                  <a:pt x="112486" y="108290"/>
                  <a:pt x="109424" y="95562"/>
                </a:cubicBezTo>
                <a:cubicBezTo>
                  <a:pt x="108687" y="92444"/>
                  <a:pt x="109708" y="89240"/>
                  <a:pt x="111323" y="86462"/>
                </a:cubicBezTo>
                <a:lnTo>
                  <a:pt x="138311" y="40198"/>
                </a:lnTo>
                <a:cubicBezTo>
                  <a:pt x="139728" y="37760"/>
                  <a:pt x="142336" y="36286"/>
                  <a:pt x="145143" y="36286"/>
                </a:cubicBezTo>
                <a:cubicBezTo>
                  <a:pt x="147949" y="36286"/>
                  <a:pt x="150557" y="37788"/>
                  <a:pt x="151975" y="40198"/>
                </a:cubicBezTo>
                <a:lnTo>
                  <a:pt x="178962" y="86462"/>
                </a:lnTo>
                <a:cubicBezTo>
                  <a:pt x="180578" y="89240"/>
                  <a:pt x="181599" y="92444"/>
                  <a:pt x="180862" y="95562"/>
                </a:cubicBezTo>
                <a:cubicBezTo>
                  <a:pt x="177800" y="108262"/>
                  <a:pt x="162974" y="117929"/>
                  <a:pt x="145143" y="117929"/>
                </a:cubicBezTo>
                <a:close/>
                <a:moveTo>
                  <a:pt x="35946" y="55506"/>
                </a:moveTo>
                <a:lnTo>
                  <a:pt x="15421" y="90714"/>
                </a:lnTo>
                <a:lnTo>
                  <a:pt x="56498" y="90714"/>
                </a:lnTo>
                <a:lnTo>
                  <a:pt x="35946" y="55506"/>
                </a:lnTo>
                <a:close/>
                <a:moveTo>
                  <a:pt x="255" y="95562"/>
                </a:moveTo>
                <a:cubicBezTo>
                  <a:pt x="-482" y="92444"/>
                  <a:pt x="539" y="89240"/>
                  <a:pt x="2154" y="86462"/>
                </a:cubicBezTo>
                <a:lnTo>
                  <a:pt x="29142" y="40198"/>
                </a:lnTo>
                <a:cubicBezTo>
                  <a:pt x="30559" y="37760"/>
                  <a:pt x="33167" y="36286"/>
                  <a:pt x="35974" y="36286"/>
                </a:cubicBezTo>
                <a:cubicBezTo>
                  <a:pt x="38780" y="36286"/>
                  <a:pt x="41388" y="37788"/>
                  <a:pt x="42806" y="40198"/>
                </a:cubicBezTo>
                <a:lnTo>
                  <a:pt x="69793" y="86462"/>
                </a:lnTo>
                <a:cubicBezTo>
                  <a:pt x="71409" y="89240"/>
                  <a:pt x="72430" y="92444"/>
                  <a:pt x="71693" y="95562"/>
                </a:cubicBezTo>
                <a:cubicBezTo>
                  <a:pt x="68631" y="108262"/>
                  <a:pt x="53805" y="117929"/>
                  <a:pt x="35974" y="117929"/>
                </a:cubicBezTo>
                <a:cubicBezTo>
                  <a:pt x="18143" y="117929"/>
                  <a:pt x="3317" y="108290"/>
                  <a:pt x="255" y="95562"/>
                </a:cubicBezTo>
                <a:close/>
              </a:path>
            </a:pathLst>
          </a:custGeom>
          <a:solidFill>
            <a:srgbClr val="D4A373"/>
          </a:solidFill>
          <a:ln/>
        </p:spPr>
      </p:sp>
      <p:sp>
        <p:nvSpPr>
          <p:cNvPr id="46" name="Text 43"/>
          <p:cNvSpPr/>
          <p:nvPr/>
        </p:nvSpPr>
        <p:spPr>
          <a:xfrm>
            <a:off x="8643512" y="6245679"/>
            <a:ext cx="1651000" cy="217714"/>
          </a:xfrm>
          <a:prstGeom prst="rect">
            <a:avLst/>
          </a:prstGeom>
          <a:noFill/>
          <a:ln/>
        </p:spPr>
        <p:txBody>
          <a:bodyPr wrap="square" lIns="0" tIns="0" rIns="0" bIns="0" rtlCol="0" anchor="ctr"/>
          <a:lstStyle/>
          <a:p>
            <a:pPr>
              <a:lnSpc>
                <a:spcPct val="120000"/>
              </a:lnSpc>
            </a:pPr>
            <a:r>
              <a:rPr lang="en-US" sz="1143" dirty="0">
                <a:solidFill>
                  <a:srgbClr val="EDF2F4"/>
                </a:solidFill>
                <a:latin typeface="Liter" pitchFamily="34" charset="0"/>
                <a:ea typeface="Liter" pitchFamily="34" charset="-122"/>
                <a:cs typeface="Liter" pitchFamily="34" charset="-120"/>
              </a:rPr>
              <a:t>Class imbalance handled</a:t>
            </a:r>
            <a:endParaRPr lang="en-US" sz="1600" dirty="0"/>
          </a:p>
        </p:txBody>
      </p:sp>
      <p:sp>
        <p:nvSpPr>
          <p:cNvPr id="47" name="Text 44"/>
          <p:cNvSpPr/>
          <p:nvPr/>
        </p:nvSpPr>
        <p:spPr>
          <a:xfrm>
            <a:off x="317500" y="6762750"/>
            <a:ext cx="11557000" cy="254000"/>
          </a:xfrm>
          <a:prstGeom prst="rect">
            <a:avLst/>
          </a:prstGeom>
          <a:noFill/>
          <a:ln/>
        </p:spPr>
        <p:txBody>
          <a:bodyPr wrap="square" lIns="0" tIns="0" rIns="0" bIns="0" rtlCol="0" anchor="ctr"/>
          <a:lstStyle/>
          <a:p>
            <a:pPr algn="ctr">
              <a:lnSpc>
                <a:spcPct val="120000"/>
              </a:lnSpc>
            </a:pPr>
            <a:r>
              <a:rPr lang="en-US" sz="1429" dirty="0">
                <a:solidFill>
                  <a:srgbClr val="8D99AE"/>
                </a:solidFill>
                <a:latin typeface="Liter" pitchFamily="34" charset="0"/>
                <a:ea typeface="Liter" pitchFamily="34" charset="-122"/>
                <a:cs typeface="Liter" pitchFamily="34" charset="-120"/>
              </a:rPr>
              <a:t>Mahmut Emre Narol — Project 1: Classification &amp; Regression</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1 | PROJE 1 - Customer Analytics for E-Commerce</dc:title>
  <dc:subject>PROJECT 1 | PROJE 1 - Customer Analytics for E-Commerce</dc:subject>
  <dc:creator>Kimi</dc:creator>
  <cp:lastModifiedBy>Kimi</cp:lastModifiedBy>
  <cp:revision>1</cp:revision>
  <dcterms:created xsi:type="dcterms:W3CDTF">2026-02-11T20:19:16Z</dcterms:created>
  <dcterms:modified xsi:type="dcterms:W3CDTF">2026-02-11T20:19:16Z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{"Label":"PROJECT 1 | PROJE 1 - Customer Analytics for E-Commerce","ContentProducer":"001191110108MACG2KBH8F10000","ProduceID":"19c4e548-3f22-8103-8000-0000be2fb81b","ReservedCode1":"","ContentPropagator":"001191110108MACG2KBH8F20000","PropagateID":"19c4e548-3f22-8103-8000-0000be2fb81b","ReservedCode2":""}</vt:lpwstr>
  </property>
</Properties>
</file>